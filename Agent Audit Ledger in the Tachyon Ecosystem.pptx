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position the Agent Audit Ledger as the system of record for agent actions, show where it fits with existing platform components, summarise the open-source landscape, and ask for approval of Phase 0 to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one-line thesis. The three cards map to the why / what / how sections that follow; where and when come later in the deck. Close this slide by naming the decision so the audience listens with it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not that these tools are wrong; each is fit for its purpose. The gap is that no one of them is an evidentiary record of agent actions. The dark callout is the question an examiner will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cards: obligations we already operate under. Orange cards: external signals. Sources: OWASP Top 10 for Agentic Applications (Dec 2025); Microsoft Open Source blog, 2 Apr 2026 (Agent Governance Toolkit, MIT). EU AI Act applicability to our global operations should be confirmed with Legal before this slide is used externally.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Keeping the gate and the ledger as separate layers avoids conflating the record substrate with the decision engine. The ledger must stay fast and simple; policy logic evolves independently in OPA. The negative scope line is as important as the positive one for executives worried about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 to bottom. The SDK is the single enforcement point, so adoption rides on SDK upgrades rather than per-team work. Model traffic keeps flowing through AI Bridge and Apigee unchanged; the Audit Ledger sits on the action path. The ledger and Arize both receive the same trace_id so an investigator can move from a performance trace to the evidentiary record and back. Confirm the AI Bridge and Apigee field names with those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settles overlap debates. Operational records have short retention and can be sampled; the Audit Ledger record is complete for in-scope actions, tamper-evident, and retained under the records policy. Retention periods per class are an open item for Records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intent before execution is what moves the audit chain from post-mortem to prevention. The tiered latency rule answers the most common engineering objection: low-risk reads do not wait on a synchronous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Sealing happens at emit time inside the SDK, so a record is tamper-evident before it leaves the process; storage is append-only and certifiable. The timing rule reconciles two goals: the non-blocking buffer keeps agents fast, and the durable local acknowledgement still gives write-path actions a pre-execution receipt. Open item: chain scope when one agent runs on many pods (per agent_runtime_id chains, merged by Merkle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limit: a hash chain proves integrity, not completeness. Completeness comes from the SDK being the only path, reconciled against Apigee and AI Bridge counts. Implemented as AgentActionRecord in core/events; the existing Event model is kept. Raw prompts and payloads are never in the record, only input_ref and output_ref pointers to the governed payload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config captures model_call, but the hook list has no model-call hook; confirm where it fires (likely the AI Bridge client). Memory writes and retrieval/data-query steps also need hooks for the multi-agent example. If flight_recorder refers to an external open-source project, check its licence before adoption.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timing: sync events wait only for the durable buffer acknowledgement; async events queue and must land within [__] seconds. memory.written has no SDK hook today and needs one. Every event shares one envelope (next slide). Sync means the write completes before the agent continues; async means it is queued and must land within [__] seconds, with gaps caught by reconciliation. action.executed is sync for R3–R4 and async for R0–R2. model.invoked stores references only; the prompt itself stays in Arize, masked.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is the escalation step from the 10-K workflow on the next slide. Field names are proposals for the schema working group. The size figure is an engineering estimate from the example payload, to be measured in Phase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Timings are illustrative. The escalation rows show the gate doing its job: reading the filing is R1 and flows freely; writing to a system of record is R3 and waits for a human. An auditor can later prove who approved the CRM note, under which policy version, and that nothing in the chain was altered. For scale planning, multiply entries per run by daily runs; fill the placeholders from Phase 0 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The router fans out to two branches that run in parallel. Orange labels are the ledger events each step writes. Both branches here are read-only, so they are recorded asynchronously; nothing in this example needs to block on a ledger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entries for this question: one request, one routing decision, two delegations, one retrieval, one query, two completions, one response, plus the model calls each agent makes. The investigator question this answers: where did this number come from, which agent queried it, under whose authority, and which sources support the final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hash chain protects integrity; these IDs give structure. An investigator starts from request_id and walks the parent links down to each source request, or starts from an Arize trace_id and lands on the evidentiary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on-prem WORM store is the only authoritative copy and supports certifiable retention and legal hold. The GCP replica is asynchronous and exists for disaster recovery and analytics; if the two ever disagree, on-prem wins. Choosing between SnapLock-class object WORM and a ledger database (Oracle Blockchain Tables or SQL Server Ledger) is a Phase 1 decision: the database option gives queryability, the WORM option gives simpler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(Sept 2026): Microsoft Agent Governance Toolkit repo and blog (MIT; YAML, Rego or Cedar policy; adapters for LangGraph and Google ADK; Arize among observability adapters). Obsigno on PyPI (stdio MCP proxy, Ed25519-signed hash-chained ledger). agenttrace on GitHub (zero-dependency, hash-chained JSONL). halo-record (Help Net Security, 31 Aug 2026). Trustra flight-recorder on GitHub (AGPL-3.0). immudb (Apache 2.0). Trillian is in maintenance mode; Tessera is its successor and backs Rekor v2. OTel gen_ai.* conventions are marked in development. OpenInference is Apache 2.0, maintained by Arize.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Criteria not shown but applied: runs on-prem on OpenShift (all options do), works with LangGraph and Google ADK (AGT ships adapters for both; recorders are framework-agnostic), and bank-acceptable licence. The Tessera licence should be confirmed by Open Source Program Office. AGT was in public preview when assessed.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is intentionally small: the unified validate-and-record API plus pre-execution verify deliver most of the value. Golden trajectories and full external database sync are deferred until an incident pattern or an explicit audit request justifies them. The anchor choice between immudb and Tessera is made in Phase 2 by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Durations are planning assumptions from Q4 2026 start, to be confirmed against team capacity. Phase 3 connects the Audit Ledger to the bounded adaptive harness proposal: adaptation receipts become ledger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failure-mode row is a decision for Risk and Compliance, not engineering alone. Signing keys should live in Vault or HSM with rotation; key compromise is covered by checkpoint anchoring outside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missing or thin in the earlier drafts. Showing them openly builds credibility with executives and gives each an owner to assign at this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Bracketed values are targets to agree with the platform and audit teams; baseline evidence-retrieval time should be measured during Phase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decisions, not a thank-you slide. Items 2 and 3 carry placeholders to fill before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from read to write: if the SQL branch later updates MongoDB or sends data externally, that action switches to the synchronous, fail-closed path. The design principle on the last line is the one to leave the audience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C2E"/>
        </a:solidFill>
      </p:bgPr>
    </p:bg>
    <p:spTree>
      <p:nvGrpSpPr>
        <p:cNvPr id="1" name=""/>
        <p:cNvGrpSpPr/>
        <p:nvPr/>
      </p:nvGrpSpPr>
      <p:grpSpPr>
        <a:xfrm>
          <a:off x="0" y="0"/>
          <a:ext cx="0" cy="0"/>
          <a:chOff x="0" y="0"/>
          <a:chExt cx="0" cy="0"/>
        </a:xfrm>
      </p:grpSpPr>
      <p:pic>
        <p:nvPicPr>
          <p:cNvPr id="2" name="Image 0" descr="rect">    </p:cNvPr>
          <p:cNvPicPr>
            <a:picLocks noChangeAspect="1"/>
          </p:cNvPicPr>
          <p:nvPr/>
        </p:nvPicPr>
        <p:blipFill>
          <a:blip r:embed="rId1"/>
          <a:srcRect l="0" r="0" t="0" b="0"/>
          <a:stretch/>
        </p:blipFill>
        <p:spPr>
          <a:xfrm>
            <a:off x="812800" y="812800"/>
            <a:ext cx="762000" cy="50800"/>
          </a:xfrm>
          <a:prstGeom prst="rect">
            <a:avLst/>
          </a:prstGeom>
        </p:spPr>
      </p:pic>
      <p:sp>
        <p:nvSpPr>
          <p:cNvPr id="3" name="Text 0"/>
          <p:cNvSpPr/>
          <p:nvPr/>
        </p:nvSpPr>
        <p:spPr>
          <a:xfrm>
            <a:off x="812800" y="11176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3A060"/>
                </a:solidFill>
                <a:latin typeface="Inter" pitchFamily="34" charset="0"/>
                <a:ea typeface="Inter" pitchFamily="34" charset="-122"/>
                <a:cs typeface="Inter" pitchFamily="34" charset="-120"/>
              </a:rPr>
              <a:t>TACHYON PLATFORM · EXECUTIVE BRIEFING</a:t>
            </a:r>
            <a:endParaRPr lang="en-US" sz="1200" dirty="0"/>
          </a:p>
        </p:txBody>
      </p:sp>
      <p:sp>
        <p:nvSpPr>
          <p:cNvPr id="4" name="Text 1"/>
          <p:cNvSpPr/>
          <p:nvPr/>
        </p:nvSpPr>
        <p:spPr>
          <a:xfrm>
            <a:off x="812800" y="1584942"/>
            <a:ext cx="9810750" cy="1305542"/>
          </a:xfrm>
          <a:prstGeom prst="rect">
            <a:avLst/>
          </a:prstGeom>
          <a:noFill/>
          <a:ln/>
        </p:spPr>
        <p:txBody>
          <a:bodyPr wrap="square" lIns="0" tIns="0" rIns="0" bIns="0" rtlCol="0" anchor="t">
            <a:normAutofit/>
          </a:bodyPr>
          <a:lstStyle/>
          <a:p>
            <a:pPr algn="l" indent="0" marL="0">
              <a:lnSpc>
                <a:spcPts val="5040"/>
              </a:lnSpc>
              <a:buNone/>
            </a:pPr>
            <a:r>
              <a:rPr lang="en-US" sz="4800" dirty="0">
                <a:solidFill>
                  <a:srgbClr val="F4F2EC"/>
                </a:solidFill>
                <a:latin typeface="Source Serif 4" pitchFamily="34" charset="0"/>
                <a:ea typeface="Source Serif 4" pitchFamily="34" charset="-122"/>
                <a:cs typeface="Source Serif 4" pitchFamily="34" charset="-120"/>
              </a:rPr>
              <a:t>The Agent Audit Ledger for Tachyon</a:t>
            </a:r>
            <a:endParaRPr lang="en-US" sz="4800" dirty="0"/>
          </a:p>
        </p:txBody>
      </p:sp>
      <p:sp>
        <p:nvSpPr>
          <p:cNvPr id="5" name="Text 2"/>
          <p:cNvSpPr/>
          <p:nvPr/>
        </p:nvSpPr>
        <p:spPr>
          <a:xfrm>
            <a:off x="812800" y="3119085"/>
            <a:ext cx="8502650" cy="59434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EB8C8"/>
                </a:solidFill>
                <a:latin typeface="Inter" pitchFamily="34" charset="0"/>
                <a:ea typeface="Inter" pitchFamily="34" charset="-122"/>
                <a:cs typeface="Inter" pitchFamily="34" charset="-120"/>
              </a:rPr>
              <a:t>Why we need it, what it is, where it sits alongside the SDK, AI Bridge, Arize and Apigee, and how and when we deliver it</a:t>
            </a:r>
            <a:endParaRPr lang="en-US" sz="1600" dirty="0"/>
          </a:p>
        </p:txBody>
      </p:sp>
      <p:sp>
        <p:nvSpPr>
          <p:cNvPr id="6" name="Text 3"/>
          <p:cNvSpPr/>
          <p:nvPr/>
        </p:nvSpPr>
        <p:spPr>
          <a:xfrm>
            <a:off x="812800" y="58318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8C8"/>
                </a:solidFill>
                <a:latin typeface="Inter" pitchFamily="34" charset="0"/>
                <a:ea typeface="Inter" pitchFamily="34" charset="-122"/>
                <a:cs typeface="Inter" pitchFamily="34" charset="-120"/>
              </a:rPr>
              <a:t>Bindu · Distinguished Engineer, Tachyon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EXECUTIVE SUMMARY</a:t>
            </a:r>
            <a:endParaRPr lang="en-US" sz="1200" dirty="0"/>
          </a:p>
        </p:txBody>
      </p:sp>
      <p:sp>
        <p:nvSpPr>
          <p:cNvPr id="3" name="Text 1"/>
          <p:cNvSpPr/>
          <p:nvPr/>
        </p:nvSpPr>
        <p:spPr>
          <a:xfrm>
            <a:off x="812800" y="1127743"/>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6213A"/>
                </a:solidFill>
                <a:latin typeface="Source Serif 4" pitchFamily="34" charset="0"/>
                <a:ea typeface="Source Serif 4" pitchFamily="34" charset="-122"/>
                <a:cs typeface="Source Serif 4" pitchFamily="34" charset="-120"/>
              </a:rPr>
              <a:t>The recommendation on one page</a:t>
            </a:r>
            <a:endParaRPr lang="en-US" sz="3200" dirty="0"/>
          </a:p>
        </p:txBody>
      </p:sp>
      <p:sp>
        <p:nvSpPr>
          <p:cNvPr id="4" name="Text 2"/>
          <p:cNvSpPr/>
          <p:nvPr/>
        </p:nvSpPr>
        <p:spPr>
          <a:xfrm>
            <a:off x="812800" y="1879556"/>
            <a:ext cx="4055110" cy="13462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6213A"/>
                </a:solidFill>
                <a:latin typeface="Source Serif 4" pitchFamily="34" charset="0"/>
                <a:ea typeface="Source Serif 4" pitchFamily="34" charset="-122"/>
                <a:cs typeface="Source Serif 4" pitchFamily="34" charset="-120"/>
              </a:rPr>
              <a:t>Every consequential agent action on Tachyon should pass </a:t>
            </a:r>
            <a:r>
              <a:rPr lang="en-US" sz="2000" dirty="0">
                <a:solidFill>
                  <a:srgbClr val="9C4F0A"/>
                </a:solidFill>
                <a:latin typeface="Source Serif 4" pitchFamily="34" charset="0"/>
                <a:ea typeface="Source Serif 4" pitchFamily="34" charset="-122"/>
                <a:cs typeface="Source Serif 4" pitchFamily="34" charset="-120"/>
              </a:rPr>
              <a:t>one gate</a:t>
            </a:r>
            <a:r>
              <a:rPr lang="en-US" sz="2000" dirty="0">
                <a:solidFill>
                  <a:srgbClr val="16213A"/>
                </a:solidFill>
                <a:latin typeface="Source Serif 4" pitchFamily="34" charset="0"/>
                <a:ea typeface="Source Serif 4" pitchFamily="34" charset="-122"/>
                <a:cs typeface="Source Serif 4" pitchFamily="34" charset="-120"/>
              </a:rPr>
              <a:t> and leave </a:t>
            </a:r>
            <a:r>
              <a:rPr lang="en-US" sz="2000" dirty="0">
                <a:solidFill>
                  <a:srgbClr val="9C4F0A"/>
                </a:solidFill>
                <a:latin typeface="Source Serif 4" pitchFamily="34" charset="0"/>
                <a:ea typeface="Source Serif 4" pitchFamily="34" charset="-122"/>
                <a:cs typeface="Source Serif 4" pitchFamily="34" charset="-120"/>
              </a:rPr>
              <a:t>one verifiable record</a:t>
            </a:r>
            <a:r>
              <a:rPr lang="en-US" sz="2000" dirty="0">
                <a:solidFill>
                  <a:srgbClr val="16213A"/>
                </a:solidFill>
                <a:latin typeface="Source Serif 4" pitchFamily="34" charset="0"/>
                <a:ea typeface="Source Serif 4" pitchFamily="34" charset="-122"/>
                <a:cs typeface="Source Serif 4" pitchFamily="34" charset="-120"/>
              </a:rPr>
              <a:t>.</a:t>
            </a:r>
            <a:endParaRPr lang="en-US" sz="2000" dirty="0"/>
          </a:p>
        </p:txBody>
      </p:sp>
      <p:sp>
        <p:nvSpPr>
          <p:cNvPr id="5" name="Shape 3"/>
          <p:cNvSpPr/>
          <p:nvPr/>
        </p:nvSpPr>
        <p:spPr>
          <a:xfrm>
            <a:off x="812800" y="4292644"/>
            <a:ext cx="3937000" cy="1549356"/>
          </a:xfrm>
          <a:prstGeom prst="roundRect">
            <a:avLst>
              <a:gd name="adj" fmla="val 4918"/>
            </a:avLst>
          </a:prstGeom>
          <a:solidFill>
            <a:srgbClr val="16213A"/>
          </a:solidFill>
          <a:ln/>
        </p:spPr>
      </p:sp>
      <p:sp>
        <p:nvSpPr>
          <p:cNvPr id="6" name="Text 4"/>
          <p:cNvSpPr/>
          <p:nvPr/>
        </p:nvSpPr>
        <p:spPr>
          <a:xfrm>
            <a:off x="1016000" y="4495844"/>
            <a:ext cx="3636518" cy="208271"/>
          </a:xfrm>
          <a:prstGeom prst="rect">
            <a:avLst/>
          </a:prstGeom>
          <a:noFill/>
          <a:ln/>
        </p:spPr>
        <p:txBody>
          <a:bodyPr wrap="square" lIns="0" tIns="0" rIns="0" bIns="0" rtlCol="0" anchor="t">
            <a:normAutofit/>
          </a:bodyPr>
          <a:lstStyle/>
          <a:p>
            <a:pPr algn="l" indent="0" marL="0">
              <a:lnSpc>
                <a:spcPts val="1440"/>
              </a:lnSpc>
              <a:buNone/>
            </a:pPr>
            <a:r>
              <a:rPr lang="en-US" sz="1200" b="1" spc="100" kern="0" dirty="0">
                <a:solidFill>
                  <a:srgbClr val="E3A060"/>
                </a:solidFill>
                <a:latin typeface="Inter" pitchFamily="34" charset="0"/>
                <a:ea typeface="Inter" pitchFamily="34" charset="-122"/>
                <a:cs typeface="Inter" pitchFamily="34" charset="-120"/>
              </a:rPr>
              <a:t>DECISION REQUESTED</a:t>
            </a:r>
            <a:endParaRPr lang="en-US" sz="1200" dirty="0"/>
          </a:p>
        </p:txBody>
      </p:sp>
      <p:sp>
        <p:nvSpPr>
          <p:cNvPr id="7" name="Text 5"/>
          <p:cNvSpPr/>
          <p:nvPr/>
        </p:nvSpPr>
        <p:spPr>
          <a:xfrm>
            <a:off x="1016000" y="4754915"/>
            <a:ext cx="3636518" cy="909285"/>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4F2EC"/>
                </a:solidFill>
                <a:latin typeface="Inter" pitchFamily="34" charset="0"/>
                <a:ea typeface="Inter" pitchFamily="34" charset="-122"/>
                <a:cs typeface="Inter" pitchFamily="34" charset="-120"/>
              </a:rPr>
              <a:t>Name the Agent Audit Ledger the system of record for agent actions and approve Phase 0–1: shadow mode, then enforcement for high-risk actions.</a:t>
            </a:r>
            <a:endParaRPr lang="en-US" sz="1200" dirty="0"/>
          </a:p>
        </p:txBody>
      </p:sp>
      <p:sp>
        <p:nvSpPr>
          <p:cNvPr id="8" name="Shape 6"/>
          <p:cNvSpPr/>
          <p:nvPr/>
        </p:nvSpPr>
        <p:spPr>
          <a:xfrm>
            <a:off x="5057775" y="1882731"/>
            <a:ext cx="6318250" cy="1097095"/>
          </a:xfrm>
          <a:prstGeom prst="roundRect">
            <a:avLst>
              <a:gd name="adj" fmla="val 6656"/>
            </a:avLst>
          </a:prstGeom>
          <a:solidFill>
            <a:srgbClr val="FBFAF6"/>
          </a:solidFill>
          <a:ln w="6350">
            <a:solidFill>
              <a:srgbClr val="DCD6C8"/>
            </a:solidFill>
            <a:prstDash val="solid"/>
          </a:ln>
        </p:spPr>
      </p:sp>
      <p:sp>
        <p:nvSpPr>
          <p:cNvPr id="9" name="Text 7"/>
          <p:cNvSpPr/>
          <p:nvPr/>
        </p:nvSpPr>
        <p:spPr>
          <a:xfrm>
            <a:off x="5263445" y="2063000"/>
            <a:ext cx="355600" cy="761956"/>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9C4F0A"/>
                </a:solidFill>
                <a:latin typeface="Inter" pitchFamily="34" charset="0"/>
                <a:ea typeface="Inter" pitchFamily="34" charset="-122"/>
                <a:cs typeface="Inter" pitchFamily="34" charset="-120"/>
              </a:rPr>
              <a:t>1</a:t>
            </a:r>
            <a:endParaRPr lang="en-US" sz="1600" dirty="0"/>
          </a:p>
        </p:txBody>
      </p:sp>
      <p:sp>
        <p:nvSpPr>
          <p:cNvPr id="10" name="Text 8"/>
          <p:cNvSpPr/>
          <p:nvPr/>
        </p:nvSpPr>
        <p:spPr>
          <a:xfrm>
            <a:off x="5720645" y="2063000"/>
            <a:ext cx="561320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Why</a:t>
            </a:r>
            <a:endParaRPr lang="en-US" sz="1600" dirty="0"/>
          </a:p>
        </p:txBody>
      </p:sp>
      <p:sp>
        <p:nvSpPr>
          <p:cNvPr id="11" name="Text 9"/>
          <p:cNvSpPr/>
          <p:nvPr/>
        </p:nvSpPr>
        <p:spPr>
          <a:xfrm>
            <a:off x="5720645" y="2357614"/>
            <a:ext cx="5613202" cy="46734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Traces, gateway logs and API logs each hold part of the story. None is evidence a regulator can independently verify.</a:t>
            </a:r>
            <a:endParaRPr lang="en-US" sz="1200" dirty="0"/>
          </a:p>
        </p:txBody>
      </p:sp>
      <p:sp>
        <p:nvSpPr>
          <p:cNvPr id="12" name="Shape 10"/>
          <p:cNvSpPr/>
          <p:nvPr/>
        </p:nvSpPr>
        <p:spPr>
          <a:xfrm>
            <a:off x="5057775" y="3113176"/>
            <a:ext cx="6318250" cy="1097095"/>
          </a:xfrm>
          <a:prstGeom prst="roundRect">
            <a:avLst>
              <a:gd name="adj" fmla="val 6656"/>
            </a:avLst>
          </a:prstGeom>
          <a:solidFill>
            <a:srgbClr val="FBFAF6"/>
          </a:solidFill>
          <a:ln w="6350">
            <a:solidFill>
              <a:srgbClr val="DCD6C8"/>
            </a:solidFill>
            <a:prstDash val="solid"/>
          </a:ln>
        </p:spPr>
      </p:sp>
      <p:sp>
        <p:nvSpPr>
          <p:cNvPr id="13" name="Text 11"/>
          <p:cNvSpPr/>
          <p:nvPr/>
        </p:nvSpPr>
        <p:spPr>
          <a:xfrm>
            <a:off x="5263445" y="3293445"/>
            <a:ext cx="355600" cy="761956"/>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9C4F0A"/>
                </a:solidFill>
                <a:latin typeface="Inter" pitchFamily="34" charset="0"/>
                <a:ea typeface="Inter" pitchFamily="34" charset="-122"/>
                <a:cs typeface="Inter" pitchFamily="34" charset="-120"/>
              </a:rPr>
              <a:t>2</a:t>
            </a:r>
            <a:endParaRPr lang="en-US" sz="1600" dirty="0"/>
          </a:p>
        </p:txBody>
      </p:sp>
      <p:sp>
        <p:nvSpPr>
          <p:cNvPr id="14" name="Text 12"/>
          <p:cNvSpPr/>
          <p:nvPr/>
        </p:nvSpPr>
        <p:spPr>
          <a:xfrm>
            <a:off x="5720645" y="3293445"/>
            <a:ext cx="561320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What</a:t>
            </a:r>
            <a:endParaRPr lang="en-US" sz="1600" dirty="0"/>
          </a:p>
        </p:txBody>
      </p:sp>
      <p:sp>
        <p:nvSpPr>
          <p:cNvPr id="15" name="Text 13"/>
          <p:cNvSpPr/>
          <p:nvPr/>
        </p:nvSpPr>
        <p:spPr>
          <a:xfrm>
            <a:off x="5720645" y="3588059"/>
            <a:ext cx="5613202" cy="46734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A pre-execution policy gate (OPA) plus a hash-chained, signed action ledger, delivered once through the Tachyon SDK.</a:t>
            </a:r>
            <a:endParaRPr lang="en-US" sz="1200" dirty="0"/>
          </a:p>
        </p:txBody>
      </p:sp>
      <p:sp>
        <p:nvSpPr>
          <p:cNvPr id="16" name="Shape 14"/>
          <p:cNvSpPr/>
          <p:nvPr/>
        </p:nvSpPr>
        <p:spPr>
          <a:xfrm>
            <a:off x="5057775" y="4343621"/>
            <a:ext cx="6318250" cy="1097095"/>
          </a:xfrm>
          <a:prstGeom prst="roundRect">
            <a:avLst>
              <a:gd name="adj" fmla="val 6656"/>
            </a:avLst>
          </a:prstGeom>
          <a:solidFill>
            <a:srgbClr val="FBFAF6"/>
          </a:solidFill>
          <a:ln w="6350">
            <a:solidFill>
              <a:srgbClr val="DCD6C8"/>
            </a:solidFill>
            <a:prstDash val="solid"/>
          </a:ln>
        </p:spPr>
      </p:sp>
      <p:sp>
        <p:nvSpPr>
          <p:cNvPr id="17" name="Text 15"/>
          <p:cNvSpPr/>
          <p:nvPr/>
        </p:nvSpPr>
        <p:spPr>
          <a:xfrm>
            <a:off x="5263445" y="4523890"/>
            <a:ext cx="355600" cy="761956"/>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9C4F0A"/>
                </a:solidFill>
                <a:latin typeface="Inter" pitchFamily="34" charset="0"/>
                <a:ea typeface="Inter" pitchFamily="34" charset="-122"/>
                <a:cs typeface="Inter" pitchFamily="34" charset="-120"/>
              </a:rPr>
              <a:t>3</a:t>
            </a:r>
            <a:endParaRPr lang="en-US" sz="1600" dirty="0"/>
          </a:p>
        </p:txBody>
      </p:sp>
      <p:sp>
        <p:nvSpPr>
          <p:cNvPr id="18" name="Text 16"/>
          <p:cNvSpPr/>
          <p:nvPr/>
        </p:nvSpPr>
        <p:spPr>
          <a:xfrm>
            <a:off x="5720645" y="4523890"/>
            <a:ext cx="561320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How</a:t>
            </a:r>
            <a:endParaRPr lang="en-US" sz="1600" dirty="0"/>
          </a:p>
        </p:txBody>
      </p:sp>
      <p:sp>
        <p:nvSpPr>
          <p:cNvPr id="19" name="Text 17"/>
          <p:cNvSpPr/>
          <p:nvPr/>
        </p:nvSpPr>
        <p:spPr>
          <a:xfrm>
            <a:off x="5720645" y="4818504"/>
            <a:ext cx="5613202" cy="46734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Build a thin core we own; adopt open standards and open-source integrity components instead of buying a platform.</a:t>
            </a:r>
            <a:endParaRPr lang="en-US" sz="1200" dirty="0"/>
          </a:p>
        </p:txBody>
      </p:sp>
      <p:sp>
        <p:nvSpPr>
          <p:cNvPr id="20" name="Text 18"/>
          <p:cNvSpPr/>
          <p:nvPr/>
        </p:nvSpPr>
        <p:spPr>
          <a:xfrm>
            <a:off x="812800" y="6238258"/>
            <a:ext cx="366136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Tachyon · Agent Audit Ledger · executive briefing</a:t>
            </a:r>
            <a:endParaRPr lang="en-US" sz="1200" dirty="0"/>
          </a:p>
        </p:txBody>
      </p:sp>
      <p:sp>
        <p:nvSpPr>
          <p:cNvPr id="21" name="Text 19"/>
          <p:cNvSpPr/>
          <p:nvPr/>
        </p:nvSpPr>
        <p:spPr>
          <a:xfrm>
            <a:off x="11190112" y="6238258"/>
            <a:ext cx="239889"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24014"/>
          </a:xfrm>
          <a:prstGeom prst="rect">
            <a:avLst/>
          </a:prstGeom>
          <a:noFill/>
          <a:ln/>
        </p:spPr>
        <p:txBody>
          <a:bodyPr wrap="square" lIns="0" tIns="0" rIns="0" bIns="0" rtlCol="0" anchor="t">
            <a:normAutofit/>
          </a:bodyPr>
          <a:lstStyle/>
          <a:p>
            <a:pPr algn="l" indent="0" marL="0">
              <a:lnSpc>
                <a:spcPts val="1570"/>
              </a:lnSpc>
              <a:buNone/>
            </a:pPr>
            <a:r>
              <a:rPr lang="en-US" sz="1121" b="1" spc="100" kern="0" dirty="0">
                <a:solidFill>
                  <a:srgbClr val="9C4F0A"/>
                </a:solidFill>
                <a:latin typeface="Inter" pitchFamily="34" charset="0"/>
                <a:ea typeface="Inter" pitchFamily="34" charset="-122"/>
                <a:cs typeface="Inter" pitchFamily="34" charset="-120"/>
              </a:rPr>
              <a:t>WHY · THE PROBLEM</a:t>
            </a:r>
            <a:endParaRPr lang="en-US" sz="1121" dirty="0"/>
          </a:p>
        </p:txBody>
      </p:sp>
      <p:sp>
        <p:nvSpPr>
          <p:cNvPr id="3" name="Text 1"/>
          <p:cNvSpPr/>
          <p:nvPr/>
        </p:nvSpPr>
        <p:spPr>
          <a:xfrm>
            <a:off x="812800" y="1113014"/>
            <a:ext cx="10883392" cy="441590"/>
          </a:xfrm>
          <a:prstGeom prst="rect">
            <a:avLst/>
          </a:prstGeom>
          <a:noFill/>
          <a:ln/>
        </p:spPr>
        <p:txBody>
          <a:bodyPr wrap="square" lIns="0" tIns="0" rIns="0" bIns="0" rtlCol="0" anchor="t">
            <a:normAutofit/>
          </a:bodyPr>
          <a:lstStyle/>
          <a:p>
            <a:pPr algn="l" indent="0" marL="0">
              <a:lnSpc>
                <a:spcPts val="3322"/>
              </a:lnSpc>
              <a:buNone/>
            </a:pPr>
            <a:r>
              <a:rPr lang="en-US" sz="3020" dirty="0">
                <a:solidFill>
                  <a:srgbClr val="16213A"/>
                </a:solidFill>
                <a:latin typeface="Source Serif 4" pitchFamily="34" charset="0"/>
                <a:ea typeface="Source Serif 4" pitchFamily="34" charset="-122"/>
                <a:cs typeface="Source Serif 4" pitchFamily="34" charset="-120"/>
              </a:rPr>
              <a:t>Agents act alone; we cannot prove what happened</a:t>
            </a:r>
            <a:endParaRPr lang="en-US" sz="302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794493"/>
          <a:ext cx="10555111" cy="2813888"/>
        </p:xfrm>
        <a:graphic>
          <a:graphicData uri="http://schemas.openxmlformats.org/drawingml/2006/table">
            <a:tbl>
              <a:tblPr/>
              <a:tblGrid>
                <a:gridCol w="3518370"/>
                <a:gridCol w="3518370"/>
                <a:gridCol w="3518370"/>
              </a:tblGrid>
              <a:tr h="443574">
                <a:tc>
                  <a:txBody>
                    <a:bodyPr/>
                    <a:lstStyle/>
                    <a:p>
                      <a:pPr indent="0" marL="0">
                        <a:lnSpc>
                          <a:spcPts val="1565"/>
                        </a:lnSpc>
                        <a:buNone/>
                      </a:pPr>
                      <a:r>
                        <a:rPr lang="en-US" sz="1118" b="1" dirty="0">
                          <a:solidFill>
                            <a:srgbClr val="F4F2EC"/>
                          </a:solidFill>
                          <a:latin typeface="Inter" pitchFamily="34" charset="0"/>
                          <a:ea typeface="Inter" pitchFamily="34" charset="-122"/>
                          <a:cs typeface="Inter" pitchFamily="34" charset="-120"/>
                        </a:rPr>
                        <a:t>Source today</a:t>
                      </a:r>
                      <a:endParaRPr lang="en-US" sz="1118"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565"/>
                        </a:lnSpc>
                        <a:buNone/>
                      </a:pPr>
                      <a:r>
                        <a:rPr lang="en-US" sz="1118" b="1" dirty="0">
                          <a:solidFill>
                            <a:srgbClr val="F4F2EC"/>
                          </a:solidFill>
                          <a:latin typeface="Inter" pitchFamily="34" charset="0"/>
                          <a:ea typeface="Inter" pitchFamily="34" charset="-122"/>
                          <a:cs typeface="Inter" pitchFamily="34" charset="-120"/>
                        </a:rPr>
                        <a:t>What it captures</a:t>
                      </a:r>
                      <a:endParaRPr lang="en-US" sz="1118" dirty="0">
                        <a:latin typeface="Inter" charset="0"/>
                        <a:ea typeface="Inter" charset="0"/>
                        <a:cs typeface="Inter" charset="0"/>
                      </a:endParaRPr>
                    </a:p>
                  </a:txBody>
                  <a:tcPr marL="127000" marR="127000" marT="101600" marB="1016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565"/>
                        </a:lnSpc>
                        <a:buNone/>
                      </a:pPr>
                      <a:r>
                        <a:rPr lang="en-US" sz="1118" b="1" dirty="0">
                          <a:solidFill>
                            <a:srgbClr val="F4F2EC"/>
                          </a:solidFill>
                          <a:latin typeface="Inter" pitchFamily="34" charset="0"/>
                          <a:ea typeface="Inter" pitchFamily="34" charset="-122"/>
                          <a:cs typeface="Inter" pitchFamily="34" charset="-120"/>
                        </a:rPr>
                        <a:t>Why it is not audit evidence</a:t>
                      </a:r>
                      <a:endParaRPr lang="en-US" sz="1118" dirty="0">
                        <a:latin typeface="Inter" charset="0"/>
                        <a:ea typeface="Inter" charset="0"/>
                        <a:cs typeface="Inter" charset="0"/>
                      </a:endParaRPr>
                    </a:p>
                  </a:txBody>
                  <a:tcPr marL="127000" marR="127000" marT="101600" marB="1016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642232">
                <a:tc>
                  <a:txBody>
                    <a:bodyPr/>
                    <a:lstStyle/>
                    <a:p>
                      <a:pPr indent="0" marL="0">
                        <a:lnSpc>
                          <a:spcPts val="1565"/>
                        </a:lnSpc>
                        <a:buNone/>
                      </a:pPr>
                      <a:r>
                        <a:rPr lang="en-US" sz="1118" dirty="0">
                          <a:solidFill>
                            <a:srgbClr val="16213A"/>
                          </a:solidFill>
                          <a:latin typeface="Inter" pitchFamily="34" charset="0"/>
                          <a:ea typeface="Inter" pitchFamily="34" charset="-122"/>
                          <a:cs typeface="Inter" pitchFamily="34" charset="-120"/>
                        </a:rPr>
                        <a:t>Arize traces</a:t>
                      </a:r>
                      <a:endParaRPr lang="en-US" sz="1118"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65"/>
                        </a:lnSpc>
                        <a:buNone/>
                      </a:pPr>
                      <a:r>
                        <a:rPr lang="en-US" sz="1118" dirty="0">
                          <a:solidFill>
                            <a:srgbClr val="16213A"/>
                          </a:solidFill>
                          <a:latin typeface="Inter" pitchFamily="34" charset="0"/>
                          <a:ea typeface="Inter" pitchFamily="34" charset="-122"/>
                          <a:cs typeface="Inter" pitchFamily="34" charset="-120"/>
                        </a:rPr>
                        <a:t>Spans, evals, latency, cost</a:t>
                      </a:r>
                      <a:endParaRPr lang="en-US" sz="1118"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65"/>
                        </a:lnSpc>
                        <a:buNone/>
                      </a:pPr>
                      <a:r>
                        <a:rPr lang="en-US" sz="1118" dirty="0">
                          <a:solidFill>
                            <a:srgbClr val="16213A"/>
                          </a:solidFill>
                          <a:latin typeface="Inter" pitchFamily="34" charset="0"/>
                          <a:ea typeface="Inter" pitchFamily="34" charset="-122"/>
                          <a:cs typeface="Inter" pitchFamily="34" charset="-120"/>
                        </a:rPr>
                        <a:t>Built for debugging; sampled, editable, operational retention</a:t>
                      </a:r>
                      <a:endParaRPr lang="en-US" sz="1118"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642232">
                <a:tc>
                  <a:txBody>
                    <a:bodyPr/>
                    <a:lstStyle/>
                    <a:p>
                      <a:pPr indent="0" marL="0">
                        <a:lnSpc>
                          <a:spcPts val="1565"/>
                        </a:lnSpc>
                        <a:buNone/>
                      </a:pPr>
                      <a:r>
                        <a:rPr lang="en-US" sz="1118" dirty="0">
                          <a:solidFill>
                            <a:srgbClr val="16213A"/>
                          </a:solidFill>
                          <a:latin typeface="Inter" pitchFamily="34" charset="0"/>
                          <a:ea typeface="Inter" pitchFamily="34" charset="-122"/>
                          <a:cs typeface="Inter" pitchFamily="34" charset="-120"/>
                        </a:rPr>
                        <a:t>Apigee logs</a:t>
                      </a:r>
                      <a:endParaRPr lang="en-US" sz="1118"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65"/>
                        </a:lnSpc>
                        <a:buNone/>
                      </a:pPr>
                      <a:r>
                        <a:rPr lang="en-US" sz="1118" dirty="0">
                          <a:solidFill>
                            <a:srgbClr val="16213A"/>
                          </a:solidFill>
                          <a:latin typeface="Inter" pitchFamily="34" charset="0"/>
                          <a:ea typeface="Inter" pitchFamily="34" charset="-122"/>
                          <a:cs typeface="Inter" pitchFamily="34" charset="-120"/>
                        </a:rPr>
                        <a:t>Who called which model API, quotas</a:t>
                      </a:r>
                      <a:endParaRPr lang="en-US" sz="1118"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65"/>
                        </a:lnSpc>
                        <a:buNone/>
                      </a:pPr>
                      <a:r>
                        <a:rPr lang="en-US" sz="1118" dirty="0">
                          <a:solidFill>
                            <a:srgbClr val="16213A"/>
                          </a:solidFill>
                          <a:latin typeface="Inter" pitchFamily="34" charset="0"/>
                          <a:ea typeface="Inter" pitchFamily="34" charset="-122"/>
                          <a:cs typeface="Inter" pitchFamily="34" charset="-120"/>
                        </a:rPr>
                        <a:t>Sees the model call, never the tool action that followed</a:t>
                      </a:r>
                      <a:endParaRPr lang="en-US" sz="1118"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642232">
                <a:tc>
                  <a:txBody>
                    <a:bodyPr/>
                    <a:lstStyle/>
                    <a:p>
                      <a:pPr indent="0" marL="0">
                        <a:lnSpc>
                          <a:spcPts val="1565"/>
                        </a:lnSpc>
                        <a:buNone/>
                      </a:pPr>
                      <a:r>
                        <a:rPr lang="en-US" sz="1118" dirty="0">
                          <a:solidFill>
                            <a:srgbClr val="16213A"/>
                          </a:solidFill>
                          <a:latin typeface="Inter" pitchFamily="34" charset="0"/>
                          <a:ea typeface="Inter" pitchFamily="34" charset="-122"/>
                          <a:cs typeface="Inter" pitchFamily="34" charset="-120"/>
                        </a:rPr>
                        <a:t>AI Bridge logs</a:t>
                      </a:r>
                      <a:endParaRPr lang="en-US" sz="1118"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65"/>
                        </a:lnSpc>
                        <a:buNone/>
                      </a:pPr>
                      <a:r>
                        <a:rPr lang="en-US" sz="1118" dirty="0">
                          <a:solidFill>
                            <a:srgbClr val="16213A"/>
                          </a:solidFill>
                          <a:latin typeface="Inter" pitchFamily="34" charset="0"/>
                          <a:ea typeface="Inter" pitchFamily="34" charset="-122"/>
                          <a:cs typeface="Inter" pitchFamily="34" charset="-120"/>
                        </a:rPr>
                        <a:t>Which model served a request, and why</a:t>
                      </a:r>
                      <a:endParaRPr lang="en-US" sz="1118"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65"/>
                        </a:lnSpc>
                        <a:buNone/>
                      </a:pPr>
                      <a:r>
                        <a:rPr lang="en-US" sz="1118" dirty="0">
                          <a:solidFill>
                            <a:srgbClr val="16213A"/>
                          </a:solidFill>
                          <a:latin typeface="Inter" pitchFamily="34" charset="0"/>
                          <a:ea typeface="Inter" pitchFamily="34" charset="-122"/>
                          <a:cs typeface="Inter" pitchFamily="34" charset="-120"/>
                        </a:rPr>
                        <a:t>Routing context only; no policy decision or outcome</a:t>
                      </a:r>
                      <a:endParaRPr lang="en-US" sz="1118"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443618">
                <a:tc>
                  <a:txBody>
                    <a:bodyPr/>
                    <a:lstStyle/>
                    <a:p>
                      <a:pPr indent="0" marL="0">
                        <a:lnSpc>
                          <a:spcPts val="1565"/>
                        </a:lnSpc>
                        <a:buNone/>
                      </a:pPr>
                      <a:r>
                        <a:rPr lang="en-US" sz="1118" dirty="0">
                          <a:solidFill>
                            <a:srgbClr val="16213A"/>
                          </a:solidFill>
                          <a:latin typeface="Inter" pitchFamily="34" charset="0"/>
                          <a:ea typeface="Inter" pitchFamily="34" charset="-122"/>
                          <a:cs typeface="Inter" pitchFamily="34" charset="-120"/>
                        </a:rPr>
                        <a:t>Application logs</a:t>
                      </a:r>
                      <a:endParaRPr lang="en-US" sz="1118"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65"/>
                        </a:lnSpc>
                        <a:buNone/>
                      </a:pPr>
                      <a:r>
                        <a:rPr lang="en-US" sz="1118" dirty="0">
                          <a:solidFill>
                            <a:srgbClr val="16213A"/>
                          </a:solidFill>
                          <a:latin typeface="Inter" pitchFamily="34" charset="0"/>
                          <a:ea typeface="Inter" pitchFamily="34" charset="-122"/>
                          <a:cs typeface="Inter" pitchFamily="34" charset="-120"/>
                        </a:rPr>
                        <a:t>Whatever each team chose to log</a:t>
                      </a:r>
                      <a:endParaRPr lang="en-US" sz="1118"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65"/>
                        </a:lnSpc>
                        <a:buNone/>
                      </a:pPr>
                      <a:r>
                        <a:rPr lang="en-US" sz="1118" dirty="0">
                          <a:solidFill>
                            <a:srgbClr val="16213A"/>
                          </a:solidFill>
                          <a:latin typeface="Inter" pitchFamily="34" charset="0"/>
                          <a:ea typeface="Inter" pitchFamily="34" charset="-122"/>
                          <a:cs typeface="Inter" pitchFamily="34" charset="-120"/>
                        </a:rPr>
                        <a:t>Inconsistent schemas across 40+ apps; mutable</a:t>
                      </a:r>
                      <a:endParaRPr lang="en-US" sz="1118"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
        <p:nvSpPr>
          <p:cNvPr id="5" name="Shape 2"/>
          <p:cNvSpPr/>
          <p:nvPr/>
        </p:nvSpPr>
        <p:spPr>
          <a:xfrm>
            <a:off x="812800" y="4862381"/>
            <a:ext cx="10566400" cy="979620"/>
          </a:xfrm>
          <a:prstGeom prst="roundRect">
            <a:avLst>
              <a:gd name="adj" fmla="val 7779"/>
            </a:avLst>
          </a:prstGeom>
          <a:solidFill>
            <a:srgbClr val="16213A"/>
          </a:solidFill>
          <a:ln/>
        </p:spPr>
      </p:sp>
      <p:pic>
        <p:nvPicPr>
          <p:cNvPr id="6" name="Image 0" descr="rect">    </p:cNvPr>
          <p:cNvPicPr>
            <a:picLocks noChangeAspect="1"/>
          </p:cNvPicPr>
          <p:nvPr/>
        </p:nvPicPr>
        <p:blipFill>
          <a:blip r:embed="rId1"/>
          <a:srcRect l="0" r="0" t="0" b="0"/>
          <a:stretch/>
        </p:blipFill>
        <p:spPr>
          <a:xfrm>
            <a:off x="1066800" y="5047413"/>
            <a:ext cx="50800" cy="609600"/>
          </a:xfrm>
          <a:prstGeom prst="rect">
            <a:avLst/>
          </a:prstGeom>
        </p:spPr>
      </p:pic>
      <p:sp>
        <p:nvSpPr>
          <p:cNvPr id="7" name="Text 3"/>
          <p:cNvSpPr/>
          <p:nvPr/>
        </p:nvSpPr>
        <p:spPr>
          <a:xfrm>
            <a:off x="1270000" y="5067697"/>
            <a:ext cx="10150856" cy="59434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4F2EC"/>
                </a:solidFill>
                <a:latin typeface="Source Serif 4" pitchFamily="34" charset="0"/>
                <a:ea typeface="Source Serif 4" pitchFamily="34" charset="-122"/>
                <a:cs typeface="Source Serif 4" pitchFamily="34" charset="-120"/>
              </a:rPr>
              <a:t>No single record answers: which agent, acting for whom, did what, under which policy version, and can we prove the record is intact?</a:t>
            </a:r>
            <a:endParaRPr lang="en-US" sz="1600" dirty="0"/>
          </a:p>
        </p:txBody>
      </p:sp>
      <p:sp>
        <p:nvSpPr>
          <p:cNvPr id="8" name="Text 4"/>
          <p:cNvSpPr/>
          <p:nvPr/>
        </p:nvSpPr>
        <p:spPr>
          <a:xfrm>
            <a:off x="812800" y="6238258"/>
            <a:ext cx="366136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Tachyon · Agent Audit Ledger · executive briefing</a:t>
            </a:r>
            <a:endParaRPr lang="en-US" sz="1200" dirty="0"/>
          </a:p>
        </p:txBody>
      </p:sp>
      <p:sp>
        <p:nvSpPr>
          <p:cNvPr id="9" name="Text 5"/>
          <p:cNvSpPr/>
          <p:nvPr/>
        </p:nvSpPr>
        <p:spPr>
          <a:xfrm>
            <a:off x="11188921" y="6238258"/>
            <a:ext cx="24108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WHY NOW · DRIVERS</a:t>
            </a:r>
            <a:endParaRPr lang="en-US" sz="1200" dirty="0"/>
          </a:p>
        </p:txBody>
      </p:sp>
      <p:sp>
        <p:nvSpPr>
          <p:cNvPr id="3" name="Text 1"/>
          <p:cNvSpPr/>
          <p:nvPr/>
        </p:nvSpPr>
        <p:spPr>
          <a:xfrm>
            <a:off x="812800" y="1127742"/>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6213A"/>
                </a:solidFill>
                <a:latin typeface="Source Serif 4" pitchFamily="34" charset="0"/>
                <a:ea typeface="Source Serif 4" pitchFamily="34" charset="-122"/>
                <a:cs typeface="Source Serif 4" pitchFamily="34" charset="-120"/>
              </a:rPr>
              <a:t>Regulation and the industry are converging</a:t>
            </a:r>
            <a:endParaRPr lang="en-US" sz="3200" dirty="0"/>
          </a:p>
        </p:txBody>
      </p:sp>
      <p:sp>
        <p:nvSpPr>
          <p:cNvPr id="4" name="Shape 2"/>
          <p:cNvSpPr/>
          <p:nvPr/>
        </p:nvSpPr>
        <p:spPr>
          <a:xfrm>
            <a:off x="815975" y="1831932"/>
            <a:ext cx="3414183" cy="1394266"/>
          </a:xfrm>
          <a:prstGeom prst="roundRect">
            <a:avLst>
              <a:gd name="adj" fmla="val 5238"/>
            </a:avLst>
          </a:prstGeom>
          <a:solidFill>
            <a:srgbClr val="FBFAF6"/>
          </a:solidFill>
          <a:ln w="6350">
            <a:solidFill>
              <a:srgbClr val="DCD6C8"/>
            </a:solidFill>
            <a:prstDash val="solid"/>
          </a:ln>
        </p:spPr>
      </p:sp>
      <p:sp>
        <p:nvSpPr>
          <p:cNvPr id="5" name="Text 3"/>
          <p:cNvSpPr/>
          <p:nvPr/>
        </p:nvSpPr>
        <p:spPr>
          <a:xfrm>
            <a:off x="1021644" y="2037601"/>
            <a:ext cx="309293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SR 11-7</a:t>
            </a:r>
            <a:endParaRPr lang="en-US" sz="1600" dirty="0"/>
          </a:p>
        </p:txBody>
      </p:sp>
      <p:sp>
        <p:nvSpPr>
          <p:cNvPr id="6" name="Text 4"/>
          <p:cNvSpPr/>
          <p:nvPr/>
        </p:nvSpPr>
        <p:spPr>
          <a:xfrm>
            <a:off x="1021644" y="2357614"/>
            <a:ext cx="3092930" cy="68831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Ongoing monitoring and effective challenge now extend to what agents do, not only what models predict.</a:t>
            </a:r>
            <a:endParaRPr lang="en-US" sz="1200" dirty="0"/>
          </a:p>
        </p:txBody>
      </p:sp>
      <p:sp>
        <p:nvSpPr>
          <p:cNvPr id="7" name="Shape 5"/>
          <p:cNvSpPr/>
          <p:nvPr/>
        </p:nvSpPr>
        <p:spPr>
          <a:xfrm>
            <a:off x="4388908" y="1831932"/>
            <a:ext cx="3414183" cy="1394266"/>
          </a:xfrm>
          <a:prstGeom prst="roundRect">
            <a:avLst>
              <a:gd name="adj" fmla="val 5238"/>
            </a:avLst>
          </a:prstGeom>
          <a:solidFill>
            <a:srgbClr val="FBFAF6"/>
          </a:solidFill>
          <a:ln w="6350">
            <a:solidFill>
              <a:srgbClr val="DCD6C8"/>
            </a:solidFill>
            <a:prstDash val="solid"/>
          </a:ln>
        </p:spPr>
      </p:sp>
      <p:sp>
        <p:nvSpPr>
          <p:cNvPr id="8" name="Text 6"/>
          <p:cNvSpPr/>
          <p:nvPr/>
        </p:nvSpPr>
        <p:spPr>
          <a:xfrm>
            <a:off x="4594578" y="2037601"/>
            <a:ext cx="309293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SOX · FFIEC</a:t>
            </a:r>
            <a:endParaRPr lang="en-US" sz="1600" dirty="0"/>
          </a:p>
        </p:txBody>
      </p:sp>
      <p:sp>
        <p:nvSpPr>
          <p:cNvPr id="9" name="Text 7"/>
          <p:cNvSpPr/>
          <p:nvPr/>
        </p:nvSpPr>
        <p:spPr>
          <a:xfrm>
            <a:off x="4594578" y="2357614"/>
            <a:ext cx="3092930" cy="68831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Systems that touch financial processes need a reliable audit trail and change control.</a:t>
            </a:r>
            <a:endParaRPr lang="en-US" sz="1200" dirty="0"/>
          </a:p>
        </p:txBody>
      </p:sp>
      <p:sp>
        <p:nvSpPr>
          <p:cNvPr id="10" name="Shape 8"/>
          <p:cNvSpPr/>
          <p:nvPr/>
        </p:nvSpPr>
        <p:spPr>
          <a:xfrm>
            <a:off x="7961842" y="1831932"/>
            <a:ext cx="3414183" cy="1394266"/>
          </a:xfrm>
          <a:prstGeom prst="roundRect">
            <a:avLst>
              <a:gd name="adj" fmla="val 5238"/>
            </a:avLst>
          </a:prstGeom>
          <a:solidFill>
            <a:srgbClr val="FBFAF6"/>
          </a:solidFill>
          <a:ln w="6350">
            <a:solidFill>
              <a:srgbClr val="DCD6C8"/>
            </a:solidFill>
            <a:prstDash val="solid"/>
          </a:ln>
        </p:spPr>
      </p:sp>
      <p:sp>
        <p:nvSpPr>
          <p:cNvPr id="11" name="Text 9"/>
          <p:cNvSpPr/>
          <p:nvPr/>
        </p:nvSpPr>
        <p:spPr>
          <a:xfrm>
            <a:off x="8167512" y="2037601"/>
            <a:ext cx="309293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GLBA · RBI residency</a:t>
            </a:r>
            <a:endParaRPr lang="en-US" sz="1600" dirty="0"/>
          </a:p>
        </p:txBody>
      </p:sp>
      <p:sp>
        <p:nvSpPr>
          <p:cNvPr id="12" name="Text 10"/>
          <p:cNvSpPr/>
          <p:nvPr/>
        </p:nvSpPr>
        <p:spPr>
          <a:xfrm>
            <a:off x="8167512" y="2357614"/>
            <a:ext cx="3092930" cy="68831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We must show which customer data an agent touched, and keep that record in-region.</a:t>
            </a:r>
            <a:endParaRPr lang="en-US" sz="1200" dirty="0"/>
          </a:p>
        </p:txBody>
      </p:sp>
      <p:sp>
        <p:nvSpPr>
          <p:cNvPr id="13" name="Shape 11"/>
          <p:cNvSpPr/>
          <p:nvPr/>
        </p:nvSpPr>
        <p:spPr>
          <a:xfrm>
            <a:off x="815975" y="3384947"/>
            <a:ext cx="3414183" cy="1394266"/>
          </a:xfrm>
          <a:prstGeom prst="roundRect">
            <a:avLst>
              <a:gd name="adj" fmla="val 5238"/>
            </a:avLst>
          </a:prstGeom>
          <a:solidFill>
            <a:srgbClr val="FBFAF6"/>
          </a:solidFill>
          <a:ln w="6350">
            <a:solidFill>
              <a:srgbClr val="DCD6C8"/>
            </a:solidFill>
            <a:prstDash val="solid"/>
          </a:ln>
        </p:spPr>
      </p:sp>
      <p:sp>
        <p:nvSpPr>
          <p:cNvPr id="14" name="Text 12"/>
          <p:cNvSpPr/>
          <p:nvPr/>
        </p:nvSpPr>
        <p:spPr>
          <a:xfrm>
            <a:off x="1021644" y="3590616"/>
            <a:ext cx="309293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EU AI Act · Art. 12</a:t>
            </a:r>
            <a:endParaRPr lang="en-US" sz="1600" dirty="0"/>
          </a:p>
        </p:txBody>
      </p:sp>
      <p:sp>
        <p:nvSpPr>
          <p:cNvPr id="15" name="Text 13"/>
          <p:cNvSpPr/>
          <p:nvPr/>
        </p:nvSpPr>
        <p:spPr>
          <a:xfrm>
            <a:off x="1021644" y="3910630"/>
            <a:ext cx="3092930" cy="68831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Record-keeping for traceability of high-risk AI; ISO 42001 and NIST AI RMF point the same way.</a:t>
            </a:r>
            <a:endParaRPr lang="en-US" sz="1200" dirty="0"/>
          </a:p>
        </p:txBody>
      </p:sp>
      <p:sp>
        <p:nvSpPr>
          <p:cNvPr id="16" name="Shape 14"/>
          <p:cNvSpPr/>
          <p:nvPr/>
        </p:nvSpPr>
        <p:spPr>
          <a:xfrm>
            <a:off x="4388908" y="3384947"/>
            <a:ext cx="3414183" cy="1394266"/>
          </a:xfrm>
          <a:prstGeom prst="roundRect">
            <a:avLst>
              <a:gd name="adj" fmla="val 5238"/>
            </a:avLst>
          </a:prstGeom>
          <a:solidFill>
            <a:srgbClr val="FBFAF6"/>
          </a:solidFill>
          <a:ln w="6350">
            <a:solidFill>
              <a:srgbClr val="DCD6C8"/>
            </a:solidFill>
            <a:prstDash val="solid"/>
          </a:ln>
        </p:spPr>
      </p:sp>
      <p:sp>
        <p:nvSpPr>
          <p:cNvPr id="17" name="Text 15"/>
          <p:cNvSpPr/>
          <p:nvPr/>
        </p:nvSpPr>
        <p:spPr>
          <a:xfrm>
            <a:off x="4594578" y="3590616"/>
            <a:ext cx="309293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OWASP Agentic Top 10</a:t>
            </a:r>
            <a:endParaRPr lang="en-US" sz="1600" dirty="0"/>
          </a:p>
        </p:txBody>
      </p:sp>
      <p:sp>
        <p:nvSpPr>
          <p:cNvPr id="18" name="Text 16"/>
          <p:cNvSpPr/>
          <p:nvPr/>
        </p:nvSpPr>
        <p:spPr>
          <a:xfrm>
            <a:off x="4594578" y="3910630"/>
            <a:ext cx="3092930" cy="68831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Published Dec 2025: tool misuse, identity abuse and rogue agents are now named, testable risks.</a:t>
            </a:r>
            <a:endParaRPr lang="en-US" sz="1200" dirty="0"/>
          </a:p>
        </p:txBody>
      </p:sp>
      <p:sp>
        <p:nvSpPr>
          <p:cNvPr id="19" name="Shape 17"/>
          <p:cNvSpPr/>
          <p:nvPr/>
        </p:nvSpPr>
        <p:spPr>
          <a:xfrm>
            <a:off x="7961842" y="3384947"/>
            <a:ext cx="3414183" cy="1394266"/>
          </a:xfrm>
          <a:prstGeom prst="roundRect">
            <a:avLst>
              <a:gd name="adj" fmla="val 5238"/>
            </a:avLst>
          </a:prstGeom>
          <a:solidFill>
            <a:srgbClr val="FBFAF6"/>
          </a:solidFill>
          <a:ln w="6350">
            <a:solidFill>
              <a:srgbClr val="DCD6C8"/>
            </a:solidFill>
            <a:prstDash val="solid"/>
          </a:ln>
        </p:spPr>
      </p:sp>
      <p:sp>
        <p:nvSpPr>
          <p:cNvPr id="20" name="Text 18"/>
          <p:cNvSpPr/>
          <p:nvPr/>
        </p:nvSpPr>
        <p:spPr>
          <a:xfrm>
            <a:off x="8167512" y="3590616"/>
            <a:ext cx="309293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Industry signal</a:t>
            </a:r>
            <a:endParaRPr lang="en-US" sz="1600" dirty="0"/>
          </a:p>
        </p:txBody>
      </p:sp>
      <p:sp>
        <p:nvSpPr>
          <p:cNvPr id="21" name="Text 19"/>
          <p:cNvSpPr/>
          <p:nvPr/>
        </p:nvSpPr>
        <p:spPr>
          <a:xfrm>
            <a:off x="8167512" y="3910630"/>
            <a:ext cx="3092930" cy="68831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Microsoft open-sourced an agent governance toolkit (Apr 2026) with a signed audit trail as a core feature.</a:t>
            </a:r>
            <a:endParaRPr lang="en-US" sz="1200" dirty="0"/>
          </a:p>
        </p:txBody>
      </p:sp>
      <p:sp>
        <p:nvSpPr>
          <p:cNvPr id="22" name="Text 20"/>
          <p:cNvSpPr/>
          <p:nvPr/>
        </p:nvSpPr>
        <p:spPr>
          <a:xfrm>
            <a:off x="812800" y="6238258"/>
            <a:ext cx="366136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Tachyon · Agent Audit Ledger · executive briefing</a:t>
            </a:r>
            <a:endParaRPr lang="en-US" sz="1200" dirty="0"/>
          </a:p>
        </p:txBody>
      </p:sp>
      <p:sp>
        <p:nvSpPr>
          <p:cNvPr id="23" name="Text 21"/>
          <p:cNvSpPr/>
          <p:nvPr/>
        </p:nvSpPr>
        <p:spPr>
          <a:xfrm>
            <a:off x="11184599" y="6238258"/>
            <a:ext cx="245401"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WHAT · DEFINITION</a:t>
            </a:r>
            <a:endParaRPr lang="en-US" sz="1200" dirty="0"/>
          </a:p>
        </p:txBody>
      </p:sp>
      <p:sp>
        <p:nvSpPr>
          <p:cNvPr id="3" name="Text 1"/>
          <p:cNvSpPr/>
          <p:nvPr/>
        </p:nvSpPr>
        <p:spPr>
          <a:xfrm>
            <a:off x="812800" y="1127742"/>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6213A"/>
                </a:solidFill>
                <a:latin typeface="Source Serif 4" pitchFamily="34" charset="0"/>
                <a:ea typeface="Source Serif 4" pitchFamily="34" charset="-122"/>
                <a:cs typeface="Source Serif 4" pitchFamily="34" charset="-120"/>
              </a:rPr>
              <a:t>The ledger is a gate and a record, kept separate</a:t>
            </a:r>
            <a:endParaRPr lang="en-US" sz="3200" dirty="0"/>
          </a:p>
        </p:txBody>
      </p:sp>
      <p:sp>
        <p:nvSpPr>
          <p:cNvPr id="4" name="Shape 2"/>
          <p:cNvSpPr/>
          <p:nvPr/>
        </p:nvSpPr>
        <p:spPr>
          <a:xfrm>
            <a:off x="812800" y="1828757"/>
            <a:ext cx="5170311" cy="2204597"/>
          </a:xfrm>
          <a:prstGeom prst="roundRect">
            <a:avLst>
              <a:gd name="adj" fmla="val 3456"/>
            </a:avLst>
          </a:prstGeom>
          <a:solidFill>
            <a:srgbClr val="16213A"/>
          </a:solidFill>
          <a:ln/>
        </p:spPr>
      </p:sp>
      <p:sp>
        <p:nvSpPr>
          <p:cNvPr id="5" name="Text 3"/>
          <p:cNvSpPr/>
          <p:nvPr/>
        </p:nvSpPr>
        <p:spPr>
          <a:xfrm>
            <a:off x="1066800" y="2082757"/>
            <a:ext cx="4802180"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3A060"/>
                </a:solidFill>
                <a:latin typeface="Inter" pitchFamily="34" charset="0"/>
                <a:ea typeface="Inter" pitchFamily="34" charset="-122"/>
                <a:cs typeface="Inter" pitchFamily="34" charset="-120"/>
              </a:rPr>
              <a:t>LAYER 1 · DECIDE</a:t>
            </a:r>
            <a:endParaRPr lang="en-US" sz="1200" dirty="0"/>
          </a:p>
        </p:txBody>
      </p:sp>
      <p:sp>
        <p:nvSpPr>
          <p:cNvPr id="6" name="Text 4"/>
          <p:cNvSpPr/>
          <p:nvPr/>
        </p:nvSpPr>
        <p:spPr>
          <a:xfrm>
            <a:off x="1066800" y="2397699"/>
            <a:ext cx="4802180"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4F2EC"/>
                </a:solidFill>
                <a:latin typeface="Source Serif 4" pitchFamily="34" charset="0"/>
                <a:ea typeface="Source Serif 4" pitchFamily="34" charset="-122"/>
                <a:cs typeface="Source Serif 4" pitchFamily="34" charset="-120"/>
              </a:rPr>
              <a:t>Pre-execution gate</a:t>
            </a:r>
            <a:endParaRPr lang="en-US" sz="2000" dirty="0"/>
          </a:p>
        </p:txBody>
      </p:sp>
      <p:sp>
        <p:nvSpPr>
          <p:cNvPr id="7" name="Text 5"/>
          <p:cNvSpPr/>
          <p:nvPr/>
        </p:nvSpPr>
        <p:spPr>
          <a:xfrm>
            <a:off x="1066800" y="2804099"/>
            <a:ext cx="4802180" cy="1000654"/>
          </a:xfrm>
          <a:prstGeom prst="rect">
            <a:avLst/>
          </a:prstGeom>
          <a:noFill/>
          <a:ln/>
        </p:spPr>
        <p:txBody>
          <a:bodyPr wrap="square" lIns="0" tIns="0" rIns="0" bIns="0" rtlCol="0" anchor="t">
            <a:normAutofit/>
          </a:bodyPr>
          <a:lstStyle/>
          <a:p>
            <a:pPr algn="l" marL="182880" indent="-148844">
              <a:lnSpc>
                <a:spcPts val="1920"/>
              </a:lnSpc>
              <a:buSzPct val="100000"/>
              <a:buChar char="•"/>
            </a:pPr>
            <a:r>
              <a:rPr lang="en-US" sz="1200" dirty="0">
                <a:solidFill>
                  <a:srgbClr val="D6DCE6"/>
                </a:solidFill>
                <a:latin typeface="Inter" pitchFamily="34" charset="0"/>
                <a:ea typeface="Inter" pitchFamily="34" charset="-122"/>
                <a:cs typeface="Inter" pitchFamily="34" charset="-120"/>
              </a:rPr>
              <a:t>Evaluates each action before it runs, using OPA as the decision point</a:t>
            </a:r>
            <a:endParaRPr lang="en-US" sz="1200" dirty="0"/>
          </a:p>
          <a:p>
            <a:pPr algn="l" marL="182880" indent="-148844">
              <a:lnSpc>
                <a:spcPts val="1920"/>
              </a:lnSpc>
              <a:buSzPct val="100000"/>
              <a:buChar char="•"/>
            </a:pPr>
            <a:r>
              <a:rPr lang="en-US" sz="1200" dirty="0">
                <a:solidFill>
                  <a:srgbClr val="D6DCE6"/>
                </a:solidFill>
                <a:latin typeface="Inter" pitchFamily="34" charset="0"/>
                <a:ea typeface="Inter" pitchFamily="34" charset="-122"/>
                <a:cs typeface="Inter" pitchFamily="34" charset="-120"/>
              </a:rPr>
              <a:t>Returns allow, deny or escalate-to-human, by risk tier R0–R4</a:t>
            </a:r>
            <a:endParaRPr lang="en-US" sz="1200" dirty="0"/>
          </a:p>
          <a:p>
            <a:pPr algn="l" marL="182880" indent="-148844">
              <a:lnSpc>
                <a:spcPts val="1920"/>
              </a:lnSpc>
              <a:buSzPct val="100000"/>
              <a:buChar char="•"/>
            </a:pPr>
            <a:r>
              <a:rPr lang="en-US" sz="1200" dirty="0">
                <a:solidFill>
                  <a:srgbClr val="D6DCE6"/>
                </a:solidFill>
                <a:latin typeface="Inter" pitchFamily="34" charset="0"/>
                <a:ea typeface="Inter" pitchFamily="34" charset="-122"/>
                <a:cs typeface="Inter" pitchFamily="34" charset="-120"/>
              </a:rPr>
              <a:t>Reads prior entries, so each step informs the next check</a:t>
            </a:r>
            <a:endParaRPr lang="en-US" sz="1200" dirty="0"/>
          </a:p>
        </p:txBody>
      </p:sp>
      <p:sp>
        <p:nvSpPr>
          <p:cNvPr id="8" name="Shape 6"/>
          <p:cNvSpPr/>
          <p:nvPr/>
        </p:nvSpPr>
        <p:spPr>
          <a:xfrm>
            <a:off x="6192661" y="1835107"/>
            <a:ext cx="5180189" cy="2191897"/>
          </a:xfrm>
          <a:prstGeom prst="roundRect">
            <a:avLst>
              <a:gd name="adj" fmla="val 3187"/>
            </a:avLst>
          </a:prstGeom>
          <a:solidFill>
            <a:srgbClr val="FBFAF6"/>
          </a:solidFill>
          <a:ln w="12700">
            <a:solidFill>
              <a:srgbClr val="D9822B"/>
            </a:solidFill>
            <a:prstDash val="solid"/>
          </a:ln>
        </p:spPr>
      </p:sp>
      <p:sp>
        <p:nvSpPr>
          <p:cNvPr id="9" name="Text 7"/>
          <p:cNvSpPr/>
          <p:nvPr/>
        </p:nvSpPr>
        <p:spPr>
          <a:xfrm>
            <a:off x="6451600" y="2094046"/>
            <a:ext cx="4802180"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LAYER 2 · RECORD</a:t>
            </a:r>
            <a:endParaRPr lang="en-US" sz="1200" dirty="0"/>
          </a:p>
        </p:txBody>
      </p:sp>
      <p:sp>
        <p:nvSpPr>
          <p:cNvPr id="10" name="Text 8"/>
          <p:cNvSpPr/>
          <p:nvPr/>
        </p:nvSpPr>
        <p:spPr>
          <a:xfrm>
            <a:off x="6451600" y="2408988"/>
            <a:ext cx="4802180"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16213A"/>
                </a:solidFill>
                <a:latin typeface="Source Serif 4" pitchFamily="34" charset="0"/>
                <a:ea typeface="Source Serif 4" pitchFamily="34" charset="-122"/>
                <a:cs typeface="Source Serif 4" pitchFamily="34" charset="-120"/>
              </a:rPr>
              <a:t>Action ledger</a:t>
            </a:r>
            <a:endParaRPr lang="en-US" sz="2000" dirty="0"/>
          </a:p>
        </p:txBody>
      </p:sp>
      <p:sp>
        <p:nvSpPr>
          <p:cNvPr id="11" name="Text 9"/>
          <p:cNvSpPr/>
          <p:nvPr/>
        </p:nvSpPr>
        <p:spPr>
          <a:xfrm>
            <a:off x="6451600" y="2815388"/>
            <a:ext cx="4802180" cy="756841"/>
          </a:xfrm>
          <a:prstGeom prst="rect">
            <a:avLst/>
          </a:prstGeom>
          <a:noFill/>
          <a:ln/>
        </p:spPr>
        <p:txBody>
          <a:bodyPr wrap="square" lIns="0" tIns="0" rIns="0" bIns="0" rtlCol="0" anchor="t">
            <a:normAutofit/>
          </a:bodyPr>
          <a:lstStyle/>
          <a:p>
            <a:pPr algn="l" marL="182880" indent="-148844">
              <a:lnSpc>
                <a:spcPts val="1920"/>
              </a:lnSpc>
              <a:buSzPct val="100000"/>
              <a:buChar char="•"/>
            </a:pPr>
            <a:r>
              <a:rPr lang="en-US" sz="1200" dirty="0">
                <a:solidFill>
                  <a:srgbClr val="3A4458"/>
                </a:solidFill>
                <a:latin typeface="Inter" pitchFamily="34" charset="0"/>
                <a:ea typeface="Inter" pitchFamily="34" charset="-122"/>
                <a:cs typeface="Inter" pitchFamily="34" charset="-120"/>
              </a:rPr>
              <a:t>Append-only, hash-chained and signed entries</a:t>
            </a:r>
            <a:endParaRPr lang="en-US" sz="1200" dirty="0"/>
          </a:p>
          <a:p>
            <a:pPr algn="l" marL="182880" indent="-148844">
              <a:lnSpc>
                <a:spcPts val="1920"/>
              </a:lnSpc>
              <a:buSzPct val="100000"/>
              <a:buChar char="•"/>
            </a:pPr>
            <a:r>
              <a:rPr lang="en-US" sz="1200" dirty="0">
                <a:solidFill>
                  <a:srgbClr val="3A4458"/>
                </a:solidFill>
                <a:latin typeface="Inter" pitchFamily="34" charset="0"/>
                <a:ea typeface="Inter" pitchFamily="34" charset="-122"/>
                <a:cs typeface="Inter" pitchFamily="34" charset="-120"/>
              </a:rPr>
              <a:t>Records intent, decision, policy version and outcome</a:t>
            </a:r>
            <a:endParaRPr lang="en-US" sz="1200" dirty="0"/>
          </a:p>
          <a:p>
            <a:pPr algn="l" marL="182880" indent="-148844">
              <a:lnSpc>
                <a:spcPts val="1920"/>
              </a:lnSpc>
              <a:buSzPct val="100000"/>
              <a:buChar char="•"/>
            </a:pPr>
            <a:r>
              <a:rPr lang="en-US" sz="1200" dirty="0">
                <a:solidFill>
                  <a:srgbClr val="3A4458"/>
                </a:solidFill>
                <a:latin typeface="Inter" pitchFamily="34" charset="0"/>
                <a:ea typeface="Inter" pitchFamily="34" charset="-122"/>
                <a:cs typeface="Inter" pitchFamily="34" charset="-120"/>
              </a:rPr>
              <a:t>Verifiable by an auditor without trusting the platform team</a:t>
            </a:r>
            <a:endParaRPr lang="en-US" sz="1200" dirty="0"/>
          </a:p>
        </p:txBody>
      </p:sp>
      <p:sp>
        <p:nvSpPr>
          <p:cNvPr id="12" name="Text 10"/>
          <p:cNvSpPr/>
          <p:nvPr/>
        </p:nvSpPr>
        <p:spPr>
          <a:xfrm>
            <a:off x="812800" y="4295818"/>
            <a:ext cx="1447800"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WHAT IT IS NOT</a:t>
            </a:r>
            <a:endParaRPr lang="en-US" sz="1200" dirty="0"/>
          </a:p>
        </p:txBody>
      </p:sp>
      <p:sp>
        <p:nvSpPr>
          <p:cNvPr id="13" name="Text 11"/>
          <p:cNvSpPr/>
          <p:nvPr/>
        </p:nvSpPr>
        <p:spPr>
          <a:xfrm>
            <a:off x="2362200" y="4287354"/>
            <a:ext cx="928751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3A4458"/>
                </a:solidFill>
                <a:latin typeface="Inter" pitchFamily="34" charset="0"/>
                <a:ea typeface="Inter" pitchFamily="34" charset="-122"/>
                <a:cs typeface="Inter" pitchFamily="34" charset="-120"/>
              </a:rPr>
              <a:t>Not observability (Arize owns that) · not the policy author (OPA bundles are) · not a SIEM (it feeds one) · not a store for prompts or PII (hashes and references only)</a:t>
            </a:r>
            <a:endParaRPr lang="en-US" sz="1200" dirty="0"/>
          </a:p>
        </p:txBody>
      </p:sp>
      <p:sp>
        <p:nvSpPr>
          <p:cNvPr id="14" name="Text 12"/>
          <p:cNvSpPr/>
          <p:nvPr/>
        </p:nvSpPr>
        <p:spPr>
          <a:xfrm>
            <a:off x="812800" y="6238258"/>
            <a:ext cx="366136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Tachyon · Agent Audit Ledger · executive briefing</a:t>
            </a:r>
            <a:endParaRPr lang="en-US" sz="1200" dirty="0"/>
          </a:p>
        </p:txBody>
      </p:sp>
      <p:sp>
        <p:nvSpPr>
          <p:cNvPr id="15" name="Text 13"/>
          <p:cNvSpPr/>
          <p:nvPr/>
        </p:nvSpPr>
        <p:spPr>
          <a:xfrm>
            <a:off x="11192625" y="6238258"/>
            <a:ext cx="237375"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WHERE · ECOSYSTEM POSITION</a:t>
            </a:r>
            <a:endParaRPr lang="en-US" sz="1200" dirty="0"/>
          </a:p>
        </p:txBody>
      </p:sp>
      <p:sp>
        <p:nvSpPr>
          <p:cNvPr id="3" name="Text 1"/>
          <p:cNvSpPr/>
          <p:nvPr/>
        </p:nvSpPr>
        <p:spPr>
          <a:xfrm>
            <a:off x="812800" y="1127742"/>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6213A"/>
                </a:solidFill>
                <a:latin typeface="Source Serif 4" pitchFamily="34" charset="0"/>
                <a:ea typeface="Source Serif 4" pitchFamily="34" charset="-122"/>
                <a:cs typeface="Source Serif 4" pitchFamily="34" charset="-120"/>
              </a:rPr>
              <a:t>One interception point, three paths, one trust fabric</a:t>
            </a:r>
            <a:endParaRPr lang="en-US" sz="3200" dirty="0"/>
          </a:p>
        </p:txBody>
      </p:sp>
      <p:sp>
        <p:nvSpPr>
          <p:cNvPr id="4" name="Shape 2"/>
          <p:cNvSpPr/>
          <p:nvPr/>
        </p:nvSpPr>
        <p:spPr>
          <a:xfrm>
            <a:off x="812800" y="1777957"/>
            <a:ext cx="10566400" cy="416542"/>
          </a:xfrm>
          <a:prstGeom prst="roundRect">
            <a:avLst>
              <a:gd name="adj" fmla="val 15245"/>
            </a:avLst>
          </a:prstGeom>
          <a:solidFill>
            <a:srgbClr val="E9E5DA"/>
          </a:solidFill>
          <a:ln/>
        </p:spPr>
      </p:sp>
      <p:sp>
        <p:nvSpPr>
          <p:cNvPr id="5" name="Text 3"/>
          <p:cNvSpPr/>
          <p:nvPr/>
        </p:nvSpPr>
        <p:spPr>
          <a:xfrm>
            <a:off x="990600" y="1879557"/>
            <a:ext cx="1725745"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13A"/>
                </a:solidFill>
                <a:latin typeface="Inter" pitchFamily="34" charset="0"/>
                <a:ea typeface="Inter" pitchFamily="34" charset="-122"/>
                <a:cs typeface="Inter" pitchFamily="34" charset="-120"/>
              </a:rPr>
              <a:t>LoB agent applications</a:t>
            </a:r>
            <a:endParaRPr lang="en-US" sz="1200" dirty="0"/>
          </a:p>
        </p:txBody>
      </p:sp>
      <p:sp>
        <p:nvSpPr>
          <p:cNvPr id="6" name="Text 4"/>
          <p:cNvSpPr/>
          <p:nvPr/>
        </p:nvSpPr>
        <p:spPr>
          <a:xfrm>
            <a:off x="8341122" y="1879557"/>
            <a:ext cx="2946086"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458"/>
                </a:solidFill>
                <a:latin typeface="Inter" pitchFamily="34" charset="0"/>
                <a:ea typeface="Inter" pitchFamily="34" charset="-122"/>
                <a:cs typeface="Inter" pitchFamily="34" charset="-120"/>
              </a:rPr>
              <a:t>LangGraph · Google ADK · Agent Studio</a:t>
            </a:r>
            <a:endParaRPr lang="en-US" sz="1200" dirty="0"/>
          </a:p>
        </p:txBody>
      </p:sp>
      <p:sp>
        <p:nvSpPr>
          <p:cNvPr id="7" name="Shape 5"/>
          <p:cNvSpPr/>
          <p:nvPr/>
        </p:nvSpPr>
        <p:spPr>
          <a:xfrm>
            <a:off x="812800" y="2283399"/>
            <a:ext cx="10566400" cy="441942"/>
          </a:xfrm>
          <a:prstGeom prst="roundRect">
            <a:avLst>
              <a:gd name="adj" fmla="val 14368"/>
            </a:avLst>
          </a:prstGeom>
          <a:solidFill>
            <a:srgbClr val="16213A"/>
          </a:solidFill>
          <a:ln/>
        </p:spPr>
      </p:sp>
      <p:sp>
        <p:nvSpPr>
          <p:cNvPr id="8" name="Text 6"/>
          <p:cNvSpPr/>
          <p:nvPr/>
        </p:nvSpPr>
        <p:spPr>
          <a:xfrm>
            <a:off x="990600" y="2397699"/>
            <a:ext cx="1044663"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2EC"/>
                </a:solidFill>
                <a:latin typeface="Inter" pitchFamily="34" charset="0"/>
                <a:ea typeface="Inter" pitchFamily="34" charset="-122"/>
                <a:cs typeface="Inter" pitchFamily="34" charset="-120"/>
              </a:rPr>
              <a:t>Tachyon SDK</a:t>
            </a:r>
            <a:endParaRPr lang="en-US" sz="1200" dirty="0"/>
          </a:p>
        </p:txBody>
      </p:sp>
      <p:sp>
        <p:nvSpPr>
          <p:cNvPr id="9" name="Text 7"/>
          <p:cNvSpPr/>
          <p:nvPr/>
        </p:nvSpPr>
        <p:spPr>
          <a:xfrm>
            <a:off x="6676716" y="2397699"/>
            <a:ext cx="4660424"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CE6"/>
                </a:solidFill>
                <a:latin typeface="Inter" pitchFamily="34" charset="0"/>
                <a:ea typeface="Inter" pitchFamily="34" charset="-122"/>
                <a:cs typeface="Inter" pitchFamily="34" charset="-120"/>
              </a:rPr>
              <a:t>Intercepts model calls, tool calls, memory writes and hand-offs</a:t>
            </a:r>
            <a:endParaRPr lang="en-US" sz="1200" dirty="0"/>
          </a:p>
        </p:txBody>
      </p:sp>
      <p:sp>
        <p:nvSpPr>
          <p:cNvPr id="10" name="Text 8"/>
          <p:cNvSpPr/>
          <p:nvPr/>
        </p:nvSpPr>
        <p:spPr>
          <a:xfrm>
            <a:off x="812800" y="2814241"/>
            <a:ext cx="3566753"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8C"/>
                </a:solidFill>
                <a:latin typeface="Inter" pitchFamily="34" charset="0"/>
                <a:ea typeface="Inter" pitchFamily="34" charset="-122"/>
                <a:cs typeface="Inter" pitchFamily="34" charset="-120"/>
              </a:rPr>
              <a:t>MODEL PATH</a:t>
            </a:r>
            <a:endParaRPr lang="en-US" sz="1200" dirty="0"/>
          </a:p>
        </p:txBody>
      </p:sp>
      <p:sp>
        <p:nvSpPr>
          <p:cNvPr id="11" name="Shape 9"/>
          <p:cNvSpPr/>
          <p:nvPr/>
        </p:nvSpPr>
        <p:spPr>
          <a:xfrm>
            <a:off x="815975" y="3094258"/>
            <a:ext cx="3456517" cy="421481"/>
          </a:xfrm>
          <a:prstGeom prst="roundRect">
            <a:avLst>
              <a:gd name="adj" fmla="val 14313"/>
            </a:avLst>
          </a:prstGeom>
          <a:solidFill>
            <a:srgbClr val="FBFAF6"/>
          </a:solidFill>
          <a:ln w="6350">
            <a:solidFill>
              <a:srgbClr val="DCD6C8"/>
            </a:solidFill>
            <a:prstDash val="solid"/>
          </a:ln>
        </p:spPr>
      </p:sp>
      <p:sp>
        <p:nvSpPr>
          <p:cNvPr id="12" name="Text 10"/>
          <p:cNvSpPr/>
          <p:nvPr/>
        </p:nvSpPr>
        <p:spPr>
          <a:xfrm>
            <a:off x="945444" y="3198329"/>
            <a:ext cx="3293505"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13A"/>
                </a:solidFill>
                <a:latin typeface="Inter" pitchFamily="34" charset="0"/>
                <a:ea typeface="Inter" pitchFamily="34" charset="-122"/>
                <a:cs typeface="Inter" pitchFamily="34" charset="-120"/>
              </a:rPr>
              <a:t>AI Bridge</a:t>
            </a:r>
            <a:r>
              <a:rPr lang="en-US" sz="1200" dirty="0">
                <a:solidFill>
                  <a:srgbClr val="16213A"/>
                </a:solidFill>
                <a:latin typeface="Inter" pitchFamily="34" charset="0"/>
                <a:ea typeface="Inter" pitchFamily="34" charset="-122"/>
                <a:cs typeface="Inter" pitchFamily="34" charset="-120"/>
              </a:rPr>
              <a:t> · routing, rightsizing</a:t>
            </a:r>
            <a:endParaRPr lang="en-US" sz="1200" dirty="0"/>
          </a:p>
        </p:txBody>
      </p:sp>
      <p:sp>
        <p:nvSpPr>
          <p:cNvPr id="13" name="Shape 11"/>
          <p:cNvSpPr/>
          <p:nvPr/>
        </p:nvSpPr>
        <p:spPr>
          <a:xfrm>
            <a:off x="815975" y="3585589"/>
            <a:ext cx="3456517" cy="421481"/>
          </a:xfrm>
          <a:prstGeom prst="roundRect">
            <a:avLst>
              <a:gd name="adj" fmla="val 14313"/>
            </a:avLst>
          </a:prstGeom>
          <a:solidFill>
            <a:srgbClr val="FBFAF6"/>
          </a:solidFill>
          <a:ln w="6350">
            <a:solidFill>
              <a:srgbClr val="DCD6C8"/>
            </a:solidFill>
            <a:prstDash val="solid"/>
          </a:ln>
        </p:spPr>
      </p:sp>
      <p:sp>
        <p:nvSpPr>
          <p:cNvPr id="14" name="Text 12"/>
          <p:cNvSpPr/>
          <p:nvPr/>
        </p:nvSpPr>
        <p:spPr>
          <a:xfrm>
            <a:off x="945444" y="3689660"/>
            <a:ext cx="3293505"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13A"/>
                </a:solidFill>
                <a:latin typeface="Inter" pitchFamily="34" charset="0"/>
                <a:ea typeface="Inter" pitchFamily="34" charset="-122"/>
                <a:cs typeface="Inter" pitchFamily="34" charset="-120"/>
              </a:rPr>
              <a:t>Apigee</a:t>
            </a:r>
            <a:r>
              <a:rPr lang="en-US" sz="1200" dirty="0">
                <a:solidFill>
                  <a:srgbClr val="16213A"/>
                </a:solidFill>
                <a:latin typeface="Inter" pitchFamily="34" charset="0"/>
                <a:ea typeface="Inter" pitchFamily="34" charset="-122"/>
                <a:cs typeface="Inter" pitchFamily="34" charset="-120"/>
              </a:rPr>
              <a:t> · model API facade, keys</a:t>
            </a:r>
            <a:endParaRPr lang="en-US" sz="1200" dirty="0"/>
          </a:p>
        </p:txBody>
      </p:sp>
      <p:sp>
        <p:nvSpPr>
          <p:cNvPr id="15" name="Text 13"/>
          <p:cNvSpPr/>
          <p:nvPr/>
        </p:nvSpPr>
        <p:spPr>
          <a:xfrm>
            <a:off x="4364567" y="2814241"/>
            <a:ext cx="3566753"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ACTION PATH</a:t>
            </a:r>
            <a:endParaRPr lang="en-US" sz="1200" dirty="0"/>
          </a:p>
        </p:txBody>
      </p:sp>
      <p:sp>
        <p:nvSpPr>
          <p:cNvPr id="16" name="Shape 14"/>
          <p:cNvSpPr/>
          <p:nvPr/>
        </p:nvSpPr>
        <p:spPr>
          <a:xfrm>
            <a:off x="4370917" y="3097433"/>
            <a:ext cx="3450167" cy="426420"/>
          </a:xfrm>
          <a:prstGeom prst="roundRect">
            <a:avLst>
              <a:gd name="adj" fmla="val 13402"/>
            </a:avLst>
          </a:prstGeom>
          <a:solidFill>
            <a:srgbClr val="FBFAF6"/>
          </a:solidFill>
          <a:ln w="12700">
            <a:solidFill>
              <a:srgbClr val="D9822B"/>
            </a:solidFill>
            <a:prstDash val="solid"/>
          </a:ln>
        </p:spPr>
      </p:sp>
      <p:sp>
        <p:nvSpPr>
          <p:cNvPr id="17" name="Text 15"/>
          <p:cNvSpPr/>
          <p:nvPr/>
        </p:nvSpPr>
        <p:spPr>
          <a:xfrm>
            <a:off x="4502856" y="3203972"/>
            <a:ext cx="3281878"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13A"/>
                </a:solidFill>
                <a:latin typeface="Inter" pitchFamily="34" charset="0"/>
                <a:ea typeface="Inter" pitchFamily="34" charset="-122"/>
                <a:cs typeface="Inter" pitchFamily="34" charset="-120"/>
              </a:rPr>
              <a:t>Ledger gate</a:t>
            </a:r>
            <a:r>
              <a:rPr lang="en-US" sz="1200" dirty="0">
                <a:solidFill>
                  <a:srgbClr val="16213A"/>
                </a:solidFill>
                <a:latin typeface="Inter" pitchFamily="34" charset="0"/>
                <a:ea typeface="Inter" pitchFamily="34" charset="-122"/>
                <a:cs typeface="Inter" pitchFamily="34" charset="-120"/>
              </a:rPr>
              <a:t> · OPA decision first</a:t>
            </a:r>
            <a:endParaRPr lang="en-US" sz="1200" dirty="0"/>
          </a:p>
        </p:txBody>
      </p:sp>
      <p:sp>
        <p:nvSpPr>
          <p:cNvPr id="18" name="Shape 16"/>
          <p:cNvSpPr/>
          <p:nvPr/>
        </p:nvSpPr>
        <p:spPr>
          <a:xfrm>
            <a:off x="4367742" y="3596878"/>
            <a:ext cx="3456517" cy="421481"/>
          </a:xfrm>
          <a:prstGeom prst="roundRect">
            <a:avLst>
              <a:gd name="adj" fmla="val 14313"/>
            </a:avLst>
          </a:prstGeom>
          <a:solidFill>
            <a:srgbClr val="FBFAF6"/>
          </a:solidFill>
          <a:ln w="6350">
            <a:solidFill>
              <a:srgbClr val="DCD6C8"/>
            </a:solidFill>
            <a:prstDash val="solid"/>
          </a:ln>
        </p:spPr>
      </p:sp>
      <p:sp>
        <p:nvSpPr>
          <p:cNvPr id="19" name="Text 17"/>
          <p:cNvSpPr/>
          <p:nvPr/>
        </p:nvSpPr>
        <p:spPr>
          <a:xfrm>
            <a:off x="4497211" y="3700949"/>
            <a:ext cx="3293505"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13A"/>
                </a:solidFill>
                <a:latin typeface="Inter" pitchFamily="34" charset="0"/>
                <a:ea typeface="Inter" pitchFamily="34" charset="-122"/>
                <a:cs typeface="Inter" pitchFamily="34" charset="-120"/>
              </a:rPr>
              <a:t>Tools</a:t>
            </a:r>
            <a:r>
              <a:rPr lang="en-US" sz="1200" dirty="0">
                <a:solidFill>
                  <a:srgbClr val="16213A"/>
                </a:solidFill>
                <a:latin typeface="Inter" pitchFamily="34" charset="0"/>
                <a:ea typeface="Inter" pitchFamily="34" charset="-122"/>
                <a:cs typeface="Inter" pitchFamily="34" charset="-120"/>
              </a:rPr>
              <a:t> · MCP, enterprise APIs</a:t>
            </a:r>
            <a:endParaRPr lang="en-US" sz="1200" dirty="0"/>
          </a:p>
        </p:txBody>
      </p:sp>
      <p:sp>
        <p:nvSpPr>
          <p:cNvPr id="20" name="Text 18"/>
          <p:cNvSpPr/>
          <p:nvPr/>
        </p:nvSpPr>
        <p:spPr>
          <a:xfrm>
            <a:off x="7916333" y="2814241"/>
            <a:ext cx="3566753"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8C"/>
                </a:solidFill>
                <a:latin typeface="Inter" pitchFamily="34" charset="0"/>
                <a:ea typeface="Inter" pitchFamily="34" charset="-122"/>
                <a:cs typeface="Inter" pitchFamily="34" charset="-120"/>
              </a:rPr>
              <a:t>EVIDENCE PATH</a:t>
            </a:r>
            <a:endParaRPr lang="en-US" sz="1200" dirty="0"/>
          </a:p>
        </p:txBody>
      </p:sp>
      <p:sp>
        <p:nvSpPr>
          <p:cNvPr id="21" name="Shape 19"/>
          <p:cNvSpPr/>
          <p:nvPr/>
        </p:nvSpPr>
        <p:spPr>
          <a:xfrm>
            <a:off x="7922683" y="3097433"/>
            <a:ext cx="3450167" cy="426420"/>
          </a:xfrm>
          <a:prstGeom prst="roundRect">
            <a:avLst>
              <a:gd name="adj" fmla="val 13402"/>
            </a:avLst>
          </a:prstGeom>
          <a:solidFill>
            <a:srgbClr val="FBFAF6"/>
          </a:solidFill>
          <a:ln w="12700">
            <a:solidFill>
              <a:srgbClr val="D9822B"/>
            </a:solidFill>
            <a:prstDash val="solid"/>
          </a:ln>
        </p:spPr>
      </p:sp>
      <p:sp>
        <p:nvSpPr>
          <p:cNvPr id="22" name="Text 20"/>
          <p:cNvSpPr/>
          <p:nvPr/>
        </p:nvSpPr>
        <p:spPr>
          <a:xfrm>
            <a:off x="8054622" y="3203972"/>
            <a:ext cx="3281878"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13A"/>
                </a:solidFill>
                <a:latin typeface="Inter" pitchFamily="34" charset="0"/>
                <a:ea typeface="Inter" pitchFamily="34" charset="-122"/>
                <a:cs typeface="Inter" pitchFamily="34" charset="-120"/>
              </a:rPr>
              <a:t>Audit ledger</a:t>
            </a:r>
            <a:r>
              <a:rPr lang="en-US" sz="1200" dirty="0">
                <a:solidFill>
                  <a:srgbClr val="16213A"/>
                </a:solidFill>
                <a:latin typeface="Inter" pitchFamily="34" charset="0"/>
                <a:ea typeface="Inter" pitchFamily="34" charset="-122"/>
                <a:cs typeface="Inter" pitchFamily="34" charset="-120"/>
              </a:rPr>
              <a:t> · signed, chained</a:t>
            </a:r>
            <a:endParaRPr lang="en-US" sz="1200" dirty="0"/>
          </a:p>
        </p:txBody>
      </p:sp>
      <p:sp>
        <p:nvSpPr>
          <p:cNvPr id="23" name="Shape 21"/>
          <p:cNvSpPr/>
          <p:nvPr/>
        </p:nvSpPr>
        <p:spPr>
          <a:xfrm>
            <a:off x="7919508" y="3596878"/>
            <a:ext cx="3456517" cy="421481"/>
          </a:xfrm>
          <a:prstGeom prst="roundRect">
            <a:avLst>
              <a:gd name="adj" fmla="val 14313"/>
            </a:avLst>
          </a:prstGeom>
          <a:solidFill>
            <a:srgbClr val="FBFAF6"/>
          </a:solidFill>
          <a:ln w="6350">
            <a:solidFill>
              <a:srgbClr val="DCD6C8"/>
            </a:solidFill>
            <a:prstDash val="solid"/>
          </a:ln>
        </p:spPr>
      </p:sp>
      <p:sp>
        <p:nvSpPr>
          <p:cNvPr id="24" name="Text 22"/>
          <p:cNvSpPr/>
          <p:nvPr/>
        </p:nvSpPr>
        <p:spPr>
          <a:xfrm>
            <a:off x="8048978" y="3700949"/>
            <a:ext cx="3293505"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13A"/>
                </a:solidFill>
                <a:latin typeface="Inter" pitchFamily="34" charset="0"/>
                <a:ea typeface="Inter" pitchFamily="34" charset="-122"/>
                <a:cs typeface="Inter" pitchFamily="34" charset="-120"/>
              </a:rPr>
              <a:t>Arize</a:t>
            </a:r>
            <a:r>
              <a:rPr lang="en-US" sz="1200" dirty="0">
                <a:solidFill>
                  <a:srgbClr val="16213A"/>
                </a:solidFill>
                <a:latin typeface="Inter" pitchFamily="34" charset="0"/>
                <a:ea typeface="Inter" pitchFamily="34" charset="-122"/>
                <a:cs typeface="Inter" pitchFamily="34" charset="-120"/>
              </a:rPr>
              <a:t> · traces, evals</a:t>
            </a:r>
            <a:endParaRPr lang="en-US" sz="1200" dirty="0"/>
          </a:p>
        </p:txBody>
      </p:sp>
      <p:sp>
        <p:nvSpPr>
          <p:cNvPr id="25" name="Shape 23"/>
          <p:cNvSpPr/>
          <p:nvPr/>
        </p:nvSpPr>
        <p:spPr>
          <a:xfrm>
            <a:off x="812800" y="4110434"/>
            <a:ext cx="10566400" cy="416542"/>
          </a:xfrm>
          <a:prstGeom prst="roundRect">
            <a:avLst>
              <a:gd name="adj" fmla="val 15245"/>
            </a:avLst>
          </a:prstGeom>
          <a:solidFill>
            <a:srgbClr val="E9E5DA"/>
          </a:solidFill>
          <a:ln/>
        </p:spPr>
      </p:sp>
      <p:sp>
        <p:nvSpPr>
          <p:cNvPr id="26" name="Text 24"/>
          <p:cNvSpPr/>
          <p:nvPr/>
        </p:nvSpPr>
        <p:spPr>
          <a:xfrm>
            <a:off x="990600" y="4212034"/>
            <a:ext cx="10517124"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13A"/>
                </a:solidFill>
                <a:latin typeface="Inter" pitchFamily="34" charset="0"/>
                <a:ea typeface="Inter" pitchFamily="34" charset="-122"/>
                <a:cs typeface="Inter" pitchFamily="34" charset="-120"/>
              </a:rPr>
              <a:t>Trust fabric</a:t>
            </a:r>
            <a:r>
              <a:rPr lang="en-US" sz="1200" dirty="0">
                <a:solidFill>
                  <a:srgbClr val="16213A"/>
                </a:solidFill>
                <a:latin typeface="Inter" pitchFamily="34" charset="0"/>
                <a:ea typeface="Inter" pitchFamily="34" charset="-122"/>
                <a:cs typeface="Inter" pitchFamily="34" charset="-120"/>
              </a:rPr>
              <a:t> · Entra Agent ID and blueprints · PingFed user SSO · OBO tokens · OPA · Vault/HSM keys</a:t>
            </a:r>
            <a:endParaRPr lang="en-US" sz="1200" dirty="0"/>
          </a:p>
        </p:txBody>
      </p:sp>
      <p:sp>
        <p:nvSpPr>
          <p:cNvPr id="27" name="Text 25"/>
          <p:cNvSpPr/>
          <p:nvPr/>
        </p:nvSpPr>
        <p:spPr>
          <a:xfrm>
            <a:off x="812800" y="4730176"/>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A4458"/>
                </a:solidFill>
                <a:latin typeface="Inter" pitchFamily="34" charset="0"/>
                <a:ea typeface="Inter" pitchFamily="34" charset="-122"/>
                <a:cs typeface="Inter" pitchFamily="34" charset="-120"/>
              </a:rPr>
              <a:t>Join keys:</a:t>
            </a:r>
            <a:r>
              <a:rPr lang="en-US" sz="1200" dirty="0">
                <a:solidFill>
                  <a:srgbClr val="3A4458"/>
                </a:solidFill>
                <a:latin typeface="Inter" pitchFamily="34" charset="0"/>
                <a:ea typeface="Inter" pitchFamily="34" charset="-122"/>
                <a:cs typeface="Inter" pitchFamily="34" charset="-120"/>
              </a:rPr>
              <a:t> OTel trace_id · Apigee request_id · AI Bridge route_id · ledger sequence</a:t>
            </a:r>
            <a:endParaRPr lang="en-US" sz="1200" dirty="0"/>
          </a:p>
        </p:txBody>
      </p:sp>
      <p:sp>
        <p:nvSpPr>
          <p:cNvPr id="28" name="Text 26"/>
          <p:cNvSpPr/>
          <p:nvPr/>
        </p:nvSpPr>
        <p:spPr>
          <a:xfrm>
            <a:off x="812800" y="6238258"/>
            <a:ext cx="366136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Tachyon · Agent Audit Ledger · executive briefing</a:t>
            </a:r>
            <a:endParaRPr lang="en-US" sz="1200" dirty="0"/>
          </a:p>
        </p:txBody>
      </p:sp>
      <p:sp>
        <p:nvSpPr>
          <p:cNvPr id="29" name="Text 27"/>
          <p:cNvSpPr/>
          <p:nvPr/>
        </p:nvSpPr>
        <p:spPr>
          <a:xfrm>
            <a:off x="11188524" y="6238258"/>
            <a:ext cx="241476"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WHERE · DIVISION OF RESPONSIBILITY</a:t>
            </a:r>
            <a:endParaRPr lang="en-US" sz="1200" dirty="0"/>
          </a:p>
        </p:txBody>
      </p:sp>
      <p:sp>
        <p:nvSpPr>
          <p:cNvPr id="3" name="Text 1"/>
          <p:cNvSpPr/>
          <p:nvPr/>
        </p:nvSpPr>
        <p:spPr>
          <a:xfrm>
            <a:off x="812800" y="1127742"/>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6213A"/>
                </a:solidFill>
                <a:latin typeface="Source Serif 4" pitchFamily="34" charset="0"/>
                <a:ea typeface="Source Serif 4" pitchFamily="34" charset="-122"/>
                <a:cs typeface="Source Serif 4" pitchFamily="34" charset="-120"/>
              </a:rPr>
              <a:t>Each component answers a different question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840045"/>
          <a:ext cx="10555111" cy="3208161"/>
        </p:xfrm>
        <a:graphic>
          <a:graphicData uri="http://schemas.openxmlformats.org/drawingml/2006/table">
            <a:tbl>
              <a:tblPr/>
              <a:tblGrid>
                <a:gridCol w="3518370"/>
                <a:gridCol w="3518370"/>
                <a:gridCol w="3518370"/>
              </a:tblGrid>
              <a:tr h="427831">
                <a:tc>
                  <a:txBody>
                    <a:bodyPr/>
                    <a:lstStyle/>
                    <a:p>
                      <a:pPr indent="0" marL="0">
                        <a:lnSpc>
                          <a:spcPts val="1680"/>
                        </a:lnSpc>
                        <a:buNone/>
                      </a:pPr>
                      <a:r>
                        <a:rPr lang="en-US" sz="1200" b="1" dirty="0">
                          <a:solidFill>
                            <a:srgbClr val="F4F2EC"/>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680"/>
                        </a:lnSpc>
                        <a:buNone/>
                      </a:pPr>
                      <a:r>
                        <a:rPr lang="en-US" sz="1200" b="1" dirty="0">
                          <a:solidFill>
                            <a:srgbClr val="F4F2EC"/>
                          </a:solidFill>
                          <a:latin typeface="Inter" pitchFamily="34" charset="0"/>
                          <a:ea typeface="Inter" pitchFamily="34" charset="-122"/>
                          <a:cs typeface="Inter" pitchFamily="34" charset="-120"/>
                        </a:rPr>
                        <a:t>The question it answers</a:t>
                      </a:r>
                      <a:endParaRPr lang="en-US" sz="1200" dirty="0">
                        <a:latin typeface="Inter" charset="0"/>
                        <a:ea typeface="Inter" charset="0"/>
                        <a:cs typeface="Inter" charset="0"/>
                      </a:endParaRPr>
                    </a:p>
                  </a:txBody>
                  <a:tcPr marL="127000" marR="127000" marT="101600" marB="1016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680"/>
                        </a:lnSpc>
                        <a:buNone/>
                      </a:pPr>
                      <a:r>
                        <a:rPr lang="en-US" sz="1200" b="1" dirty="0">
                          <a:solidFill>
                            <a:srgbClr val="F4F2EC"/>
                          </a:solidFill>
                          <a:latin typeface="Inter" pitchFamily="34" charset="0"/>
                          <a:ea typeface="Inter" pitchFamily="34" charset="-122"/>
                          <a:cs typeface="Inter" pitchFamily="34" charset="-120"/>
                        </a:rPr>
                        <a:t>Record class</a:t>
                      </a:r>
                      <a:endParaRPr lang="en-US" sz="1200" dirty="0">
                        <a:latin typeface="Inter" charset="0"/>
                        <a:ea typeface="Inter" charset="0"/>
                        <a:cs typeface="Inter" charset="0"/>
                      </a:endParaRPr>
                    </a:p>
                  </a:txBody>
                  <a:tcPr marL="127000" marR="127000" marT="101600" marB="1016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4278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Tachyon SDK</a:t>
                      </a:r>
                      <a:endParaRPr lang="en-US" sz="1200"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Does every action go through governance?</a:t>
                      </a:r>
                      <a:endParaRPr lang="en-US" sz="1200"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Enforcement point</a:t>
                      </a:r>
                      <a:endParaRPr lang="en-US" sz="1200"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4278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AI Bridge</a:t>
                      </a:r>
                      <a:endParaRPr lang="en-US" sz="1200"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Which model served this request, and why?</a:t>
                      </a:r>
                      <a:endParaRPr lang="en-US" sz="1200"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Operational log</a:t>
                      </a:r>
                      <a:endParaRPr lang="en-US" sz="1200"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4278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Apigee</a:t>
                      </a:r>
                      <a:endParaRPr lang="en-US" sz="1200"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Who called which model API, within quota?</a:t>
                      </a:r>
                      <a:endParaRPr lang="en-US" sz="1200"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Access log</a:t>
                      </a:r>
                      <a:endParaRPr lang="en-US" sz="1200"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4278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Arize</a:t>
                      </a:r>
                      <a:endParaRPr lang="en-US" sz="1200"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How well did the agent perform?</a:t>
                      </a:r>
                      <a:endParaRPr lang="en-US" sz="1200"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Operational telemetry</a:t>
                      </a:r>
                      <a:endParaRPr lang="en-US" sz="1200"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641174">
                <a:tc>
                  <a:txBody>
                    <a:bodyPr/>
                    <a:lstStyle/>
                    <a:p>
                      <a:pPr indent="0" marL="0">
                        <a:lnSpc>
                          <a:spcPts val="1680"/>
                        </a:lnSpc>
                        <a:buNone/>
                      </a:pPr>
                      <a:r>
                        <a:rPr lang="en-US" sz="1200" dirty="0">
                          <a:solidFill>
                            <a:srgbClr val="9C4F0A"/>
                          </a:solidFill>
                          <a:latin typeface="Inter" pitchFamily="34" charset="0"/>
                          <a:ea typeface="Inter" pitchFamily="34" charset="-122"/>
                          <a:cs typeface="Inter" pitchFamily="34" charset="-120"/>
                        </a:rPr>
                        <a:t>Agent Audit Ledger</a:t>
                      </a:r>
                      <a:endParaRPr lang="en-US" sz="1200"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Was this action authorised, and can we prove it?</a:t>
                      </a:r>
                      <a:endParaRPr lang="en-US" sz="1200" dirty="0">
                        <a:latin typeface="Inter" charset="0"/>
                        <a:ea typeface="Inter" charset="0"/>
                        <a:cs typeface="Inter" charset="0"/>
                      </a:endParaRPr>
                    </a:p>
                  </a:txBody>
                  <a:tcPr marL="127000" marR="127000" marT="101600" marB="1016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System of record (evidence)</a:t>
                      </a:r>
                      <a:endParaRPr lang="en-US" sz="1200" dirty="0">
                        <a:latin typeface="Inter" charset="0"/>
                        <a:ea typeface="Inter" charset="0"/>
                        <a:cs typeface="Inter" charset="0"/>
                      </a:endParaRPr>
                    </a:p>
                  </a:txBody>
                  <a:tcPr marL="127000" marR="127000" marT="101600" marB="1016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r>
              <a:tr h="4278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Enterprise SIEM</a:t>
                      </a:r>
                      <a:endParaRPr lang="en-US" sz="1200"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Is something malicious happening right now?</a:t>
                      </a:r>
                      <a:endParaRPr lang="en-US" sz="1200"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Detection (consumes the ledger)</a:t>
                      </a:r>
                      <a:endParaRPr lang="en-US" sz="1200" dirty="0">
                        <a:latin typeface="Inter" charset="0"/>
                        <a:ea typeface="Inter" charset="0"/>
                        <a:cs typeface="Inter" charset="0"/>
                      </a:endParaRPr>
                    </a:p>
                  </a:txBody>
                  <a:tcPr marL="127000" marR="127000" marT="101600" marB="1016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
        <p:nvSpPr>
          <p:cNvPr id="5" name="Text 2"/>
          <p:cNvSpPr/>
          <p:nvPr/>
        </p:nvSpPr>
        <p:spPr>
          <a:xfrm>
            <a:off x="812800" y="6238258"/>
            <a:ext cx="366136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Tachyon · Agent Audit Ledger · executive briefing</a:t>
            </a:r>
            <a:endParaRPr lang="en-US" sz="1200" dirty="0"/>
          </a:p>
        </p:txBody>
      </p:sp>
      <p:sp>
        <p:nvSpPr>
          <p:cNvPr id="6" name="Text 3"/>
          <p:cNvSpPr/>
          <p:nvPr/>
        </p:nvSpPr>
        <p:spPr>
          <a:xfrm>
            <a:off x="11199768" y="6238258"/>
            <a:ext cx="23023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HOW · ACTION LIFECYCLE</a:t>
            </a:r>
            <a:endParaRPr lang="en-US" sz="1200" dirty="0"/>
          </a:p>
        </p:txBody>
      </p:sp>
      <p:sp>
        <p:nvSpPr>
          <p:cNvPr id="3" name="Text 1"/>
          <p:cNvSpPr/>
          <p:nvPr/>
        </p:nvSpPr>
        <p:spPr>
          <a:xfrm>
            <a:off x="812800" y="1127742"/>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6213A"/>
                </a:solidFill>
                <a:latin typeface="Source Serif 4" pitchFamily="34" charset="0"/>
                <a:ea typeface="Source Serif 4" pitchFamily="34" charset="-122"/>
                <a:cs typeface="Source Serif 4" pitchFamily="34" charset="-120"/>
              </a:rPr>
              <a:t>Six steps from intent to proof</a:t>
            </a:r>
            <a:endParaRPr lang="en-US" sz="3200" dirty="0"/>
          </a:p>
        </p:txBody>
      </p:sp>
      <p:sp>
        <p:nvSpPr>
          <p:cNvPr id="4" name="Shape 2"/>
          <p:cNvSpPr/>
          <p:nvPr/>
        </p:nvSpPr>
        <p:spPr>
          <a:xfrm>
            <a:off x="815975" y="1831932"/>
            <a:ext cx="3414183" cy="1300295"/>
          </a:xfrm>
          <a:prstGeom prst="roundRect">
            <a:avLst>
              <a:gd name="adj" fmla="val 5616"/>
            </a:avLst>
          </a:prstGeom>
          <a:solidFill>
            <a:srgbClr val="FBFAF6"/>
          </a:solidFill>
          <a:ln w="6350">
            <a:solidFill>
              <a:srgbClr val="DCD6C8"/>
            </a:solidFill>
            <a:prstDash val="solid"/>
          </a:ln>
        </p:spPr>
      </p:sp>
      <p:sp>
        <p:nvSpPr>
          <p:cNvPr id="5" name="Text 3"/>
          <p:cNvSpPr/>
          <p:nvPr/>
        </p:nvSpPr>
        <p:spPr>
          <a:xfrm>
            <a:off x="1021644" y="2012200"/>
            <a:ext cx="3092930"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4F0A"/>
                </a:solidFill>
                <a:latin typeface="Inter" pitchFamily="34" charset="0"/>
                <a:ea typeface="Inter" pitchFamily="34" charset="-122"/>
                <a:cs typeface="Inter" pitchFamily="34" charset="-120"/>
              </a:rPr>
              <a:t>01 · Intercept</a:t>
            </a:r>
            <a:endParaRPr lang="en-US" sz="1200" dirty="0"/>
          </a:p>
        </p:txBody>
      </p:sp>
      <p:sp>
        <p:nvSpPr>
          <p:cNvPr id="6" name="Text 4"/>
          <p:cNvSpPr/>
          <p:nvPr/>
        </p:nvSpPr>
        <p:spPr>
          <a:xfrm>
            <a:off x="1021644" y="2289042"/>
            <a:ext cx="3092930" cy="68831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SDK wraps the tool call; attaches the agent's Entra ID and the user's on-behalf-of token.</a:t>
            </a:r>
            <a:endParaRPr lang="en-US" sz="1200" dirty="0"/>
          </a:p>
        </p:txBody>
      </p:sp>
      <p:sp>
        <p:nvSpPr>
          <p:cNvPr id="7" name="Shape 5"/>
          <p:cNvSpPr/>
          <p:nvPr/>
        </p:nvSpPr>
        <p:spPr>
          <a:xfrm>
            <a:off x="4388908" y="1831932"/>
            <a:ext cx="3414183" cy="1300295"/>
          </a:xfrm>
          <a:prstGeom prst="roundRect">
            <a:avLst>
              <a:gd name="adj" fmla="val 5616"/>
            </a:avLst>
          </a:prstGeom>
          <a:solidFill>
            <a:srgbClr val="FBFAF6"/>
          </a:solidFill>
          <a:ln w="6350">
            <a:solidFill>
              <a:srgbClr val="DCD6C8"/>
            </a:solidFill>
            <a:prstDash val="solid"/>
          </a:ln>
        </p:spPr>
      </p:sp>
      <p:sp>
        <p:nvSpPr>
          <p:cNvPr id="8" name="Text 6"/>
          <p:cNvSpPr/>
          <p:nvPr/>
        </p:nvSpPr>
        <p:spPr>
          <a:xfrm>
            <a:off x="4594578" y="2012200"/>
            <a:ext cx="3092930"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4F0A"/>
                </a:solidFill>
                <a:latin typeface="Inter" pitchFamily="34" charset="0"/>
                <a:ea typeface="Inter" pitchFamily="34" charset="-122"/>
                <a:cs typeface="Inter" pitchFamily="34" charset="-120"/>
              </a:rPr>
              <a:t>02 · Decide</a:t>
            </a:r>
            <a:endParaRPr lang="en-US" sz="1200" dirty="0"/>
          </a:p>
        </p:txBody>
      </p:sp>
      <p:sp>
        <p:nvSpPr>
          <p:cNvPr id="9" name="Text 7"/>
          <p:cNvSpPr/>
          <p:nvPr/>
        </p:nvSpPr>
        <p:spPr>
          <a:xfrm>
            <a:off x="4594578" y="2289042"/>
            <a:ext cx="3092930" cy="68831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OPA evaluates the action against the policy bundle, risk tier and prior chain state.</a:t>
            </a:r>
            <a:endParaRPr lang="en-US" sz="1200" dirty="0"/>
          </a:p>
        </p:txBody>
      </p:sp>
      <p:sp>
        <p:nvSpPr>
          <p:cNvPr id="10" name="Shape 8"/>
          <p:cNvSpPr/>
          <p:nvPr/>
        </p:nvSpPr>
        <p:spPr>
          <a:xfrm>
            <a:off x="7961842" y="1831932"/>
            <a:ext cx="3414183" cy="1300295"/>
          </a:xfrm>
          <a:prstGeom prst="roundRect">
            <a:avLst>
              <a:gd name="adj" fmla="val 5616"/>
            </a:avLst>
          </a:prstGeom>
          <a:solidFill>
            <a:srgbClr val="FBFAF6"/>
          </a:solidFill>
          <a:ln w="6350">
            <a:solidFill>
              <a:srgbClr val="DCD6C8"/>
            </a:solidFill>
            <a:prstDash val="solid"/>
          </a:ln>
        </p:spPr>
      </p:sp>
      <p:sp>
        <p:nvSpPr>
          <p:cNvPr id="11" name="Text 9"/>
          <p:cNvSpPr/>
          <p:nvPr/>
        </p:nvSpPr>
        <p:spPr>
          <a:xfrm>
            <a:off x="8167512" y="2012200"/>
            <a:ext cx="3092930"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4F0A"/>
                </a:solidFill>
                <a:latin typeface="Inter" pitchFamily="34" charset="0"/>
                <a:ea typeface="Inter" pitchFamily="34" charset="-122"/>
                <a:cs typeface="Inter" pitchFamily="34" charset="-120"/>
              </a:rPr>
              <a:t>03 · Record intent</a:t>
            </a:r>
            <a:endParaRPr lang="en-US" sz="1200" dirty="0"/>
          </a:p>
        </p:txBody>
      </p:sp>
      <p:sp>
        <p:nvSpPr>
          <p:cNvPr id="12" name="Text 10"/>
          <p:cNvSpPr/>
          <p:nvPr/>
        </p:nvSpPr>
        <p:spPr>
          <a:xfrm>
            <a:off x="8167512" y="2289042"/>
            <a:ext cx="3092930" cy="46734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Ledger appends the decision and policy hash before anything executes.</a:t>
            </a:r>
            <a:endParaRPr lang="en-US" sz="1200" dirty="0"/>
          </a:p>
        </p:txBody>
      </p:sp>
      <p:sp>
        <p:nvSpPr>
          <p:cNvPr id="13" name="Shape 11"/>
          <p:cNvSpPr/>
          <p:nvPr/>
        </p:nvSpPr>
        <p:spPr>
          <a:xfrm>
            <a:off x="815975" y="3290977"/>
            <a:ext cx="3414183" cy="1300295"/>
          </a:xfrm>
          <a:prstGeom prst="roundRect">
            <a:avLst>
              <a:gd name="adj" fmla="val 5616"/>
            </a:avLst>
          </a:prstGeom>
          <a:solidFill>
            <a:srgbClr val="FBFAF6"/>
          </a:solidFill>
          <a:ln w="6350">
            <a:solidFill>
              <a:srgbClr val="DCD6C8"/>
            </a:solidFill>
            <a:prstDash val="solid"/>
          </a:ln>
        </p:spPr>
      </p:sp>
      <p:sp>
        <p:nvSpPr>
          <p:cNvPr id="14" name="Text 12"/>
          <p:cNvSpPr/>
          <p:nvPr/>
        </p:nvSpPr>
        <p:spPr>
          <a:xfrm>
            <a:off x="1021644" y="3471245"/>
            <a:ext cx="3092930"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4F0A"/>
                </a:solidFill>
                <a:latin typeface="Inter" pitchFamily="34" charset="0"/>
                <a:ea typeface="Inter" pitchFamily="34" charset="-122"/>
                <a:cs typeface="Inter" pitchFamily="34" charset="-120"/>
              </a:rPr>
              <a:t>04 · Execute</a:t>
            </a:r>
            <a:endParaRPr lang="en-US" sz="1200" dirty="0"/>
          </a:p>
        </p:txBody>
      </p:sp>
      <p:sp>
        <p:nvSpPr>
          <p:cNvPr id="15" name="Text 13"/>
          <p:cNvSpPr/>
          <p:nvPr/>
        </p:nvSpPr>
        <p:spPr>
          <a:xfrm>
            <a:off x="1021644" y="3748087"/>
            <a:ext cx="3092930" cy="68831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Allowed calls proceed; denials return a structured error; escalations go to a human.</a:t>
            </a:r>
            <a:endParaRPr lang="en-US" sz="1200" dirty="0"/>
          </a:p>
        </p:txBody>
      </p:sp>
      <p:sp>
        <p:nvSpPr>
          <p:cNvPr id="16" name="Shape 14"/>
          <p:cNvSpPr/>
          <p:nvPr/>
        </p:nvSpPr>
        <p:spPr>
          <a:xfrm>
            <a:off x="4388908" y="3290977"/>
            <a:ext cx="3414183" cy="1300295"/>
          </a:xfrm>
          <a:prstGeom prst="roundRect">
            <a:avLst>
              <a:gd name="adj" fmla="val 5616"/>
            </a:avLst>
          </a:prstGeom>
          <a:solidFill>
            <a:srgbClr val="FBFAF6"/>
          </a:solidFill>
          <a:ln w="6350">
            <a:solidFill>
              <a:srgbClr val="DCD6C8"/>
            </a:solidFill>
            <a:prstDash val="solid"/>
          </a:ln>
        </p:spPr>
      </p:sp>
      <p:sp>
        <p:nvSpPr>
          <p:cNvPr id="17" name="Text 15"/>
          <p:cNvSpPr/>
          <p:nvPr/>
        </p:nvSpPr>
        <p:spPr>
          <a:xfrm>
            <a:off x="4594578" y="3471245"/>
            <a:ext cx="3092930"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4F0A"/>
                </a:solidFill>
                <a:latin typeface="Inter" pitchFamily="34" charset="0"/>
                <a:ea typeface="Inter" pitchFamily="34" charset="-122"/>
                <a:cs typeface="Inter" pitchFamily="34" charset="-120"/>
              </a:rPr>
              <a:t>05 · Record outcome</a:t>
            </a:r>
            <a:endParaRPr lang="en-US" sz="1200" dirty="0"/>
          </a:p>
        </p:txBody>
      </p:sp>
      <p:sp>
        <p:nvSpPr>
          <p:cNvPr id="18" name="Text 16"/>
          <p:cNvSpPr/>
          <p:nvPr/>
        </p:nvSpPr>
        <p:spPr>
          <a:xfrm>
            <a:off x="4594578" y="3748087"/>
            <a:ext cx="3092930" cy="46734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Result hash, status and cost are appended and linked to the intent entry.</a:t>
            </a:r>
            <a:endParaRPr lang="en-US" sz="1200" dirty="0"/>
          </a:p>
        </p:txBody>
      </p:sp>
      <p:sp>
        <p:nvSpPr>
          <p:cNvPr id="19" name="Shape 17"/>
          <p:cNvSpPr/>
          <p:nvPr/>
        </p:nvSpPr>
        <p:spPr>
          <a:xfrm>
            <a:off x="7961842" y="3290977"/>
            <a:ext cx="3414183" cy="1300295"/>
          </a:xfrm>
          <a:prstGeom prst="roundRect">
            <a:avLst>
              <a:gd name="adj" fmla="val 5616"/>
            </a:avLst>
          </a:prstGeom>
          <a:solidFill>
            <a:srgbClr val="FBFAF6"/>
          </a:solidFill>
          <a:ln w="6350">
            <a:solidFill>
              <a:srgbClr val="DCD6C8"/>
            </a:solidFill>
            <a:prstDash val="solid"/>
          </a:ln>
        </p:spPr>
      </p:sp>
      <p:sp>
        <p:nvSpPr>
          <p:cNvPr id="20" name="Text 18"/>
          <p:cNvSpPr/>
          <p:nvPr/>
        </p:nvSpPr>
        <p:spPr>
          <a:xfrm>
            <a:off x="8167512" y="3471245"/>
            <a:ext cx="3092930"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4F0A"/>
                </a:solidFill>
                <a:latin typeface="Inter" pitchFamily="34" charset="0"/>
                <a:ea typeface="Inter" pitchFamily="34" charset="-122"/>
                <a:cs typeface="Inter" pitchFamily="34" charset="-120"/>
              </a:rPr>
              <a:t>06 · Correlate, anchor</a:t>
            </a:r>
            <a:endParaRPr lang="en-US" sz="1200" dirty="0"/>
          </a:p>
        </p:txBody>
      </p:sp>
      <p:sp>
        <p:nvSpPr>
          <p:cNvPr id="21" name="Text 19"/>
          <p:cNvSpPr/>
          <p:nvPr/>
        </p:nvSpPr>
        <p:spPr>
          <a:xfrm>
            <a:off x="8167512" y="3748087"/>
            <a:ext cx="3092930" cy="68831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trace_id flows to Arize; signed checkpoints are anchored outside the platform.</a:t>
            </a:r>
            <a:endParaRPr lang="en-US" sz="1200" dirty="0"/>
          </a:p>
        </p:txBody>
      </p:sp>
      <p:sp>
        <p:nvSpPr>
          <p:cNvPr id="22" name="Shape 20"/>
          <p:cNvSpPr/>
          <p:nvPr/>
        </p:nvSpPr>
        <p:spPr>
          <a:xfrm>
            <a:off x="812800" y="4848448"/>
            <a:ext cx="10566400" cy="797542"/>
          </a:xfrm>
          <a:prstGeom prst="roundRect">
            <a:avLst>
              <a:gd name="adj" fmla="val 9554"/>
            </a:avLst>
          </a:prstGeom>
          <a:solidFill>
            <a:srgbClr val="16213A"/>
          </a:solidFill>
          <a:ln/>
        </p:spPr>
      </p:sp>
      <p:sp>
        <p:nvSpPr>
          <p:cNvPr id="23" name="Text 21"/>
          <p:cNvSpPr/>
          <p:nvPr/>
        </p:nvSpPr>
        <p:spPr>
          <a:xfrm>
            <a:off x="1066800" y="5140548"/>
            <a:ext cx="1574800"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3A060"/>
                </a:solidFill>
                <a:latin typeface="Inter" pitchFamily="34" charset="0"/>
                <a:ea typeface="Inter" pitchFamily="34" charset="-122"/>
                <a:cs typeface="Inter" pitchFamily="34" charset="-120"/>
              </a:rPr>
              <a:t>LATENCY RULE</a:t>
            </a:r>
            <a:endParaRPr lang="en-US" sz="1200" dirty="0"/>
          </a:p>
        </p:txBody>
      </p:sp>
      <p:sp>
        <p:nvSpPr>
          <p:cNvPr id="24" name="Text 22"/>
          <p:cNvSpPr/>
          <p:nvPr/>
        </p:nvSpPr>
        <p:spPr>
          <a:xfrm>
            <a:off x="2743200" y="5026248"/>
            <a:ext cx="8633460" cy="46734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4F2EC"/>
                </a:solidFill>
                <a:latin typeface="Inter" pitchFamily="34" charset="0"/>
                <a:ea typeface="Inter" pitchFamily="34" charset="-122"/>
                <a:cs typeface="Inter" pitchFamily="34" charset="-120"/>
              </a:rPr>
              <a:t>R3–R4 wait for the guardrail decision and a durable buffer acknowledgement; all else records asynchronously. Target p99: [__ ms].</a:t>
            </a:r>
            <a:endParaRPr lang="en-US" sz="1200" dirty="0"/>
          </a:p>
        </p:txBody>
      </p:sp>
      <p:sp>
        <p:nvSpPr>
          <p:cNvPr id="25" name="Text 23"/>
          <p:cNvSpPr/>
          <p:nvPr/>
        </p:nvSpPr>
        <p:spPr>
          <a:xfrm>
            <a:off x="812800" y="6238261"/>
            <a:ext cx="366136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Tachyon · Agent Audit Ledger · executive briefing</a:t>
            </a:r>
            <a:endParaRPr lang="en-US" sz="1200" dirty="0"/>
          </a:p>
        </p:txBody>
      </p:sp>
      <p:sp>
        <p:nvSpPr>
          <p:cNvPr id="26" name="Text 24"/>
          <p:cNvSpPr/>
          <p:nvPr/>
        </p:nvSpPr>
        <p:spPr>
          <a:xfrm>
            <a:off x="11188744" y="6238261"/>
            <a:ext cx="241256"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HOW · RECORD PIPELINE</a:t>
            </a:r>
            <a:endParaRPr lang="en-US" sz="1200" dirty="0"/>
          </a:p>
        </p:txBody>
      </p:sp>
      <p:sp>
        <p:nvSpPr>
          <p:cNvPr id="3" name="Text 1"/>
          <p:cNvSpPr/>
          <p:nvPr/>
        </p:nvSpPr>
        <p:spPr>
          <a:xfrm>
            <a:off x="812800" y="112774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6213A"/>
                </a:solidFill>
                <a:latin typeface="Source Serif 4" pitchFamily="34" charset="0"/>
                <a:ea typeface="Source Serif 4" pitchFamily="34" charset="-122"/>
                <a:cs typeface="Source Serif 4" pitchFamily="34" charset="-120"/>
              </a:rPr>
              <a:t>Capture → Enrich → Seal → Buffer → Store</a:t>
            </a:r>
            <a:endParaRPr lang="en-US" sz="3200" dirty="0"/>
          </a:p>
        </p:txBody>
      </p:sp>
      <p:sp>
        <p:nvSpPr>
          <p:cNvPr id="4" name="Shape 2"/>
          <p:cNvSpPr/>
          <p:nvPr/>
        </p:nvSpPr>
        <p:spPr>
          <a:xfrm>
            <a:off x="815975" y="1781132"/>
            <a:ext cx="2025650" cy="2113007"/>
          </a:xfrm>
          <a:prstGeom prst="roundRect">
            <a:avLst>
              <a:gd name="adj" fmla="val 3605"/>
            </a:avLst>
          </a:prstGeom>
          <a:solidFill>
            <a:srgbClr val="FBFAF6"/>
          </a:solidFill>
          <a:ln w="6350">
            <a:solidFill>
              <a:srgbClr val="DCD6C8"/>
            </a:solidFill>
            <a:prstDash val="solid"/>
          </a:ln>
        </p:spPr>
      </p:sp>
      <p:sp>
        <p:nvSpPr>
          <p:cNvPr id="5" name="Text 3"/>
          <p:cNvSpPr/>
          <p:nvPr/>
        </p:nvSpPr>
        <p:spPr>
          <a:xfrm>
            <a:off x="996244" y="1961400"/>
            <a:ext cx="1715911"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4F0A"/>
                </a:solidFill>
                <a:latin typeface="Inter" pitchFamily="34" charset="0"/>
                <a:ea typeface="Inter" pitchFamily="34" charset="-122"/>
                <a:cs typeface="Inter" pitchFamily="34" charset="-120"/>
              </a:rPr>
              <a:t>01</a:t>
            </a:r>
            <a:endParaRPr lang="en-US" sz="1200" dirty="0"/>
          </a:p>
        </p:txBody>
      </p:sp>
      <p:sp>
        <p:nvSpPr>
          <p:cNvPr id="6" name="Text 4"/>
          <p:cNvSpPr/>
          <p:nvPr/>
        </p:nvSpPr>
        <p:spPr>
          <a:xfrm>
            <a:off x="996244" y="2250945"/>
            <a:ext cx="171591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Capture</a:t>
            </a:r>
            <a:endParaRPr lang="en-US" sz="1600" dirty="0"/>
          </a:p>
        </p:txBody>
      </p:sp>
      <p:sp>
        <p:nvSpPr>
          <p:cNvPr id="7" name="Text 5"/>
          <p:cNvSpPr/>
          <p:nvPr/>
        </p:nvSpPr>
        <p:spPr>
          <a:xfrm>
            <a:off x="996244" y="2570956"/>
            <a:ext cx="1715911" cy="66542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458"/>
                </a:solidFill>
                <a:latin typeface="Inter" pitchFamily="34" charset="0"/>
                <a:ea typeface="Inter" pitchFamily="34" charset="-122"/>
                <a:cs typeface="Inter" pitchFamily="34" charset="-120"/>
              </a:rPr>
              <a:t>SDK hooks fire on model, tool, agent and guardrail events</a:t>
            </a:r>
            <a:endParaRPr lang="en-US" sz="1200" dirty="0"/>
          </a:p>
        </p:txBody>
      </p:sp>
      <p:sp>
        <p:nvSpPr>
          <p:cNvPr id="8" name="Text 6"/>
          <p:cNvSpPr/>
          <p:nvPr/>
        </p:nvSpPr>
        <p:spPr>
          <a:xfrm>
            <a:off x="996244" y="3287185"/>
            <a:ext cx="1715911" cy="45208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C"/>
                </a:solidFill>
                <a:latin typeface="Inter" pitchFamily="34" charset="0"/>
                <a:ea typeface="Inter" pitchFamily="34" charset="-122"/>
                <a:cs typeface="Inter" pitchFamily="34" charset="-120"/>
              </a:rPr>
              <a:t>In the agent, at the event</a:t>
            </a:r>
            <a:endParaRPr lang="en-US" sz="1200" dirty="0"/>
          </a:p>
        </p:txBody>
      </p:sp>
      <p:sp>
        <p:nvSpPr>
          <p:cNvPr id="9" name="Shape 7"/>
          <p:cNvSpPr/>
          <p:nvPr/>
        </p:nvSpPr>
        <p:spPr>
          <a:xfrm>
            <a:off x="2949575" y="1781132"/>
            <a:ext cx="2025650" cy="2113007"/>
          </a:xfrm>
          <a:prstGeom prst="roundRect">
            <a:avLst>
              <a:gd name="adj" fmla="val 3605"/>
            </a:avLst>
          </a:prstGeom>
          <a:solidFill>
            <a:srgbClr val="FBFAF6"/>
          </a:solidFill>
          <a:ln w="6350">
            <a:solidFill>
              <a:srgbClr val="DCD6C8"/>
            </a:solidFill>
            <a:prstDash val="solid"/>
          </a:ln>
        </p:spPr>
      </p:sp>
      <p:sp>
        <p:nvSpPr>
          <p:cNvPr id="10" name="Text 8"/>
          <p:cNvSpPr/>
          <p:nvPr/>
        </p:nvSpPr>
        <p:spPr>
          <a:xfrm>
            <a:off x="3129844" y="1961400"/>
            <a:ext cx="1715911"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4F0A"/>
                </a:solidFill>
                <a:latin typeface="Inter" pitchFamily="34" charset="0"/>
                <a:ea typeface="Inter" pitchFamily="34" charset="-122"/>
                <a:cs typeface="Inter" pitchFamily="34" charset="-120"/>
              </a:rPr>
              <a:t>02</a:t>
            </a:r>
            <a:endParaRPr lang="en-US" sz="1200" dirty="0"/>
          </a:p>
        </p:txBody>
      </p:sp>
      <p:sp>
        <p:nvSpPr>
          <p:cNvPr id="11" name="Text 9"/>
          <p:cNvSpPr/>
          <p:nvPr/>
        </p:nvSpPr>
        <p:spPr>
          <a:xfrm>
            <a:off x="3129844" y="2250945"/>
            <a:ext cx="171591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Enrich</a:t>
            </a:r>
            <a:endParaRPr lang="en-US" sz="1600" dirty="0"/>
          </a:p>
        </p:txBody>
      </p:sp>
      <p:sp>
        <p:nvSpPr>
          <p:cNvPr id="12" name="Text 10"/>
          <p:cNvSpPr/>
          <p:nvPr/>
        </p:nvSpPr>
        <p:spPr>
          <a:xfrm>
            <a:off x="3129844" y="2570956"/>
            <a:ext cx="1715911" cy="45208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458"/>
                </a:solidFill>
                <a:latin typeface="Inter" pitchFamily="34" charset="0"/>
                <a:ea typeface="Inter" pitchFamily="34" charset="-122"/>
                <a:cs typeface="Inter" pitchFamily="34" charset="-120"/>
              </a:rPr>
              <a:t>Attach actor, context and correlation IDs</a:t>
            </a:r>
            <a:endParaRPr lang="en-US" sz="1200" dirty="0"/>
          </a:p>
        </p:txBody>
      </p:sp>
      <p:sp>
        <p:nvSpPr>
          <p:cNvPr id="13" name="Text 11"/>
          <p:cNvSpPr/>
          <p:nvPr/>
        </p:nvSpPr>
        <p:spPr>
          <a:xfrm>
            <a:off x="3129844" y="3073840"/>
            <a:ext cx="1715911"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C"/>
                </a:solidFill>
                <a:latin typeface="Inter" pitchFamily="34" charset="0"/>
                <a:ea typeface="Inter" pitchFamily="34" charset="-122"/>
                <a:cs typeface="Inter" pitchFamily="34" charset="-120"/>
              </a:rPr>
              <a:t>Same call, in memory</a:t>
            </a:r>
            <a:endParaRPr lang="en-US" sz="1200" dirty="0"/>
          </a:p>
        </p:txBody>
      </p:sp>
      <p:sp>
        <p:nvSpPr>
          <p:cNvPr id="14" name="Shape 12"/>
          <p:cNvSpPr/>
          <p:nvPr/>
        </p:nvSpPr>
        <p:spPr>
          <a:xfrm>
            <a:off x="5083175" y="1781132"/>
            <a:ext cx="2025650" cy="2113007"/>
          </a:xfrm>
          <a:prstGeom prst="roundRect">
            <a:avLst>
              <a:gd name="adj" fmla="val 3605"/>
            </a:avLst>
          </a:prstGeom>
          <a:solidFill>
            <a:srgbClr val="FBFAF6"/>
          </a:solidFill>
          <a:ln w="6350">
            <a:solidFill>
              <a:srgbClr val="DCD6C8"/>
            </a:solidFill>
            <a:prstDash val="solid"/>
          </a:ln>
        </p:spPr>
      </p:sp>
      <p:sp>
        <p:nvSpPr>
          <p:cNvPr id="15" name="Text 13"/>
          <p:cNvSpPr/>
          <p:nvPr/>
        </p:nvSpPr>
        <p:spPr>
          <a:xfrm>
            <a:off x="5263445" y="1961400"/>
            <a:ext cx="1715911"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4F0A"/>
                </a:solidFill>
                <a:latin typeface="Inter" pitchFamily="34" charset="0"/>
                <a:ea typeface="Inter" pitchFamily="34" charset="-122"/>
                <a:cs typeface="Inter" pitchFamily="34" charset="-120"/>
              </a:rPr>
              <a:t>03</a:t>
            </a:r>
            <a:endParaRPr lang="en-US" sz="1200" dirty="0"/>
          </a:p>
        </p:txBody>
      </p:sp>
      <p:sp>
        <p:nvSpPr>
          <p:cNvPr id="16" name="Text 14"/>
          <p:cNvSpPr/>
          <p:nvPr/>
        </p:nvSpPr>
        <p:spPr>
          <a:xfrm>
            <a:off x="5263445" y="2250945"/>
            <a:ext cx="171591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Seal</a:t>
            </a:r>
            <a:endParaRPr lang="en-US" sz="1600" dirty="0"/>
          </a:p>
        </p:txBody>
      </p:sp>
      <p:sp>
        <p:nvSpPr>
          <p:cNvPr id="17" name="Text 15"/>
          <p:cNvSpPr/>
          <p:nvPr/>
        </p:nvSpPr>
        <p:spPr>
          <a:xfrm>
            <a:off x="5263445" y="2570956"/>
            <a:ext cx="1715911" cy="66542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458"/>
                </a:solidFill>
                <a:latin typeface="Inter" pitchFamily="34" charset="0"/>
                <a:ea typeface="Inter" pitchFamily="34" charset="-122"/>
                <a:cs typeface="Inter" pitchFamily="34" charset="-120"/>
              </a:rPr>
              <a:t>Hash-chain to the previous record, then sign</a:t>
            </a:r>
            <a:endParaRPr lang="en-US" sz="1200" dirty="0"/>
          </a:p>
        </p:txBody>
      </p:sp>
      <p:sp>
        <p:nvSpPr>
          <p:cNvPr id="18" name="Text 16"/>
          <p:cNvSpPr/>
          <p:nvPr/>
        </p:nvSpPr>
        <p:spPr>
          <a:xfrm>
            <a:off x="5263445" y="3287185"/>
            <a:ext cx="1715911" cy="45208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C"/>
                </a:solidFill>
                <a:latin typeface="Inter" pitchFamily="34" charset="0"/>
                <a:ea typeface="Inter" pitchFamily="34" charset="-122"/>
                <a:cs typeface="Inter" pitchFamily="34" charset="-120"/>
              </a:rPr>
              <a:t>At emit, before dispatch</a:t>
            </a:r>
            <a:endParaRPr lang="en-US" sz="1200" dirty="0"/>
          </a:p>
        </p:txBody>
      </p:sp>
      <p:sp>
        <p:nvSpPr>
          <p:cNvPr id="19" name="Shape 17"/>
          <p:cNvSpPr/>
          <p:nvPr/>
        </p:nvSpPr>
        <p:spPr>
          <a:xfrm>
            <a:off x="7216775" y="1781132"/>
            <a:ext cx="2025650" cy="2113007"/>
          </a:xfrm>
          <a:prstGeom prst="roundRect">
            <a:avLst>
              <a:gd name="adj" fmla="val 3605"/>
            </a:avLst>
          </a:prstGeom>
          <a:solidFill>
            <a:srgbClr val="FBFAF6"/>
          </a:solidFill>
          <a:ln w="6350">
            <a:solidFill>
              <a:srgbClr val="DCD6C8"/>
            </a:solidFill>
            <a:prstDash val="solid"/>
          </a:ln>
        </p:spPr>
      </p:sp>
      <p:sp>
        <p:nvSpPr>
          <p:cNvPr id="20" name="Text 18"/>
          <p:cNvSpPr/>
          <p:nvPr/>
        </p:nvSpPr>
        <p:spPr>
          <a:xfrm>
            <a:off x="7397045" y="1961400"/>
            <a:ext cx="1715911"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4F0A"/>
                </a:solidFill>
                <a:latin typeface="Inter" pitchFamily="34" charset="0"/>
                <a:ea typeface="Inter" pitchFamily="34" charset="-122"/>
                <a:cs typeface="Inter" pitchFamily="34" charset="-120"/>
              </a:rPr>
              <a:t>04</a:t>
            </a:r>
            <a:endParaRPr lang="en-US" sz="1200" dirty="0"/>
          </a:p>
        </p:txBody>
      </p:sp>
      <p:sp>
        <p:nvSpPr>
          <p:cNvPr id="21" name="Text 19"/>
          <p:cNvSpPr/>
          <p:nvPr/>
        </p:nvSpPr>
        <p:spPr>
          <a:xfrm>
            <a:off x="7397045" y="2250945"/>
            <a:ext cx="171591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Buffer</a:t>
            </a:r>
            <a:endParaRPr lang="en-US" sz="1600" dirty="0"/>
          </a:p>
        </p:txBody>
      </p:sp>
      <p:sp>
        <p:nvSpPr>
          <p:cNvPr id="22" name="Text 20"/>
          <p:cNvSpPr/>
          <p:nvPr/>
        </p:nvSpPr>
        <p:spPr>
          <a:xfrm>
            <a:off x="7397045" y="2570956"/>
            <a:ext cx="1715911" cy="45208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458"/>
                </a:solidFill>
                <a:latin typeface="Inter" pitchFamily="34" charset="0"/>
                <a:ea typeface="Inter" pitchFamily="34" charset="-122"/>
                <a:cs typeface="Inter" pitchFamily="34" charset="-120"/>
              </a:rPr>
              <a:t>Durable, non-blocking local queue</a:t>
            </a:r>
            <a:endParaRPr lang="en-US" sz="1200" dirty="0"/>
          </a:p>
        </p:txBody>
      </p:sp>
      <p:sp>
        <p:nvSpPr>
          <p:cNvPr id="23" name="Text 21"/>
          <p:cNvSpPr/>
          <p:nvPr/>
        </p:nvSpPr>
        <p:spPr>
          <a:xfrm>
            <a:off x="7397045" y="3073840"/>
            <a:ext cx="1715911" cy="45208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C"/>
                </a:solidFill>
                <a:latin typeface="Inter" pitchFamily="34" charset="0"/>
                <a:ea typeface="Inter" pitchFamily="34" charset="-122"/>
                <a:cs typeface="Inter" pitchFamily="34" charset="-120"/>
              </a:rPr>
              <a:t>Milliseconds; agent moves on</a:t>
            </a:r>
            <a:endParaRPr lang="en-US" sz="1200" dirty="0"/>
          </a:p>
        </p:txBody>
      </p:sp>
      <p:sp>
        <p:nvSpPr>
          <p:cNvPr id="24" name="Shape 22"/>
          <p:cNvSpPr/>
          <p:nvPr/>
        </p:nvSpPr>
        <p:spPr>
          <a:xfrm>
            <a:off x="9350375" y="1781132"/>
            <a:ext cx="2025650" cy="2113007"/>
          </a:xfrm>
          <a:prstGeom prst="roundRect">
            <a:avLst>
              <a:gd name="adj" fmla="val 3605"/>
            </a:avLst>
          </a:prstGeom>
          <a:solidFill>
            <a:srgbClr val="FBFAF6"/>
          </a:solidFill>
          <a:ln w="6350">
            <a:solidFill>
              <a:srgbClr val="DCD6C8"/>
            </a:solidFill>
            <a:prstDash val="solid"/>
          </a:ln>
        </p:spPr>
      </p:sp>
      <p:sp>
        <p:nvSpPr>
          <p:cNvPr id="25" name="Text 23"/>
          <p:cNvSpPr/>
          <p:nvPr/>
        </p:nvSpPr>
        <p:spPr>
          <a:xfrm>
            <a:off x="9530645" y="1961400"/>
            <a:ext cx="1715911"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4F0A"/>
                </a:solidFill>
                <a:latin typeface="Inter" pitchFamily="34" charset="0"/>
                <a:ea typeface="Inter" pitchFamily="34" charset="-122"/>
                <a:cs typeface="Inter" pitchFamily="34" charset="-120"/>
              </a:rPr>
              <a:t>05</a:t>
            </a:r>
            <a:endParaRPr lang="en-US" sz="1200" dirty="0"/>
          </a:p>
        </p:txBody>
      </p:sp>
      <p:sp>
        <p:nvSpPr>
          <p:cNvPr id="26" name="Text 24"/>
          <p:cNvSpPr/>
          <p:nvPr/>
        </p:nvSpPr>
        <p:spPr>
          <a:xfrm>
            <a:off x="9530645" y="2250945"/>
            <a:ext cx="171591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Store</a:t>
            </a:r>
            <a:endParaRPr lang="en-US" sz="1600" dirty="0"/>
          </a:p>
        </p:txBody>
      </p:sp>
      <p:sp>
        <p:nvSpPr>
          <p:cNvPr id="27" name="Text 25"/>
          <p:cNvSpPr/>
          <p:nvPr/>
        </p:nvSpPr>
        <p:spPr>
          <a:xfrm>
            <a:off x="9530645" y="2570956"/>
            <a:ext cx="1715911" cy="66542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458"/>
                </a:solidFill>
                <a:latin typeface="Inter" pitchFamily="34" charset="0"/>
                <a:ea typeface="Inter" pitchFamily="34" charset="-122"/>
                <a:cs typeface="Inter" pitchFamily="34" charset="-120"/>
              </a:rPr>
              <a:t>Land in on-prem WORM; roots anchored</a:t>
            </a:r>
            <a:endParaRPr lang="en-US" sz="1200" dirty="0"/>
          </a:p>
        </p:txBody>
      </p:sp>
      <p:sp>
        <p:nvSpPr>
          <p:cNvPr id="28" name="Text 26"/>
          <p:cNvSpPr/>
          <p:nvPr/>
        </p:nvSpPr>
        <p:spPr>
          <a:xfrm>
            <a:off x="9530645" y="3287185"/>
            <a:ext cx="1715911" cy="45208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C"/>
                </a:solidFill>
                <a:latin typeface="Inter" pitchFamily="34" charset="0"/>
                <a:ea typeface="Inter" pitchFamily="34" charset="-122"/>
                <a:cs typeface="Inter" pitchFamily="34" charset="-120"/>
              </a:rPr>
              <a:t>Seconds; replica to GCP later</a:t>
            </a:r>
            <a:endParaRPr lang="en-US" sz="1200" dirty="0"/>
          </a:p>
        </p:txBody>
      </p:sp>
      <p:sp>
        <p:nvSpPr>
          <p:cNvPr id="29" name="Shape 27"/>
          <p:cNvSpPr/>
          <p:nvPr/>
        </p:nvSpPr>
        <p:spPr>
          <a:xfrm>
            <a:off x="812800" y="4100513"/>
            <a:ext cx="10566400" cy="746742"/>
          </a:xfrm>
          <a:prstGeom prst="roundRect">
            <a:avLst>
              <a:gd name="adj" fmla="val 10204"/>
            </a:avLst>
          </a:prstGeom>
          <a:solidFill>
            <a:srgbClr val="16213A"/>
          </a:solidFill>
          <a:ln/>
        </p:spPr>
      </p:sp>
      <p:sp>
        <p:nvSpPr>
          <p:cNvPr id="30" name="Text 28"/>
          <p:cNvSpPr/>
          <p:nvPr/>
        </p:nvSpPr>
        <p:spPr>
          <a:xfrm>
            <a:off x="1041400" y="4367213"/>
            <a:ext cx="1447800"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3A060"/>
                </a:solidFill>
                <a:latin typeface="Inter" pitchFamily="34" charset="0"/>
                <a:ea typeface="Inter" pitchFamily="34" charset="-122"/>
                <a:cs typeface="Inter" pitchFamily="34" charset="-120"/>
              </a:rPr>
              <a:t>TIMING RULE</a:t>
            </a:r>
            <a:endParaRPr lang="en-US" sz="1200" dirty="0"/>
          </a:p>
        </p:txBody>
      </p:sp>
      <p:sp>
        <p:nvSpPr>
          <p:cNvPr id="31" name="Text 29"/>
          <p:cNvSpPr/>
          <p:nvPr/>
        </p:nvSpPr>
        <p:spPr>
          <a:xfrm>
            <a:off x="2590800" y="4252913"/>
            <a:ext cx="8816594" cy="46734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4F2EC"/>
                </a:solidFill>
                <a:latin typeface="Inter" pitchFamily="34" charset="0"/>
                <a:ea typeface="Inter" pitchFamily="34" charset="-122"/>
                <a:cs typeface="Inter" pitchFamily="34" charset="-120"/>
              </a:rPr>
              <a:t>Recording never slows the agent. Only R3–R4 actions wait, for the guardrail decision and the buffer's durable acknowledgement, never for the WORM store.</a:t>
            </a:r>
            <a:endParaRPr lang="en-US" sz="1200" dirty="0"/>
          </a:p>
        </p:txBody>
      </p:sp>
      <p:sp>
        <p:nvSpPr>
          <p:cNvPr id="32" name="Text 30"/>
          <p:cNvSpPr/>
          <p:nvPr/>
        </p:nvSpPr>
        <p:spPr>
          <a:xfrm>
            <a:off x="812800" y="6238261"/>
            <a:ext cx="289762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Agent Audit Ledger · executive briefing</a:t>
            </a:r>
            <a:endParaRPr lang="en-US" sz="1200" dirty="0"/>
          </a:p>
        </p:txBody>
      </p:sp>
      <p:sp>
        <p:nvSpPr>
          <p:cNvPr id="33" name="Text 31"/>
          <p:cNvSpPr/>
          <p:nvPr/>
        </p:nvSpPr>
        <p:spPr>
          <a:xfrm>
            <a:off x="11188524" y="6238261"/>
            <a:ext cx="241476"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26351"/>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9C4F0A"/>
                </a:solidFill>
                <a:latin typeface="Inter" pitchFamily="34" charset="0"/>
                <a:ea typeface="Inter" pitchFamily="34" charset="-122"/>
                <a:cs typeface="Inter" pitchFamily="34" charset="-120"/>
              </a:rPr>
              <a:t>HOW · THE RECORD</a:t>
            </a:r>
            <a:endParaRPr lang="en-US" sz="1159" dirty="0"/>
          </a:p>
        </p:txBody>
      </p:sp>
      <p:sp>
        <p:nvSpPr>
          <p:cNvPr id="3" name="Text 1"/>
          <p:cNvSpPr/>
          <p:nvPr/>
        </p:nvSpPr>
        <p:spPr>
          <a:xfrm>
            <a:off x="812800" y="1115349"/>
            <a:ext cx="10883392" cy="446528"/>
          </a:xfrm>
          <a:prstGeom prst="rect">
            <a:avLst/>
          </a:prstGeom>
          <a:noFill/>
          <a:ln/>
        </p:spPr>
        <p:txBody>
          <a:bodyPr wrap="square" lIns="0" tIns="0" rIns="0" bIns="0" rtlCol="0" anchor="t">
            <a:normAutofit/>
          </a:bodyPr>
          <a:lstStyle/>
          <a:p>
            <a:pPr algn="l" indent="0" marL="0">
              <a:lnSpc>
                <a:spcPts val="3322"/>
              </a:lnSpc>
              <a:buNone/>
            </a:pPr>
            <a:r>
              <a:rPr lang="en-US" sz="3020" dirty="0">
                <a:solidFill>
                  <a:srgbClr val="16213A"/>
                </a:solidFill>
                <a:latin typeface="Source Serif 4" pitchFamily="34" charset="0"/>
                <a:ea typeface="Source Serif 4" pitchFamily="34" charset="-122"/>
                <a:cs typeface="Source Serif 4" pitchFamily="34" charset="-120"/>
              </a:rPr>
              <a:t>The Verifiable Action Record (VAR)</a:t>
            </a:r>
            <a:endParaRPr lang="en-US" sz="302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750972"/>
          <a:ext cx="10555111" cy="3685249"/>
        </p:xfrm>
        <a:graphic>
          <a:graphicData uri="http://schemas.openxmlformats.org/drawingml/2006/table">
            <a:tbl>
              <a:tblPr/>
              <a:tblGrid>
                <a:gridCol w="5277556"/>
                <a:gridCol w="5277556"/>
              </a:tblGrid>
              <a:tr h="336859">
                <a:tc>
                  <a:txBody>
                    <a:bodyPr/>
                    <a:lstStyle/>
                    <a:p>
                      <a:pPr indent="0" marL="0">
                        <a:lnSpc>
                          <a:spcPts val="1559"/>
                        </a:lnSpc>
                        <a:buNone/>
                      </a:pPr>
                      <a:r>
                        <a:rPr lang="en-US" sz="1114" b="1" dirty="0">
                          <a:solidFill>
                            <a:srgbClr val="F4F2EC"/>
                          </a:solidFill>
                          <a:latin typeface="Inter" pitchFamily="34" charset="0"/>
                          <a:ea typeface="Inter" pitchFamily="34" charset="-122"/>
                          <a:cs typeface="Inter" pitchFamily="34" charset="-120"/>
                        </a:rPr>
                        <a:t>Group</a:t>
                      </a:r>
                      <a:endParaRPr lang="en-US" sz="1114"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559"/>
                        </a:lnSpc>
                        <a:buNone/>
                      </a:pPr>
                      <a:r>
                        <a:rPr lang="en-US" sz="1114" b="1" dirty="0">
                          <a:solidFill>
                            <a:srgbClr val="F4F2EC"/>
                          </a:solidFill>
                          <a:latin typeface="Inter" pitchFamily="34" charset="0"/>
                          <a:ea typeface="Inter" pitchFamily="34" charset="-122"/>
                          <a:cs typeface="Inter" pitchFamily="34" charset="-120"/>
                        </a:rPr>
                        <a:t>Fields</a:t>
                      </a:r>
                      <a:endParaRPr lang="en-US" sz="1114" dirty="0">
                        <a:latin typeface="Inter" charset="0"/>
                        <a:ea typeface="Inter" charset="0"/>
                        <a:cs typeface="Inter" charset="0"/>
                      </a:endParaRPr>
                    </a:p>
                  </a:txBody>
                  <a:tcPr marL="101600" marR="101600" marT="63500" marB="635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534899">
                <a:tc>
                  <a:txBody>
                    <a:bodyPr/>
                    <a:lstStyle/>
                    <a:p>
                      <a:pPr indent="0" marL="0">
                        <a:lnSpc>
                          <a:spcPts val="1559"/>
                        </a:lnSpc>
                        <a:buNone/>
                      </a:pPr>
                      <a:r>
                        <a:rPr lang="en-US" sz="1114" dirty="0">
                          <a:solidFill>
                            <a:srgbClr val="16213A"/>
                          </a:solidFill>
                          <a:latin typeface="Inter" pitchFamily="34" charset="0"/>
                          <a:ea typeface="Inter" pitchFamily="34" charset="-122"/>
                          <a:cs typeface="Inter" pitchFamily="34" charset="-120"/>
                        </a:rPr>
                        <a:t>Identity, correlation</a:t>
                      </a:r>
                      <a:endParaRPr lang="en-US" sz="1114"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9"/>
                        </a:lnSpc>
                        <a:buNone/>
                      </a:pPr>
                      <a:r>
                        <a:rPr lang="en-US" sz="1114" dirty="0">
                          <a:solidFill>
                            <a:srgbClr val="16213A"/>
                          </a:solidFill>
                          <a:latin typeface="Inter" pitchFamily="34" charset="0"/>
                          <a:ea typeface="Inter" pitchFamily="34" charset="-122"/>
                          <a:cs typeface="Inter" pitchFamily="34" charset="-120"/>
                        </a:rPr>
                        <a:t>record_id · schema_version · correlation_id · session_id · task_id · timestamp</a:t>
                      </a:r>
                      <a:endParaRPr lang="en-US" sz="1114"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34899">
                <a:tc>
                  <a:txBody>
                    <a:bodyPr/>
                    <a:lstStyle/>
                    <a:p>
                      <a:pPr indent="0" marL="0">
                        <a:lnSpc>
                          <a:spcPts val="1559"/>
                        </a:lnSpc>
                        <a:buNone/>
                      </a:pPr>
                      <a:r>
                        <a:rPr lang="en-US" sz="1114" dirty="0">
                          <a:solidFill>
                            <a:srgbClr val="16213A"/>
                          </a:solidFill>
                          <a:latin typeface="Inter" pitchFamily="34" charset="0"/>
                          <a:ea typeface="Inter" pitchFamily="34" charset="-122"/>
                          <a:cs typeface="Inter" pitchFamily="34" charset="-120"/>
                        </a:rPr>
                        <a:t>Actor</a:t>
                      </a:r>
                      <a:endParaRPr lang="en-US" sz="1114"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9"/>
                        </a:lnSpc>
                        <a:buNone/>
                      </a:pPr>
                      <a:r>
                        <a:rPr lang="en-US" sz="1114" dirty="0">
                          <a:solidFill>
                            <a:srgbClr val="16213A"/>
                          </a:solidFill>
                          <a:latin typeface="Inter" pitchFamily="34" charset="0"/>
                          <a:ea typeface="Inter" pitchFamily="34" charset="-122"/>
                          <a:cs typeface="Inter" pitchFamily="34" charset="-120"/>
                        </a:rPr>
                        <a:t>agent_runtime_id · agent_name+version · principal/user_id · entitlements · delegation_chain · + blueprint_id</a:t>
                      </a:r>
                      <a:endParaRPr lang="en-US" sz="1114"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34899">
                <a:tc>
                  <a:txBody>
                    <a:bodyPr/>
                    <a:lstStyle/>
                    <a:p>
                      <a:pPr indent="0" marL="0">
                        <a:lnSpc>
                          <a:spcPts val="1559"/>
                        </a:lnSpc>
                        <a:buNone/>
                      </a:pPr>
                      <a:r>
                        <a:rPr lang="en-US" sz="1114" dirty="0">
                          <a:solidFill>
                            <a:srgbClr val="16213A"/>
                          </a:solidFill>
                          <a:latin typeface="Inter" pitchFamily="34" charset="0"/>
                          <a:ea typeface="Inter" pitchFamily="34" charset="-122"/>
                          <a:cs typeface="Inter" pitchFamily="34" charset="-120"/>
                        </a:rPr>
                        <a:t>Action</a:t>
                      </a:r>
                      <a:endParaRPr lang="en-US" sz="1114"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9"/>
                        </a:lnSpc>
                        <a:buNone/>
                      </a:pPr>
                      <a:r>
                        <a:rPr lang="en-US" sz="1114" dirty="0">
                          <a:solidFill>
                            <a:srgbClr val="16213A"/>
                          </a:solidFill>
                          <a:latin typeface="Inter" pitchFamily="34" charset="0"/>
                          <a:ea typeface="Inter" pitchFamily="34" charset="-122"/>
                          <a:cs typeface="Inter" pitchFamily="34" charset="-120"/>
                        </a:rPr>
                        <a:t>action_type · tool/model id+version · params (masked/hashed) · input_ref · output_ref · target_resource</a:t>
                      </a:r>
                      <a:endParaRPr lang="en-US" sz="1114"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34943">
                <a:tc>
                  <a:txBody>
                    <a:bodyPr/>
                    <a:lstStyle/>
                    <a:p>
                      <a:pPr indent="0" marL="0">
                        <a:lnSpc>
                          <a:spcPts val="1559"/>
                        </a:lnSpc>
                        <a:buNone/>
                      </a:pPr>
                      <a:r>
                        <a:rPr lang="en-US" sz="1114" dirty="0">
                          <a:solidFill>
                            <a:srgbClr val="16213A"/>
                          </a:solidFill>
                          <a:latin typeface="Inter" pitchFamily="34" charset="0"/>
                          <a:ea typeface="Inter" pitchFamily="34" charset="-122"/>
                          <a:cs typeface="Inter" pitchFamily="34" charset="-120"/>
                        </a:rPr>
                        <a:t>Decision, outcome</a:t>
                      </a:r>
                      <a:endParaRPr lang="en-US" sz="1114"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9"/>
                        </a:lnSpc>
                        <a:buNone/>
                      </a:pPr>
                      <a:r>
                        <a:rPr lang="en-US" sz="1114" dirty="0">
                          <a:solidFill>
                            <a:srgbClr val="16213A"/>
                          </a:solidFill>
                          <a:latin typeface="Inter" pitchFamily="34" charset="0"/>
                          <a:ea typeface="Inter" pitchFamily="34" charset="-122"/>
                          <a:cs typeface="Inter" pitchFamily="34" charset="-120"/>
                        </a:rPr>
                        <a:t>decision · policy_id+version · rule · risk_category · outcome · data_classification · + approver_id</a:t>
                      </a:r>
                      <a:endParaRPr lang="en-US" sz="1114"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6903">
                <a:tc>
                  <a:txBody>
                    <a:bodyPr/>
                    <a:lstStyle/>
                    <a:p>
                      <a:pPr indent="0" marL="0">
                        <a:lnSpc>
                          <a:spcPts val="1559"/>
                        </a:lnSpc>
                        <a:buNone/>
                      </a:pPr>
                      <a:r>
                        <a:rPr lang="en-US" sz="1114" dirty="0">
                          <a:solidFill>
                            <a:srgbClr val="16213A"/>
                          </a:solidFill>
                          <a:latin typeface="Inter" pitchFamily="34" charset="0"/>
                          <a:ea typeface="Inter" pitchFamily="34" charset="-122"/>
                          <a:cs typeface="Inter" pitchFamily="34" charset="-120"/>
                        </a:rPr>
                        <a:t>Context</a:t>
                      </a:r>
                      <a:endParaRPr lang="en-US" sz="1114"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9"/>
                        </a:lnSpc>
                        <a:buNone/>
                      </a:pPr>
                      <a:r>
                        <a:rPr lang="en-US" sz="1114" dirty="0">
                          <a:solidFill>
                            <a:srgbClr val="16213A"/>
                          </a:solidFill>
                          <a:latin typeface="Inter" pitchFamily="34" charset="0"/>
                          <a:ea typeface="Inter" pitchFamily="34" charset="-122"/>
                          <a:cs typeface="Inter" pitchFamily="34" charset="-120"/>
                        </a:rPr>
                        <a:t>app_id · usecase_id · environment · platform · lob · datacenter</a:t>
                      </a:r>
                      <a:endParaRPr lang="en-US" sz="1114"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34943">
                <a:tc>
                  <a:txBody>
                    <a:bodyPr/>
                    <a:lstStyle/>
                    <a:p>
                      <a:pPr indent="0" marL="0">
                        <a:lnSpc>
                          <a:spcPts val="1559"/>
                        </a:lnSpc>
                        <a:buNone/>
                      </a:pPr>
                      <a:r>
                        <a:rPr lang="en-US" sz="1114" dirty="0">
                          <a:solidFill>
                            <a:srgbClr val="16213A"/>
                          </a:solidFill>
                          <a:latin typeface="Inter" pitchFamily="34" charset="0"/>
                          <a:ea typeface="Inter" pitchFamily="34" charset="-122"/>
                          <a:cs typeface="Inter" pitchFamily="34" charset="-120"/>
                        </a:rPr>
                        <a:t>Integrity</a:t>
                      </a:r>
                      <a:endParaRPr lang="en-US" sz="1114"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9"/>
                        </a:lnSpc>
                        <a:buNone/>
                      </a:pPr>
                      <a:r>
                        <a:rPr lang="en-US" sz="1114" dirty="0">
                          <a:solidFill>
                            <a:srgbClr val="16213A"/>
                          </a:solidFill>
                          <a:latin typeface="Inter" pitchFamily="34" charset="0"/>
                          <a:ea typeface="Inter" pitchFamily="34" charset="-122"/>
                          <a:cs typeface="Inter" pitchFamily="34" charset="-120"/>
                        </a:rPr>
                        <a:t>prev_hash · entry_hash (SHA-256) · signature (Ed25519) · signer_key_id · merkle_root</a:t>
                      </a:r>
                      <a:endParaRPr lang="en-US" sz="1114"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6903">
                <a:tc>
                  <a:txBody>
                    <a:bodyPr/>
                    <a:lstStyle/>
                    <a:p>
                      <a:pPr indent="0" marL="0">
                        <a:lnSpc>
                          <a:spcPts val="1559"/>
                        </a:lnSpc>
                        <a:buNone/>
                      </a:pPr>
                      <a:r>
                        <a:rPr lang="en-US" sz="1114" dirty="0">
                          <a:solidFill>
                            <a:srgbClr val="16213A"/>
                          </a:solidFill>
                          <a:latin typeface="Inter" pitchFamily="34" charset="0"/>
                          <a:ea typeface="Inter" pitchFamily="34" charset="-122"/>
                          <a:cs typeface="Inter" pitchFamily="34" charset="-120"/>
                        </a:rPr>
                        <a:t>Governance</a:t>
                      </a:r>
                      <a:endParaRPr lang="en-US" sz="1114"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9"/>
                        </a:lnSpc>
                        <a:buNone/>
                      </a:pPr>
                      <a:r>
                        <a:rPr lang="en-US" sz="1114" dirty="0">
                          <a:solidFill>
                            <a:srgbClr val="16213A"/>
                          </a:solidFill>
                          <a:latin typeface="Inter" pitchFamily="34" charset="0"/>
                          <a:ea typeface="Inter" pitchFamily="34" charset="-122"/>
                          <a:cs typeface="Inter" pitchFamily="34" charset="-120"/>
                        </a:rPr>
                        <a:t>retention_class · legal_hold · pii_masked</a:t>
                      </a:r>
                      <a:endParaRPr lang="en-US" sz="1114"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
        <p:nvSpPr>
          <p:cNvPr id="5" name="Text 2"/>
          <p:cNvSpPr/>
          <p:nvPr/>
        </p:nvSpPr>
        <p:spPr>
          <a:xfrm>
            <a:off x="812800" y="5639420"/>
            <a:ext cx="10883392" cy="227983"/>
          </a:xfrm>
          <a:prstGeom prst="rect">
            <a:avLst/>
          </a:prstGeom>
          <a:noFill/>
          <a:ln/>
        </p:spPr>
        <p:txBody>
          <a:bodyPr wrap="square" lIns="0" tIns="0" rIns="0" bIns="0" rtlCol="0" anchor="t">
            <a:normAutofit/>
          </a:bodyPr>
          <a:lstStyle/>
          <a:p>
            <a:pPr algn="l" indent="0" marL="0">
              <a:lnSpc>
                <a:spcPts val="1622"/>
              </a:lnSpc>
              <a:buNone/>
            </a:pPr>
            <a:r>
              <a:rPr lang="en-US" sz="1159" b="1" dirty="0">
                <a:solidFill>
                  <a:srgbClr val="9C4F0A"/>
                </a:solidFill>
                <a:latin typeface="Inter" pitchFamily="34" charset="0"/>
                <a:ea typeface="Inter" pitchFamily="34" charset="-122"/>
                <a:cs typeface="Inter" pitchFamily="34" charset="-120"/>
              </a:rPr>
              <a:t>Orange</a:t>
            </a:r>
            <a:r>
              <a:rPr lang="en-US" sz="1159" dirty="0">
                <a:solidFill>
                  <a:srgbClr val="5A6374"/>
                </a:solidFill>
                <a:latin typeface="Inter" pitchFamily="34" charset="0"/>
                <a:ea typeface="Inter" pitchFamily="34" charset="-122"/>
                <a:cs typeface="Inter" pitchFamily="34" charset="-120"/>
              </a:rPr>
              <a:t> = proposed additions: Entra blueprint, and the approver for escalated actions (decision adds escalate to permit/deny).</a:t>
            </a:r>
            <a:endParaRPr lang="en-US" sz="1159" dirty="0"/>
          </a:p>
        </p:txBody>
      </p:sp>
      <p:sp>
        <p:nvSpPr>
          <p:cNvPr id="6" name="Text 3"/>
          <p:cNvSpPr/>
          <p:nvPr/>
        </p:nvSpPr>
        <p:spPr>
          <a:xfrm>
            <a:off x="812800" y="6238261"/>
            <a:ext cx="289762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Agent Audit Ledger · executive briefing</a:t>
            </a:r>
            <a:endParaRPr lang="en-US" sz="1200" dirty="0"/>
          </a:p>
        </p:txBody>
      </p:sp>
      <p:sp>
        <p:nvSpPr>
          <p:cNvPr id="7" name="Text 4"/>
          <p:cNvSpPr/>
          <p:nvPr/>
        </p:nvSpPr>
        <p:spPr>
          <a:xfrm>
            <a:off x="11221068" y="6238261"/>
            <a:ext cx="20893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HOW · SDK AND REGISTRY</a:t>
            </a:r>
            <a:endParaRPr lang="en-US" sz="1200" dirty="0"/>
          </a:p>
        </p:txBody>
      </p:sp>
      <p:sp>
        <p:nvSpPr>
          <p:cNvPr id="3" name="Text 1"/>
          <p:cNvSpPr/>
          <p:nvPr/>
        </p:nvSpPr>
        <p:spPr>
          <a:xfrm>
            <a:off x="812800" y="112774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6213A"/>
                </a:solidFill>
                <a:latin typeface="Source Serif 4" pitchFamily="34" charset="0"/>
                <a:ea typeface="Source Serif 4" pitchFamily="34" charset="-122"/>
                <a:cs typeface="Source Serif 4" pitchFamily="34" charset="-120"/>
              </a:rPr>
              <a:t>A thin capture layer, enabled by config</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789245"/>
          <a:ext cx="6592711" cy="3176499"/>
        </p:xfrm>
        <a:graphic>
          <a:graphicData uri="http://schemas.openxmlformats.org/drawingml/2006/table">
            <a:tbl>
              <a:tblPr/>
              <a:tblGrid>
                <a:gridCol w="3296356"/>
                <a:gridCol w="3296356"/>
              </a:tblGrid>
              <a:tr h="351631">
                <a:tc>
                  <a:txBody>
                    <a:bodyPr/>
                    <a:lstStyle/>
                    <a:p>
                      <a:pPr indent="0" marL="0">
                        <a:lnSpc>
                          <a:spcPts val="1680"/>
                        </a:lnSpc>
                        <a:buNone/>
                      </a:pPr>
                      <a:r>
                        <a:rPr lang="en-US" sz="1200" b="1" dirty="0">
                          <a:solidFill>
                            <a:srgbClr val="F4F2EC"/>
                          </a:solidFill>
                          <a:latin typeface="Inter" pitchFamily="34" charset="0"/>
                          <a:ea typeface="Inter" pitchFamily="34" charset="-122"/>
                          <a:cs typeface="Inter" pitchFamily="34" charset="-120"/>
                        </a:rPr>
                        <a:t>Change</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680"/>
                        </a:lnSpc>
                        <a:buNone/>
                      </a:pPr>
                      <a:r>
                        <a:rPr lang="en-US" sz="1200" b="1" dirty="0">
                          <a:solidFill>
                            <a:srgbClr val="F4F2EC"/>
                          </a:solidFill>
                          <a:latin typeface="Inter" pitchFamily="34" charset="0"/>
                          <a:ea typeface="Inter" pitchFamily="34" charset="-122"/>
                          <a:cs typeface="Inter" pitchFamily="34" charset="-120"/>
                        </a:rPr>
                        <a:t>What it does</a:t>
                      </a:r>
                      <a:endParaRPr lang="en-US" sz="1200" dirty="0">
                        <a:latin typeface="Inter" charset="0"/>
                        <a:ea typeface="Inter" charset="0"/>
                        <a:cs typeface="Inter" charset="0"/>
                      </a:endParaRPr>
                    </a:p>
                  </a:txBody>
                  <a:tcPr marL="101600" marR="101600" marT="63500" marB="635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564974">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Record model</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AgentActionRecord in core/events; existing Event kept</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64974">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Durable sink</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Non-blocking; decoupled from A2A task-status messages</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778316">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Hooks</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base_agent admit/complete · tool_outcomes · A2A client hop · guardrail decision</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64974">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Seal at emit</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prev_hash / entry_hash computed and signed before dispatch</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16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Provider</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plugin_registry resolves the audit provider</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
        <p:nvSpPr>
          <p:cNvPr id="5" name="Shape 2"/>
          <p:cNvSpPr/>
          <p:nvPr/>
        </p:nvSpPr>
        <p:spPr>
          <a:xfrm>
            <a:off x="7670800" y="1777957"/>
            <a:ext cx="3708400" cy="3187788"/>
          </a:xfrm>
          <a:prstGeom prst="roundRect">
            <a:avLst>
              <a:gd name="adj" fmla="val 2390"/>
            </a:avLst>
          </a:prstGeom>
          <a:solidFill>
            <a:srgbClr val="16213A"/>
          </a:solidFill>
          <a:ln/>
        </p:spPr>
      </p:sp>
      <p:sp>
        <p:nvSpPr>
          <p:cNvPr id="6" name="Text 3"/>
          <p:cNvSpPr/>
          <p:nvPr/>
        </p:nvSpPr>
        <p:spPr>
          <a:xfrm>
            <a:off x="7874000" y="1955757"/>
            <a:ext cx="340106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A060"/>
                </a:solidFill>
                <a:latin typeface="JetBrains Mono" pitchFamily="34" charset="0"/>
                <a:ea typeface="JetBrains Mono" pitchFamily="34" charset="-122"/>
                <a:cs typeface="JetBrains Mono" pitchFamily="34" charset="-120"/>
              </a:rPr>
              <a:t>audit:</a:t>
            </a:r>
            <a:endParaRPr lang="en-US" sz="1200" dirty="0"/>
          </a:p>
        </p:txBody>
      </p:sp>
      <p:sp>
        <p:nvSpPr>
          <p:cNvPr id="7" name="Text 4"/>
          <p:cNvSpPr/>
          <p:nvPr/>
        </p:nvSpPr>
        <p:spPr>
          <a:xfrm>
            <a:off x="7874000" y="2169102"/>
            <a:ext cx="340106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CE6"/>
                </a:solidFill>
                <a:latin typeface="JetBrains Mono" pitchFamily="34" charset="0"/>
                <a:ea typeface="JetBrains Mono" pitchFamily="34" charset="-122"/>
                <a:cs typeface="JetBrains Mono" pitchFamily="34" charset="-120"/>
              </a:rPr>
              <a:t>  enabled: true</a:t>
            </a:r>
            <a:endParaRPr lang="en-US" sz="1200" dirty="0"/>
          </a:p>
        </p:txBody>
      </p:sp>
      <p:sp>
        <p:nvSpPr>
          <p:cNvPr id="8" name="Text 5"/>
          <p:cNvSpPr/>
          <p:nvPr/>
        </p:nvSpPr>
        <p:spPr>
          <a:xfrm>
            <a:off x="7874000" y="2382441"/>
            <a:ext cx="340106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CE6"/>
                </a:solidFill>
                <a:latin typeface="JetBrains Mono" pitchFamily="34" charset="0"/>
                <a:ea typeface="JetBrains Mono" pitchFamily="34" charset="-122"/>
                <a:cs typeface="JetBrains Mono" pitchFamily="34" charset="-120"/>
              </a:rPr>
              <a:t>  provider: flight_recorder</a:t>
            </a:r>
            <a:endParaRPr lang="en-US" sz="1200" dirty="0"/>
          </a:p>
        </p:txBody>
      </p:sp>
      <p:sp>
        <p:nvSpPr>
          <p:cNvPr id="9" name="Text 6"/>
          <p:cNvSpPr/>
          <p:nvPr/>
        </p:nvSpPr>
        <p:spPr>
          <a:xfrm>
            <a:off x="7874000" y="2595786"/>
            <a:ext cx="340106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CE6"/>
                </a:solidFill>
                <a:latin typeface="JetBrains Mono" pitchFamily="34" charset="0"/>
                <a:ea typeface="JetBrains Mono" pitchFamily="34" charset="-122"/>
                <a:cs typeface="JetBrains Mono" pitchFamily="34" charset="-120"/>
              </a:rPr>
              <a:t>  provider_config:</a:t>
            </a:r>
            <a:endParaRPr lang="en-US" sz="1200" dirty="0"/>
          </a:p>
        </p:txBody>
      </p:sp>
      <p:sp>
        <p:nvSpPr>
          <p:cNvPr id="10" name="Text 7"/>
          <p:cNvSpPr/>
          <p:nvPr/>
        </p:nvSpPr>
        <p:spPr>
          <a:xfrm>
            <a:off x="7874000" y="2809125"/>
            <a:ext cx="340106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CE6"/>
                </a:solidFill>
                <a:latin typeface="JetBrains Mono" pitchFamily="34" charset="0"/>
                <a:ea typeface="JetBrains Mono" pitchFamily="34" charset="-122"/>
                <a:cs typeface="JetBrains Mono" pitchFamily="34" charset="-120"/>
              </a:rPr>
              <a:t>    signing_key_ref: …</a:t>
            </a:r>
            <a:endParaRPr lang="en-US" sz="1200" dirty="0"/>
          </a:p>
        </p:txBody>
      </p:sp>
      <p:sp>
        <p:nvSpPr>
          <p:cNvPr id="11" name="Text 8"/>
          <p:cNvSpPr/>
          <p:nvPr/>
        </p:nvSpPr>
        <p:spPr>
          <a:xfrm>
            <a:off x="7874000" y="3022470"/>
            <a:ext cx="340106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CE6"/>
                </a:solidFill>
                <a:latin typeface="JetBrains Mono" pitchFamily="34" charset="0"/>
                <a:ea typeface="JetBrains Mono" pitchFamily="34" charset="-122"/>
                <a:cs typeface="JetBrains Mono" pitchFamily="34" charset="-120"/>
              </a:rPr>
              <a:t>    retention_class: …</a:t>
            </a:r>
            <a:endParaRPr lang="en-US" sz="1200" dirty="0"/>
          </a:p>
        </p:txBody>
      </p:sp>
      <p:sp>
        <p:nvSpPr>
          <p:cNvPr id="12" name="Text 9"/>
          <p:cNvSpPr/>
          <p:nvPr/>
        </p:nvSpPr>
        <p:spPr>
          <a:xfrm>
            <a:off x="7874000" y="3235809"/>
            <a:ext cx="340106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CE6"/>
                </a:solidFill>
                <a:latin typeface="JetBrains Mono" pitchFamily="34" charset="0"/>
                <a:ea typeface="JetBrains Mono" pitchFamily="34" charset="-122"/>
                <a:cs typeface="JetBrains Mono" pitchFamily="34" charset="-120"/>
              </a:rPr>
              <a:t>    pii_masking: true</a:t>
            </a:r>
            <a:endParaRPr lang="en-US" sz="1200" dirty="0"/>
          </a:p>
        </p:txBody>
      </p:sp>
      <p:sp>
        <p:nvSpPr>
          <p:cNvPr id="13" name="Text 10"/>
          <p:cNvSpPr/>
          <p:nvPr/>
        </p:nvSpPr>
        <p:spPr>
          <a:xfrm>
            <a:off x="7874000" y="3449154"/>
            <a:ext cx="340106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A060"/>
                </a:solidFill>
                <a:latin typeface="JetBrains Mono" pitchFamily="34" charset="0"/>
                <a:ea typeface="JetBrains Mono" pitchFamily="34" charset="-122"/>
                <a:cs typeface="JetBrains Mono" pitchFamily="34" charset="-120"/>
              </a:rPr>
              <a:t>record:</a:t>
            </a:r>
            <a:endParaRPr lang="en-US" sz="1200" dirty="0"/>
          </a:p>
        </p:txBody>
      </p:sp>
      <p:sp>
        <p:nvSpPr>
          <p:cNvPr id="14" name="Text 11"/>
          <p:cNvSpPr/>
          <p:nvPr/>
        </p:nvSpPr>
        <p:spPr>
          <a:xfrm>
            <a:off x="7874000" y="3662493"/>
            <a:ext cx="340106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CE6"/>
                </a:solidFill>
                <a:latin typeface="JetBrains Mono" pitchFamily="34" charset="0"/>
                <a:ea typeface="JetBrains Mono" pitchFamily="34" charset="-122"/>
                <a:cs typeface="JetBrains Mono" pitchFamily="34" charset="-120"/>
              </a:rPr>
              <a:t>  capture: [model_call, tool_call,</a:t>
            </a:r>
            <a:endParaRPr lang="en-US" sz="1200" dirty="0"/>
          </a:p>
        </p:txBody>
      </p:sp>
      <p:sp>
        <p:nvSpPr>
          <p:cNvPr id="15" name="Text 12"/>
          <p:cNvSpPr/>
          <p:nvPr/>
        </p:nvSpPr>
        <p:spPr>
          <a:xfrm>
            <a:off x="7874000" y="3875838"/>
            <a:ext cx="340106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CE6"/>
                </a:solidFill>
                <a:latin typeface="JetBrains Mono" pitchFamily="34" charset="0"/>
                <a:ea typeface="JetBrains Mono" pitchFamily="34" charset="-122"/>
                <a:cs typeface="JetBrains Mono" pitchFamily="34" charset="-120"/>
              </a:rPr>
              <a:t>    a2a, guardrail, admit, complete]</a:t>
            </a:r>
            <a:endParaRPr lang="en-US" sz="1200" dirty="0"/>
          </a:p>
        </p:txBody>
      </p:sp>
      <p:sp>
        <p:nvSpPr>
          <p:cNvPr id="16" name="Text 13"/>
          <p:cNvSpPr/>
          <p:nvPr/>
        </p:nvSpPr>
        <p:spPr>
          <a:xfrm>
            <a:off x="7874000" y="4089183"/>
            <a:ext cx="340106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A060"/>
                </a:solidFill>
                <a:latin typeface="JetBrains Mono" pitchFamily="34" charset="0"/>
                <a:ea typeface="JetBrains Mono" pitchFamily="34" charset="-122"/>
                <a:cs typeface="JetBrains Mono" pitchFamily="34" charset="-120"/>
              </a:rPr>
              <a:t>data_classification:</a:t>
            </a:r>
            <a:endParaRPr lang="en-US" sz="1200" dirty="0"/>
          </a:p>
        </p:txBody>
      </p:sp>
      <p:sp>
        <p:nvSpPr>
          <p:cNvPr id="17" name="Text 14"/>
          <p:cNvSpPr/>
          <p:nvPr/>
        </p:nvSpPr>
        <p:spPr>
          <a:xfrm>
            <a:off x="7874000" y="4302522"/>
            <a:ext cx="340106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DCE6"/>
                </a:solidFill>
                <a:latin typeface="JetBrains Mono" pitchFamily="34" charset="0"/>
                <a:ea typeface="JetBrains Mono" pitchFamily="34" charset="-122"/>
                <a:cs typeface="JetBrains Mono" pitchFamily="34" charset="-120"/>
              </a:rPr>
              <a:t>  required: true</a:t>
            </a:r>
            <a:endParaRPr lang="en-US" sz="1200" dirty="0"/>
          </a:p>
        </p:txBody>
      </p:sp>
      <p:sp>
        <p:nvSpPr>
          <p:cNvPr id="18" name="Text 15"/>
          <p:cNvSpPr/>
          <p:nvPr/>
        </p:nvSpPr>
        <p:spPr>
          <a:xfrm>
            <a:off x="812800" y="5168943"/>
            <a:ext cx="10883392" cy="24637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Adoption is a config change plus an SDK upgrade, not code in each of the 40+ apps.</a:t>
            </a:r>
            <a:endParaRPr lang="en-US" sz="1200" dirty="0"/>
          </a:p>
        </p:txBody>
      </p:sp>
      <p:sp>
        <p:nvSpPr>
          <p:cNvPr id="19" name="Text 16"/>
          <p:cNvSpPr/>
          <p:nvPr/>
        </p:nvSpPr>
        <p:spPr>
          <a:xfrm>
            <a:off x="812800" y="6238261"/>
            <a:ext cx="289762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Agent Audit Ledger · executive briefing</a:t>
            </a:r>
            <a:endParaRPr lang="en-US" sz="1200" dirty="0"/>
          </a:p>
        </p:txBody>
      </p:sp>
      <p:sp>
        <p:nvSpPr>
          <p:cNvPr id="20" name="Text 17"/>
          <p:cNvSpPr/>
          <p:nvPr/>
        </p:nvSpPr>
        <p:spPr>
          <a:xfrm>
            <a:off x="11255199" y="6238261"/>
            <a:ext cx="174801"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186090"/>
          </a:xfrm>
          <a:prstGeom prst="rect">
            <a:avLst/>
          </a:prstGeom>
          <a:noFill/>
          <a:ln/>
        </p:spPr>
        <p:txBody>
          <a:bodyPr wrap="square" lIns="0" tIns="0" rIns="0" bIns="0" rtlCol="0" anchor="t">
            <a:normAutofit/>
          </a:bodyPr>
          <a:lstStyle/>
          <a:p>
            <a:pPr algn="l" indent="0" marL="0">
              <a:lnSpc>
                <a:spcPts val="1270"/>
              </a:lnSpc>
              <a:buNone/>
            </a:pPr>
            <a:r>
              <a:rPr lang="en-US" sz="907" b="1" spc="100" kern="0" dirty="0">
                <a:solidFill>
                  <a:srgbClr val="9C4F0A"/>
                </a:solidFill>
                <a:latin typeface="Inter" pitchFamily="34" charset="0"/>
                <a:ea typeface="Inter" pitchFamily="34" charset="-122"/>
                <a:cs typeface="Inter" pitchFamily="34" charset="-120"/>
              </a:rPr>
              <a:t>HOW · EVENT TAXONOMY</a:t>
            </a:r>
            <a:endParaRPr lang="en-US" sz="907" dirty="0"/>
          </a:p>
        </p:txBody>
      </p:sp>
      <p:sp>
        <p:nvSpPr>
          <p:cNvPr id="3" name="Text 1"/>
          <p:cNvSpPr/>
          <p:nvPr/>
        </p:nvSpPr>
        <p:spPr>
          <a:xfrm>
            <a:off x="812800" y="1075091"/>
            <a:ext cx="10883392" cy="362170"/>
          </a:xfrm>
          <a:prstGeom prst="rect">
            <a:avLst/>
          </a:prstGeom>
          <a:noFill/>
          <a:ln/>
        </p:spPr>
        <p:txBody>
          <a:bodyPr wrap="square" lIns="0" tIns="0" rIns="0" bIns="0" rtlCol="0" anchor="t">
            <a:normAutofit/>
          </a:bodyPr>
          <a:lstStyle/>
          <a:p>
            <a:pPr algn="l" indent="0" marL="0">
              <a:lnSpc>
                <a:spcPts val="2673"/>
              </a:lnSpc>
              <a:buNone/>
            </a:pPr>
            <a:r>
              <a:rPr lang="en-US" sz="2430" dirty="0">
                <a:solidFill>
                  <a:srgbClr val="16213A"/>
                </a:solidFill>
                <a:latin typeface="Source Serif 4" pitchFamily="34" charset="0"/>
                <a:ea typeface="Source Serif 4" pitchFamily="34" charset="-122"/>
                <a:cs typeface="Source Serif 4" pitchFamily="34" charset="-120"/>
              </a:rPr>
              <a:t>Ten event types cover the agent lifecycle</a:t>
            </a:r>
            <a:endParaRPr lang="en-US" sz="243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626353"/>
          <a:ext cx="10555111" cy="4215650"/>
        </p:xfrm>
        <a:graphic>
          <a:graphicData uri="http://schemas.openxmlformats.org/drawingml/2006/table">
            <a:tbl>
              <a:tblPr/>
              <a:tblGrid>
                <a:gridCol w="2638778"/>
                <a:gridCol w="2638778"/>
                <a:gridCol w="2638778"/>
                <a:gridCol w="2638778"/>
              </a:tblGrid>
              <a:tr h="321160">
                <a:tc>
                  <a:txBody>
                    <a:bodyPr/>
                    <a:lstStyle/>
                    <a:p>
                      <a:pPr indent="0" marL="0">
                        <a:lnSpc>
                          <a:spcPts val="1344"/>
                        </a:lnSpc>
                        <a:buNone/>
                      </a:pPr>
                      <a:r>
                        <a:rPr lang="en-US" sz="960" b="1" dirty="0">
                          <a:solidFill>
                            <a:srgbClr val="F4F2EC"/>
                          </a:solidFill>
                          <a:latin typeface="Inter" pitchFamily="34" charset="0"/>
                          <a:ea typeface="Inter" pitchFamily="34" charset="-122"/>
                          <a:cs typeface="Inter" pitchFamily="34" charset="-120"/>
                        </a:rPr>
                        <a:t>Event</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344"/>
                        </a:lnSpc>
                        <a:buNone/>
                      </a:pPr>
                      <a:r>
                        <a:rPr lang="en-US" sz="960" b="1" dirty="0">
                          <a:solidFill>
                            <a:srgbClr val="F4F2EC"/>
                          </a:solidFill>
                          <a:latin typeface="Inter" pitchFamily="34" charset="0"/>
                          <a:ea typeface="Inter" pitchFamily="34" charset="-122"/>
                          <a:cs typeface="Inter" pitchFamily="34" charset="-120"/>
                        </a:rPr>
                        <a:t>Written when</a:t>
                      </a:r>
                      <a:endParaRPr lang="en-US" sz="960" dirty="0">
                        <a:latin typeface="Inter" charset="0"/>
                        <a:ea typeface="Inter" charset="0"/>
                        <a:cs typeface="Inter" charset="0"/>
                      </a:endParaRPr>
                    </a:p>
                  </a:txBody>
                  <a:tcPr marL="101600" marR="101600" marT="63500" marB="635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344"/>
                        </a:lnSpc>
                        <a:buNone/>
                      </a:pPr>
                      <a:r>
                        <a:rPr lang="en-US" sz="960" b="1" dirty="0">
                          <a:solidFill>
                            <a:srgbClr val="F4F2EC"/>
                          </a:solidFill>
                          <a:latin typeface="Inter" pitchFamily="34" charset="0"/>
                          <a:ea typeface="Inter" pitchFamily="34" charset="-122"/>
                          <a:cs typeface="Inter" pitchFamily="34" charset="-120"/>
                        </a:rPr>
                        <a:t>What it stores</a:t>
                      </a:r>
                      <a:endParaRPr lang="en-US" sz="960" dirty="0">
                        <a:latin typeface="Inter" charset="0"/>
                        <a:ea typeface="Inter" charset="0"/>
                        <a:cs typeface="Inter" charset="0"/>
                      </a:endParaRPr>
                    </a:p>
                  </a:txBody>
                  <a:tcPr marL="101600" marR="101600" marT="63500" marB="635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344"/>
                        </a:lnSpc>
                        <a:buNone/>
                      </a:pPr>
                      <a:r>
                        <a:rPr lang="en-US" sz="960" b="1" dirty="0">
                          <a:solidFill>
                            <a:srgbClr val="F4F2EC"/>
                          </a:solidFill>
                          <a:latin typeface="Inter" pitchFamily="34" charset="0"/>
                          <a:ea typeface="Inter" pitchFamily="34" charset="-122"/>
                          <a:cs typeface="Inter" pitchFamily="34" charset="-120"/>
                        </a:rPr>
                        <a:t>SDK hook</a:t>
                      </a:r>
                      <a:endParaRPr lang="en-US" sz="960" dirty="0">
                        <a:latin typeface="Inter" charset="0"/>
                        <a:ea typeface="Inter" charset="0"/>
                        <a:cs typeface="Inter" charset="0"/>
                      </a:endParaRPr>
                    </a:p>
                  </a:txBody>
                  <a:tcPr marL="101600" marR="101600" marT="63500" marB="635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491860">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request.started</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An agent run begins</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Entra agent ID, blueprint, on-behalf-of user, app</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admit</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491860">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action.proposed</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Agent plans a tool call</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tool, argument hash, data classes, risk tier</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tool_call</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491860">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policy.decided</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OPA returns a decision</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allow / deny / escalate, policy version hash</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guardrail</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21160">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approval.recorded</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A human rules on R3–R4</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approver ID, verdict, wait time</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guardrail</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21160">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action.executed</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The tool returns</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status, result hash, duration, cost</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tool_outcomes</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21160">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model.invoked</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An LLM call completes</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route ID, model, Apigee request ID, tokens</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model_call</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491860">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memory.written</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Agent writes long-term memory</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memory tier, item hash, governance gate result</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new hook</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21160">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agent.delegated</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Work passes to another agent</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target agent ID, delegated scope</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A2A hop</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21204">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session.closed</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The run ends</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outcome, entry count, session head hash</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complete</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21204">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checkpoint.sealed</a:t>
                      </a:r>
                      <a:endParaRPr lang="en-US" sz="96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Every [N] entries or [__] min</a:t>
                      </a:r>
                      <a:endParaRPr lang="en-US" sz="960" dirty="0">
                        <a:latin typeface="Inter" charset="0"/>
                        <a:ea typeface="Inter" charset="0"/>
                        <a:cs typeface="Inter" charset="0"/>
                      </a:endParaRPr>
                    </a:p>
                  </a:txBody>
                  <a:tcPr marL="101600" marR="101600" marT="63500" marB="635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Merkle root, signature, anchor receipt</a:t>
                      </a:r>
                      <a:endParaRPr lang="en-US" sz="960" dirty="0">
                        <a:latin typeface="Inter" charset="0"/>
                        <a:ea typeface="Inter" charset="0"/>
                        <a:cs typeface="Inter" charset="0"/>
                      </a:endParaRPr>
                    </a:p>
                  </a:txBody>
                  <a:tcPr marL="101600" marR="101600" marT="63500" marB="635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344"/>
                        </a:lnSpc>
                        <a:buNone/>
                      </a:pPr>
                      <a:r>
                        <a:rPr lang="en-US" sz="960" dirty="0">
                          <a:solidFill>
                            <a:srgbClr val="16213A"/>
                          </a:solidFill>
                          <a:latin typeface="Inter" pitchFamily="34" charset="0"/>
                          <a:ea typeface="Inter" pitchFamily="34" charset="-122"/>
                          <a:cs typeface="Inter" pitchFamily="34" charset="-120"/>
                        </a:rPr>
                        <a:t>sink</a:t>
                      </a:r>
                      <a:endParaRPr lang="en-US" sz="960" dirty="0">
                        <a:latin typeface="Inter" charset="0"/>
                        <a:ea typeface="Inter" charset="0"/>
                        <a:cs typeface="Inter" charset="0"/>
                      </a:endParaRPr>
                    </a:p>
                  </a:txBody>
                  <a:tcPr marL="101600" marR="101600" marT="63500" marB="635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r>
            </a:tbl>
          </a:graphicData>
        </a:graphic>
      </p:graphicFrame>
      <p:sp>
        <p:nvSpPr>
          <p:cNvPr id="5" name="Text 2"/>
          <p:cNvSpPr/>
          <p:nvPr/>
        </p:nvSpPr>
        <p:spPr>
          <a:xfrm>
            <a:off x="812800" y="6238261"/>
            <a:ext cx="289762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Agent Audit Ledger · executive briefing</a:t>
            </a:r>
            <a:endParaRPr lang="en-US" sz="1200" dirty="0"/>
          </a:p>
        </p:txBody>
      </p:sp>
      <p:sp>
        <p:nvSpPr>
          <p:cNvPr id="6" name="Text 3"/>
          <p:cNvSpPr/>
          <p:nvPr/>
        </p:nvSpPr>
        <p:spPr>
          <a:xfrm>
            <a:off x="11224243" y="6238261"/>
            <a:ext cx="205758"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HOW · EVENT ANATOMY</a:t>
            </a:r>
            <a:endParaRPr lang="en-US" sz="1200" dirty="0"/>
          </a:p>
        </p:txBody>
      </p:sp>
      <p:sp>
        <p:nvSpPr>
          <p:cNvPr id="3" name="Text 1"/>
          <p:cNvSpPr/>
          <p:nvPr/>
        </p:nvSpPr>
        <p:spPr>
          <a:xfrm>
            <a:off x="812800" y="112774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6213A"/>
                </a:solidFill>
                <a:latin typeface="Source Serif 4" pitchFamily="34" charset="0"/>
                <a:ea typeface="Source Serif 4" pitchFamily="34" charset="-122"/>
                <a:cs typeface="Source Serif 4" pitchFamily="34" charset="-120"/>
              </a:rPr>
              <a:t>One VAR, field by field</a:t>
            </a:r>
            <a:endParaRPr lang="en-US" sz="3200" dirty="0"/>
          </a:p>
        </p:txBody>
      </p:sp>
      <p:sp>
        <p:nvSpPr>
          <p:cNvPr id="4" name="Shape 2"/>
          <p:cNvSpPr/>
          <p:nvPr/>
        </p:nvSpPr>
        <p:spPr>
          <a:xfrm>
            <a:off x="812800" y="1777957"/>
            <a:ext cx="6350000" cy="2824163"/>
          </a:xfrm>
          <a:prstGeom prst="roundRect">
            <a:avLst>
              <a:gd name="adj" fmla="val 2698"/>
            </a:avLst>
          </a:prstGeom>
          <a:solidFill>
            <a:srgbClr val="16213A"/>
          </a:solidFill>
          <a:ln/>
        </p:spPr>
      </p:sp>
      <p:sp>
        <p:nvSpPr>
          <p:cNvPr id="5" name="Text 3"/>
          <p:cNvSpPr/>
          <p:nvPr/>
        </p:nvSpPr>
        <p:spPr>
          <a:xfrm>
            <a:off x="1041400" y="1955757"/>
            <a:ext cx="6069584"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6DCE6"/>
                </a:solidFill>
                <a:latin typeface="JetBrains Mono" pitchFamily="34" charset="0"/>
                <a:ea typeface="JetBrains Mono" pitchFamily="34" charset="-122"/>
                <a:cs typeface="JetBrains Mono" pitchFamily="34" charset="-120"/>
              </a:rPr>
              <a:t>{</a:t>
            </a:r>
            <a:endParaRPr lang="en-US" sz="1200" dirty="0"/>
          </a:p>
        </p:txBody>
      </p:sp>
      <p:sp>
        <p:nvSpPr>
          <p:cNvPr id="6" name="Text 4"/>
          <p:cNvSpPr/>
          <p:nvPr/>
        </p:nvSpPr>
        <p:spPr>
          <a:xfrm>
            <a:off x="1041400" y="2161468"/>
            <a:ext cx="6069584"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6DCE6"/>
                </a:solidFill>
                <a:latin typeface="JetBrains Mono" pitchFamily="34" charset="0"/>
                <a:ea typeface="JetBrains Mono" pitchFamily="34" charset="-122"/>
                <a:cs typeface="JetBrains Mono" pitchFamily="34" charset="-120"/>
              </a:rPr>
              <a:t>  "record_id": "var_01J9…", "schema_version": "1.0",</a:t>
            </a:r>
            <a:endParaRPr lang="en-US" sz="1200" dirty="0"/>
          </a:p>
        </p:txBody>
      </p:sp>
      <p:sp>
        <p:nvSpPr>
          <p:cNvPr id="7" name="Text 5"/>
          <p:cNvSpPr/>
          <p:nvPr/>
        </p:nvSpPr>
        <p:spPr>
          <a:xfrm>
            <a:off x="1041400" y="2367186"/>
            <a:ext cx="6069584"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6DCE6"/>
                </a:solidFill>
                <a:latin typeface="JetBrains Mono" pitchFamily="34" charset="0"/>
                <a:ea typeface="JetBrains Mono" pitchFamily="34" charset="-122"/>
                <a:cs typeface="JetBrains Mono" pitchFamily="34" charset="-120"/>
              </a:rPr>
              <a:t>  "correlation_id": "4bf92f35…", "task_id": "t_88…",</a:t>
            </a:r>
            <a:endParaRPr lang="en-US" sz="1200" dirty="0"/>
          </a:p>
        </p:txBody>
      </p:sp>
      <p:sp>
        <p:nvSpPr>
          <p:cNvPr id="8" name="Text 6"/>
          <p:cNvSpPr/>
          <p:nvPr/>
        </p:nvSpPr>
        <p:spPr>
          <a:xfrm>
            <a:off x="1041400" y="2572897"/>
            <a:ext cx="6069584"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6DCE6"/>
                </a:solidFill>
                <a:latin typeface="JetBrains Mono" pitchFamily="34" charset="0"/>
                <a:ea typeface="JetBrains Mono" pitchFamily="34" charset="-122"/>
                <a:cs typeface="JetBrains Mono" pitchFamily="34" charset="-120"/>
              </a:rPr>
              <a:t>  </a:t>
            </a:r>
            <a:r>
              <a:rPr lang="en-US" sz="1200" dirty="0">
                <a:solidFill>
                  <a:srgbClr val="E3A060"/>
                </a:solidFill>
                <a:latin typeface="JetBrains Mono" pitchFamily="34" charset="0"/>
                <a:ea typeface="JetBrains Mono" pitchFamily="34" charset="-122"/>
                <a:cs typeface="JetBrains Mono" pitchFamily="34" charset="-120"/>
              </a:rPr>
              <a:t>"agent_runtime_id": "[entra-agent-object-id]",</a:t>
            </a:r>
            <a:endParaRPr lang="en-US" sz="1200" dirty="0"/>
          </a:p>
        </p:txBody>
      </p:sp>
      <p:sp>
        <p:nvSpPr>
          <p:cNvPr id="9" name="Text 7"/>
          <p:cNvSpPr/>
          <p:nvPr/>
        </p:nvSpPr>
        <p:spPr>
          <a:xfrm>
            <a:off x="1041400" y="2778609"/>
            <a:ext cx="6069584"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6DCE6"/>
                </a:solidFill>
                <a:latin typeface="JetBrains Mono" pitchFamily="34" charset="0"/>
                <a:ea typeface="JetBrains Mono" pitchFamily="34" charset="-122"/>
                <a:cs typeface="JetBrains Mono" pitchFamily="34" charset="-120"/>
              </a:rPr>
              <a:t>  </a:t>
            </a:r>
            <a:r>
              <a:rPr lang="en-US" sz="1200" dirty="0">
                <a:solidFill>
                  <a:srgbClr val="E3A060"/>
                </a:solidFill>
                <a:latin typeface="JetBrains Mono" pitchFamily="34" charset="0"/>
                <a:ea typeface="JetBrains Mono" pitchFamily="34" charset="-122"/>
                <a:cs typeface="JetBrains Mono" pitchFamily="34" charset="-120"/>
              </a:rPr>
              <a:t>"agent_name": "tenk-analyst@3.2",</a:t>
            </a:r>
            <a:endParaRPr lang="en-US" sz="1200" dirty="0"/>
          </a:p>
        </p:txBody>
      </p:sp>
      <p:sp>
        <p:nvSpPr>
          <p:cNvPr id="10" name="Text 8"/>
          <p:cNvSpPr/>
          <p:nvPr/>
        </p:nvSpPr>
        <p:spPr>
          <a:xfrm>
            <a:off x="1041400" y="2984326"/>
            <a:ext cx="6069584"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6DCE6"/>
                </a:solidFill>
                <a:latin typeface="JetBrains Mono" pitchFamily="34" charset="0"/>
                <a:ea typeface="JetBrains Mono" pitchFamily="34" charset="-122"/>
                <a:cs typeface="JetBrains Mono" pitchFamily="34" charset="-120"/>
              </a:rPr>
              <a:t>  </a:t>
            </a:r>
            <a:r>
              <a:rPr lang="en-US" sz="1200" dirty="0">
                <a:solidFill>
                  <a:srgbClr val="E3A060"/>
                </a:solidFill>
                <a:latin typeface="JetBrains Mono" pitchFamily="34" charset="0"/>
                <a:ea typeface="JetBrains Mono" pitchFamily="34" charset="-122"/>
                <a:cs typeface="JetBrains Mono" pitchFamily="34" charset="-120"/>
              </a:rPr>
              <a:t>"principal_id": "[user-oid via PingFed]",</a:t>
            </a:r>
            <a:endParaRPr lang="en-US" sz="1200" dirty="0"/>
          </a:p>
        </p:txBody>
      </p:sp>
      <p:sp>
        <p:nvSpPr>
          <p:cNvPr id="11" name="Text 9"/>
          <p:cNvSpPr/>
          <p:nvPr/>
        </p:nvSpPr>
        <p:spPr>
          <a:xfrm>
            <a:off x="1041400" y="3190038"/>
            <a:ext cx="6069584"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6DCE6"/>
                </a:solidFill>
                <a:latin typeface="JetBrains Mono" pitchFamily="34" charset="0"/>
                <a:ea typeface="JetBrains Mono" pitchFamily="34" charset="-122"/>
                <a:cs typeface="JetBrains Mono" pitchFamily="34" charset="-120"/>
              </a:rPr>
              <a:t>  </a:t>
            </a:r>
            <a:r>
              <a:rPr lang="en-US" sz="1200" dirty="0">
                <a:solidFill>
                  <a:srgbClr val="8FB8F0"/>
                </a:solidFill>
                <a:latin typeface="JetBrains Mono" pitchFamily="34" charset="0"/>
                <a:ea typeface="JetBrains Mono" pitchFamily="34" charset="-122"/>
                <a:cs typeface="JetBrains Mono" pitchFamily="34" charset="-120"/>
              </a:rPr>
              <a:t>"action_type": "tool_call", "target_resource": "crm.notes",</a:t>
            </a:r>
            <a:endParaRPr lang="en-US" sz="1200" dirty="0"/>
          </a:p>
        </p:txBody>
      </p:sp>
      <p:sp>
        <p:nvSpPr>
          <p:cNvPr id="12" name="Text 10"/>
          <p:cNvSpPr/>
          <p:nvPr/>
        </p:nvSpPr>
        <p:spPr>
          <a:xfrm>
            <a:off x="1041400" y="3395749"/>
            <a:ext cx="6069584"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6DCE6"/>
                </a:solidFill>
                <a:latin typeface="JetBrains Mono" pitchFamily="34" charset="0"/>
                <a:ea typeface="JetBrains Mono" pitchFamily="34" charset="-122"/>
                <a:cs typeface="JetBrains Mono" pitchFamily="34" charset="-120"/>
              </a:rPr>
              <a:t>  </a:t>
            </a:r>
            <a:r>
              <a:rPr lang="en-US" sz="1200" dirty="0">
                <a:solidFill>
                  <a:srgbClr val="8FB8F0"/>
                </a:solidFill>
                <a:latin typeface="JetBrains Mono" pitchFamily="34" charset="0"/>
                <a:ea typeface="JetBrains Mono" pitchFamily="34" charset="-122"/>
                <a:cs typeface="JetBrains Mono" pitchFamily="34" charset="-120"/>
              </a:rPr>
              <a:t>"params": "sha256:9f2c…", "risk_category": "R3",</a:t>
            </a:r>
            <a:endParaRPr lang="en-US" sz="1200" dirty="0"/>
          </a:p>
        </p:txBody>
      </p:sp>
      <p:sp>
        <p:nvSpPr>
          <p:cNvPr id="13" name="Text 11"/>
          <p:cNvSpPr/>
          <p:nvPr/>
        </p:nvSpPr>
        <p:spPr>
          <a:xfrm>
            <a:off x="1041400" y="3601467"/>
            <a:ext cx="6069584"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6DCE6"/>
                </a:solidFill>
                <a:latin typeface="JetBrains Mono" pitchFamily="34" charset="0"/>
                <a:ea typeface="JetBrains Mono" pitchFamily="34" charset="-122"/>
                <a:cs typeface="JetBrains Mono" pitchFamily="34" charset="-120"/>
              </a:rPr>
              <a:t>  </a:t>
            </a:r>
            <a:r>
              <a:rPr lang="en-US" sz="1200" dirty="0">
                <a:solidFill>
                  <a:srgbClr val="8FB8F0"/>
                </a:solidFill>
                <a:latin typeface="JetBrains Mono" pitchFamily="34" charset="0"/>
                <a:ea typeface="JetBrains Mono" pitchFamily="34" charset="-122"/>
                <a:cs typeface="JetBrains Mono" pitchFamily="34" charset="-120"/>
              </a:rPr>
              <a:t>"decision": "escalate", "policy_id": "crm-write@v14",</a:t>
            </a:r>
            <a:endParaRPr lang="en-US" sz="1200" dirty="0"/>
          </a:p>
        </p:txBody>
      </p:sp>
      <p:sp>
        <p:nvSpPr>
          <p:cNvPr id="14" name="Text 12"/>
          <p:cNvSpPr/>
          <p:nvPr/>
        </p:nvSpPr>
        <p:spPr>
          <a:xfrm>
            <a:off x="1041400" y="3807178"/>
            <a:ext cx="6069584"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6DCE6"/>
                </a:solidFill>
                <a:latin typeface="JetBrains Mono" pitchFamily="34" charset="0"/>
                <a:ea typeface="JetBrains Mono" pitchFamily="34" charset="-122"/>
                <a:cs typeface="JetBrains Mono" pitchFamily="34" charset="-120"/>
              </a:rPr>
              <a:t>  </a:t>
            </a:r>
            <a:r>
              <a:rPr lang="en-US" sz="1200" dirty="0">
                <a:solidFill>
                  <a:srgbClr val="9FD3A8"/>
                </a:solidFill>
                <a:latin typeface="JetBrains Mono" pitchFamily="34" charset="0"/>
                <a:ea typeface="JetBrains Mono" pitchFamily="34" charset="-122"/>
                <a:cs typeface="JetBrains Mono" pitchFamily="34" charset="-120"/>
              </a:rPr>
              <a:t>"prev_hash": "c07d…", "entry_hash": "5e19…",</a:t>
            </a:r>
            <a:endParaRPr lang="en-US" sz="1200" dirty="0"/>
          </a:p>
        </p:txBody>
      </p:sp>
      <p:sp>
        <p:nvSpPr>
          <p:cNvPr id="15" name="Text 13"/>
          <p:cNvSpPr/>
          <p:nvPr/>
        </p:nvSpPr>
        <p:spPr>
          <a:xfrm>
            <a:off x="1041400" y="4012890"/>
            <a:ext cx="6069584"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6DCE6"/>
                </a:solidFill>
                <a:latin typeface="JetBrains Mono" pitchFamily="34" charset="0"/>
                <a:ea typeface="JetBrains Mono" pitchFamily="34" charset="-122"/>
                <a:cs typeface="JetBrains Mono" pitchFamily="34" charset="-120"/>
              </a:rPr>
              <a:t>  </a:t>
            </a:r>
            <a:r>
              <a:rPr lang="en-US" sz="1200" dirty="0">
                <a:solidFill>
                  <a:srgbClr val="9FD3A8"/>
                </a:solidFill>
                <a:latin typeface="JetBrains Mono" pitchFamily="34" charset="0"/>
                <a:ea typeface="JetBrains Mono" pitchFamily="34" charset="-122"/>
                <a:cs typeface="JetBrains Mono" pitchFamily="34" charset="-120"/>
              </a:rPr>
              <a:t>"signature": "ed25519:…", "signer_key_id": "k-09"</a:t>
            </a:r>
            <a:endParaRPr lang="en-US" sz="1200" dirty="0"/>
          </a:p>
        </p:txBody>
      </p:sp>
      <p:sp>
        <p:nvSpPr>
          <p:cNvPr id="16" name="Text 14"/>
          <p:cNvSpPr/>
          <p:nvPr/>
        </p:nvSpPr>
        <p:spPr>
          <a:xfrm>
            <a:off x="1041400" y="4218608"/>
            <a:ext cx="6069584"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6DCE6"/>
                </a:solidFill>
                <a:latin typeface="JetBrains Mono" pitchFamily="34" charset="0"/>
                <a:ea typeface="JetBrains Mono" pitchFamily="34" charset="-122"/>
                <a:cs typeface="JetBrains Mono" pitchFamily="34" charset="-120"/>
              </a:rPr>
              <a:t>}</a:t>
            </a:r>
            <a:endParaRPr lang="en-US" sz="1200" dirty="0"/>
          </a:p>
        </p:txBody>
      </p:sp>
      <p:sp>
        <p:nvSpPr>
          <p:cNvPr id="17" name="Text 15"/>
          <p:cNvSpPr/>
          <p:nvPr/>
        </p:nvSpPr>
        <p:spPr>
          <a:xfrm>
            <a:off x="7416800" y="1777957"/>
            <a:ext cx="4081272" cy="208271"/>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6213A"/>
                </a:solidFill>
                <a:latin typeface="Inter" pitchFamily="34" charset="0"/>
                <a:ea typeface="Inter" pitchFamily="34" charset="-122"/>
                <a:cs typeface="Inter" pitchFamily="34" charset="-120"/>
              </a:rPr>
              <a:t>Identity, correlation</a:t>
            </a:r>
            <a:endParaRPr lang="en-US" sz="1200" dirty="0"/>
          </a:p>
        </p:txBody>
      </p:sp>
      <p:sp>
        <p:nvSpPr>
          <p:cNvPr id="18" name="Text 16"/>
          <p:cNvSpPr/>
          <p:nvPr/>
        </p:nvSpPr>
        <p:spPr>
          <a:xfrm>
            <a:off x="7416800" y="1986229"/>
            <a:ext cx="408127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458"/>
                </a:solidFill>
                <a:latin typeface="Inter" pitchFamily="34" charset="0"/>
                <a:ea typeface="Inter" pitchFamily="34" charset="-122"/>
                <a:cs typeface="Inter" pitchFamily="34" charset="-120"/>
              </a:rPr>
              <a:t>record, schema, links to Arize and other hops</a:t>
            </a:r>
            <a:endParaRPr lang="en-US" sz="1200" dirty="0"/>
          </a:p>
        </p:txBody>
      </p:sp>
      <p:sp>
        <p:nvSpPr>
          <p:cNvPr id="19" name="Text 17"/>
          <p:cNvSpPr/>
          <p:nvPr/>
        </p:nvSpPr>
        <p:spPr>
          <a:xfrm>
            <a:off x="7416800" y="2313868"/>
            <a:ext cx="4081272" cy="208271"/>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9C4F0A"/>
                </a:solidFill>
                <a:latin typeface="Inter" pitchFamily="34" charset="0"/>
                <a:ea typeface="Inter" pitchFamily="34" charset="-122"/>
                <a:cs typeface="Inter" pitchFamily="34" charset="-120"/>
              </a:rPr>
              <a:t>Actor</a:t>
            </a:r>
            <a:endParaRPr lang="en-US" sz="1200" dirty="0"/>
          </a:p>
        </p:txBody>
      </p:sp>
      <p:sp>
        <p:nvSpPr>
          <p:cNvPr id="20" name="Text 18"/>
          <p:cNvSpPr/>
          <p:nvPr/>
        </p:nvSpPr>
        <p:spPr>
          <a:xfrm>
            <a:off x="7416800" y="2522141"/>
            <a:ext cx="4081272" cy="45208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458"/>
                </a:solidFill>
                <a:latin typeface="Inter" pitchFamily="34" charset="0"/>
                <a:ea typeface="Inter" pitchFamily="34" charset="-122"/>
                <a:cs typeface="Inter" pitchFamily="34" charset="-120"/>
              </a:rPr>
              <a:t>Entra agent identity, its blueprint, and the human it acts for</a:t>
            </a:r>
            <a:endParaRPr lang="en-US" sz="1200" dirty="0"/>
          </a:p>
        </p:txBody>
      </p:sp>
      <p:sp>
        <p:nvSpPr>
          <p:cNvPr id="21" name="Text 19"/>
          <p:cNvSpPr/>
          <p:nvPr/>
        </p:nvSpPr>
        <p:spPr>
          <a:xfrm>
            <a:off x="7416800" y="3063125"/>
            <a:ext cx="4081272" cy="208271"/>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F4E8C"/>
                </a:solidFill>
                <a:latin typeface="Inter" pitchFamily="34" charset="0"/>
                <a:ea typeface="Inter" pitchFamily="34" charset="-122"/>
                <a:cs typeface="Inter" pitchFamily="34" charset="-120"/>
              </a:rPr>
              <a:t>Action, decision</a:t>
            </a:r>
            <a:endParaRPr lang="en-US" sz="1200" dirty="0"/>
          </a:p>
        </p:txBody>
      </p:sp>
      <p:sp>
        <p:nvSpPr>
          <p:cNvPr id="22" name="Text 20"/>
          <p:cNvSpPr/>
          <p:nvPr/>
        </p:nvSpPr>
        <p:spPr>
          <a:xfrm>
            <a:off x="7416800" y="3271397"/>
            <a:ext cx="408127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458"/>
                </a:solidFill>
                <a:latin typeface="Inter" pitchFamily="34" charset="0"/>
                <a:ea typeface="Inter" pitchFamily="34" charset="-122"/>
                <a:cs typeface="Inter" pitchFamily="34" charset="-120"/>
              </a:rPr>
              <a:t>action, hashed arguments, tier, decision, exact policy</a:t>
            </a:r>
            <a:endParaRPr lang="en-US" sz="1200" dirty="0"/>
          </a:p>
        </p:txBody>
      </p:sp>
      <p:sp>
        <p:nvSpPr>
          <p:cNvPr id="23" name="Text 21"/>
          <p:cNvSpPr/>
          <p:nvPr/>
        </p:nvSpPr>
        <p:spPr>
          <a:xfrm>
            <a:off x="7416800" y="3599042"/>
            <a:ext cx="4081272" cy="208271"/>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6213A"/>
                </a:solidFill>
                <a:latin typeface="Inter" pitchFamily="34" charset="0"/>
                <a:ea typeface="Inter" pitchFamily="34" charset="-122"/>
                <a:cs typeface="Inter" pitchFamily="34" charset="-120"/>
              </a:rPr>
              <a:t>Context, governance</a:t>
            </a:r>
            <a:endParaRPr lang="en-US" sz="1200" dirty="0"/>
          </a:p>
        </p:txBody>
      </p:sp>
      <p:sp>
        <p:nvSpPr>
          <p:cNvPr id="24" name="Text 22"/>
          <p:cNvSpPr/>
          <p:nvPr/>
        </p:nvSpPr>
        <p:spPr>
          <a:xfrm>
            <a:off x="7416800" y="3807309"/>
            <a:ext cx="408127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458"/>
                </a:solidFill>
                <a:latin typeface="Inter" pitchFamily="34" charset="0"/>
                <a:ea typeface="Inter" pitchFamily="34" charset="-122"/>
                <a:cs typeface="Inter" pitchFamily="34" charset="-120"/>
              </a:rPr>
              <a:t>app, LoB, datacentre, retention class (omitted here)</a:t>
            </a:r>
            <a:endParaRPr lang="en-US" sz="1200" dirty="0"/>
          </a:p>
        </p:txBody>
      </p:sp>
      <p:sp>
        <p:nvSpPr>
          <p:cNvPr id="25" name="Text 23"/>
          <p:cNvSpPr/>
          <p:nvPr/>
        </p:nvSpPr>
        <p:spPr>
          <a:xfrm>
            <a:off x="7416800" y="4134954"/>
            <a:ext cx="4081272" cy="208271"/>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2E7D4A"/>
                </a:solidFill>
                <a:latin typeface="Inter" pitchFamily="34" charset="0"/>
                <a:ea typeface="Inter" pitchFamily="34" charset="-122"/>
                <a:cs typeface="Inter" pitchFamily="34" charset="-120"/>
              </a:rPr>
              <a:t>Integrity</a:t>
            </a:r>
            <a:endParaRPr lang="en-US" sz="1200" dirty="0"/>
          </a:p>
        </p:txBody>
      </p:sp>
      <p:sp>
        <p:nvSpPr>
          <p:cNvPr id="26" name="Text 24"/>
          <p:cNvSpPr/>
          <p:nvPr/>
        </p:nvSpPr>
        <p:spPr>
          <a:xfrm>
            <a:off x="7416800" y="4343226"/>
            <a:ext cx="408127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458"/>
                </a:solidFill>
                <a:latin typeface="Inter" pitchFamily="34" charset="0"/>
                <a:ea typeface="Inter" pitchFamily="34" charset="-122"/>
                <a:cs typeface="Inter" pitchFamily="34" charset="-120"/>
              </a:rPr>
              <a:t>chained to the previous entry, then signed</a:t>
            </a:r>
            <a:endParaRPr lang="en-US" sz="1200" dirty="0"/>
          </a:p>
        </p:txBody>
      </p:sp>
      <p:sp>
        <p:nvSpPr>
          <p:cNvPr id="27" name="Text 25"/>
          <p:cNvSpPr/>
          <p:nvPr/>
        </p:nvSpPr>
        <p:spPr>
          <a:xfrm>
            <a:off x="812800" y="4805319"/>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A4458"/>
                </a:solidFill>
                <a:latin typeface="Inter" pitchFamily="34" charset="0"/>
                <a:ea typeface="Inter" pitchFamily="34" charset="-122"/>
                <a:cs typeface="Inter" pitchFamily="34" charset="-120"/>
              </a:rPr>
              <a:t>Never stored:</a:t>
            </a:r>
            <a:r>
              <a:rPr lang="en-US" sz="1200" dirty="0">
                <a:solidFill>
                  <a:srgbClr val="3A4458"/>
                </a:solidFill>
                <a:latin typeface="Inter" pitchFamily="34" charset="0"/>
                <a:ea typeface="Inter" pitchFamily="34" charset="-122"/>
                <a:cs typeface="Inter" pitchFamily="34" charset="-120"/>
              </a:rPr>
              <a:t> prompts, completions, raw arguments or customer data. Estimated size: roughly 0.5–1 KB per event before compression.</a:t>
            </a:r>
            <a:endParaRPr lang="en-US" sz="1200" dirty="0"/>
          </a:p>
        </p:txBody>
      </p:sp>
      <p:sp>
        <p:nvSpPr>
          <p:cNvPr id="28" name="Text 26"/>
          <p:cNvSpPr/>
          <p:nvPr/>
        </p:nvSpPr>
        <p:spPr>
          <a:xfrm>
            <a:off x="812800" y="6238261"/>
            <a:ext cx="289762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Agent Audit Ledger · executive briefing</a:t>
            </a:r>
            <a:endParaRPr lang="en-US" sz="1200" dirty="0"/>
          </a:p>
        </p:txBody>
      </p:sp>
      <p:sp>
        <p:nvSpPr>
          <p:cNvPr id="29" name="Text 27"/>
          <p:cNvSpPr/>
          <p:nvPr/>
        </p:nvSpPr>
        <p:spPr>
          <a:xfrm>
            <a:off x="11223052" y="6238261"/>
            <a:ext cx="206948"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17488"/>
          </a:xfrm>
          <a:prstGeom prst="rect">
            <a:avLst/>
          </a:prstGeom>
          <a:noFill/>
          <a:ln/>
        </p:spPr>
        <p:txBody>
          <a:bodyPr wrap="square" lIns="0" tIns="0" rIns="0" bIns="0" rtlCol="0" anchor="t">
            <a:normAutofit/>
          </a:bodyPr>
          <a:lstStyle/>
          <a:p>
            <a:pPr algn="l" indent="0" marL="0">
              <a:lnSpc>
                <a:spcPts val="1523"/>
              </a:lnSpc>
              <a:buNone/>
            </a:pPr>
            <a:r>
              <a:rPr lang="en-US" sz="1088" b="1" spc="100" kern="0" dirty="0">
                <a:solidFill>
                  <a:srgbClr val="9C4F0A"/>
                </a:solidFill>
                <a:latin typeface="Inter" pitchFamily="34" charset="0"/>
                <a:ea typeface="Inter" pitchFamily="34" charset="-122"/>
                <a:cs typeface="Inter" pitchFamily="34" charset="-120"/>
              </a:rPr>
              <a:t>HOW · WORKED EXAMPLE</a:t>
            </a:r>
            <a:endParaRPr lang="en-US" sz="1088" dirty="0"/>
          </a:p>
        </p:txBody>
      </p:sp>
      <p:sp>
        <p:nvSpPr>
          <p:cNvPr id="3" name="Text 1"/>
          <p:cNvSpPr/>
          <p:nvPr/>
        </p:nvSpPr>
        <p:spPr>
          <a:xfrm>
            <a:off x="812800" y="1106488"/>
            <a:ext cx="10883392" cy="427964"/>
          </a:xfrm>
          <a:prstGeom prst="rect">
            <a:avLst/>
          </a:prstGeom>
          <a:noFill/>
          <a:ln/>
        </p:spPr>
        <p:txBody>
          <a:bodyPr wrap="square" lIns="0" tIns="0" rIns="0" bIns="0" rtlCol="0" anchor="t">
            <a:normAutofit/>
          </a:bodyPr>
          <a:lstStyle/>
          <a:p>
            <a:pPr algn="l" indent="0" marL="0">
              <a:lnSpc>
                <a:spcPts val="3168"/>
              </a:lnSpc>
              <a:buNone/>
            </a:pPr>
            <a:r>
              <a:rPr lang="en-US" sz="2880" dirty="0">
                <a:solidFill>
                  <a:srgbClr val="16213A"/>
                </a:solidFill>
                <a:latin typeface="Source Serif 4" pitchFamily="34" charset="0"/>
                <a:ea typeface="Source Serif 4" pitchFamily="34" charset="-122"/>
                <a:cs typeface="Source Serif 4" pitchFamily="34" charset="-120"/>
              </a:rPr>
              <a:t>A 10-K analysis agent, from request to seal</a:t>
            </a:r>
            <a:endParaRPr lang="en-US" sz="288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723538"/>
          <a:ext cx="10555111" cy="3409597"/>
        </p:xfrm>
        <a:graphic>
          <a:graphicData uri="http://schemas.openxmlformats.org/drawingml/2006/table">
            <a:tbl>
              <a:tblPr/>
              <a:tblGrid>
                <a:gridCol w="2638778"/>
                <a:gridCol w="2638778"/>
                <a:gridCol w="2638778"/>
                <a:gridCol w="2638778"/>
              </a:tblGrid>
              <a:tr h="340960">
                <a:tc>
                  <a:txBody>
                    <a:bodyPr/>
                    <a:lstStyle/>
                    <a:p>
                      <a:pPr indent="0" marL="0">
                        <a:lnSpc>
                          <a:spcPts val="1596"/>
                        </a:lnSpc>
                        <a:buNone/>
                      </a:pPr>
                      <a:r>
                        <a:rPr lang="en-US" sz="1140" b="1" dirty="0">
                          <a:solidFill>
                            <a:srgbClr val="F4F2EC"/>
                          </a:solidFill>
                          <a:latin typeface="Inter" pitchFamily="34" charset="0"/>
                          <a:ea typeface="Inter" pitchFamily="34" charset="-122"/>
                          <a:cs typeface="Inter" pitchFamily="34" charset="-120"/>
                        </a:rPr>
                        <a:t>Time</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596"/>
                        </a:lnSpc>
                        <a:buNone/>
                      </a:pPr>
                      <a:r>
                        <a:rPr lang="en-US" sz="1140" b="1" dirty="0">
                          <a:solidFill>
                            <a:srgbClr val="F4F2EC"/>
                          </a:solidFill>
                          <a:latin typeface="Inter" pitchFamily="34" charset="0"/>
                          <a:ea typeface="Inter" pitchFamily="34" charset="-122"/>
                          <a:cs typeface="Inter" pitchFamily="34" charset="-120"/>
                        </a:rPr>
                        <a:t>Step</a:t>
                      </a:r>
                      <a:endParaRPr lang="en-US" sz="1140" dirty="0">
                        <a:latin typeface="Inter" charset="0"/>
                        <a:ea typeface="Inter" charset="0"/>
                        <a:cs typeface="Inter" charset="0"/>
                      </a:endParaRPr>
                    </a:p>
                  </a:txBody>
                  <a:tcPr marL="101600" marR="101600" marT="63500" marB="635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596"/>
                        </a:lnSpc>
                        <a:buNone/>
                      </a:pPr>
                      <a:r>
                        <a:rPr lang="en-US" sz="1140" b="1" dirty="0">
                          <a:solidFill>
                            <a:srgbClr val="F4F2EC"/>
                          </a:solidFill>
                          <a:latin typeface="Inter" pitchFamily="34" charset="0"/>
                          <a:ea typeface="Inter" pitchFamily="34" charset="-122"/>
                          <a:cs typeface="Inter" pitchFamily="34" charset="-120"/>
                        </a:rPr>
                        <a:t>Ledger writes</a:t>
                      </a:r>
                      <a:endParaRPr lang="en-US" sz="1140" dirty="0">
                        <a:latin typeface="Inter" charset="0"/>
                        <a:ea typeface="Inter" charset="0"/>
                        <a:cs typeface="Inter" charset="0"/>
                      </a:endParaRPr>
                    </a:p>
                  </a:txBody>
                  <a:tcPr marL="101600" marR="101600" marT="63500" marB="635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596"/>
                        </a:lnSpc>
                        <a:buNone/>
                      </a:pPr>
                      <a:r>
                        <a:rPr lang="en-US" sz="1140" b="1" dirty="0">
                          <a:solidFill>
                            <a:srgbClr val="F4F2EC"/>
                          </a:solidFill>
                          <a:latin typeface="Inter" pitchFamily="34" charset="0"/>
                          <a:ea typeface="Inter" pitchFamily="34" charset="-122"/>
                          <a:cs typeface="Inter" pitchFamily="34" charset="-120"/>
                        </a:rPr>
                        <a:t>Also recorded in</a:t>
                      </a:r>
                      <a:endParaRPr lang="en-US" sz="1140" dirty="0">
                        <a:latin typeface="Inter" charset="0"/>
                        <a:ea typeface="Inter" charset="0"/>
                        <a:cs typeface="Inter" charset="0"/>
                      </a:endParaRPr>
                    </a:p>
                  </a:txBody>
                  <a:tcPr marL="101600" marR="101600" marT="63500" marB="635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340960">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0.0 s</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Analyst request</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request.started</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Arize root span</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40960">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0.4 s</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Plan retrieval</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proposed · decided (R1, allow)</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5A6374"/>
                          </a:solidFill>
                          <a:latin typeface="Inter" pitchFamily="34" charset="0"/>
                          <a:ea typeface="Inter" pitchFamily="34" charset="-122"/>
                          <a:cs typeface="Inter" pitchFamily="34" charset="-120"/>
                        </a:rPr>
                        <a:t>—</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40960">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0.9 s</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Fetch 10-K sections</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action.executed (doc IDs hashed)</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Arize retriever span</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40960">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2.1 s</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Compare year on year</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model.invoked</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AI Bridge, Apigee, Arize</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40960">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6.8 s</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Draft note to CRM</a:t>
                      </a:r>
                      <a:endParaRPr lang="en-US" sz="1140" dirty="0">
                        <a:latin typeface="Inter" charset="0"/>
                        <a:ea typeface="Inter" charset="0"/>
                        <a:cs typeface="Inter" charset="0"/>
                      </a:endParaRPr>
                    </a:p>
                  </a:txBody>
                  <a:tcPr marL="101600" marR="101600" marT="63500" marB="635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proposed · decided (R3, escalate)</a:t>
                      </a:r>
                      <a:endParaRPr lang="en-US" sz="1140" dirty="0">
                        <a:latin typeface="Inter" charset="0"/>
                        <a:ea typeface="Inter" charset="0"/>
                        <a:cs typeface="Inter" charset="0"/>
                      </a:endParaRPr>
                    </a:p>
                  </a:txBody>
                  <a:tcPr marL="101600" marR="101600" marT="63500" marB="635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596"/>
                        </a:lnSpc>
                        <a:buNone/>
                      </a:pPr>
                      <a:r>
                        <a:rPr lang="en-US" sz="1140" dirty="0">
                          <a:solidFill>
                            <a:srgbClr val="5A6374"/>
                          </a:solidFill>
                          <a:latin typeface="Inter" pitchFamily="34" charset="0"/>
                          <a:ea typeface="Inter" pitchFamily="34" charset="-122"/>
                          <a:cs typeface="Inter" pitchFamily="34" charset="-120"/>
                        </a:rPr>
                        <a:t>—</a:t>
                      </a:r>
                      <a:endParaRPr lang="en-US" sz="1140" dirty="0">
                        <a:latin typeface="Inter" charset="0"/>
                        <a:ea typeface="Inter" charset="0"/>
                        <a:cs typeface="Inter" charset="0"/>
                      </a:endParaRPr>
                    </a:p>
                  </a:txBody>
                  <a:tcPr marL="101600" marR="101600" marT="63500" marB="635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r>
              <a:tr h="340960">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2 m 00 s</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Credit officer approves</a:t>
                      </a:r>
                      <a:endParaRPr lang="en-US" sz="1140" dirty="0">
                        <a:latin typeface="Inter" charset="0"/>
                        <a:ea typeface="Inter" charset="0"/>
                        <a:cs typeface="Inter" charset="0"/>
                      </a:endParaRPr>
                    </a:p>
                  </a:txBody>
                  <a:tcPr marL="101600" marR="101600" marT="63500" marB="635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approval.recorded</a:t>
                      </a:r>
                      <a:endParaRPr lang="en-US" sz="1140" dirty="0">
                        <a:latin typeface="Inter" charset="0"/>
                        <a:ea typeface="Inter" charset="0"/>
                        <a:cs typeface="Inter" charset="0"/>
                      </a:endParaRPr>
                    </a:p>
                  </a:txBody>
                  <a:tcPr marL="101600" marR="101600" marT="63500" marB="635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Workflow inbox</a:t>
                      </a:r>
                      <a:endParaRPr lang="en-US" sz="1140" dirty="0">
                        <a:latin typeface="Inter" charset="0"/>
                        <a:ea typeface="Inter" charset="0"/>
                        <a:cs typeface="Inter" charset="0"/>
                      </a:endParaRPr>
                    </a:p>
                  </a:txBody>
                  <a:tcPr marL="101600" marR="101600" marT="63500" marB="635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r>
              <a:tr h="340960">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2 m 01 s</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Write note to CRM</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action.executed (sync)</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Arize tool span</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40960">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2 m 02 s</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Run ends</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session.closed, head hash</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Arize trace closed</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40960">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Batch</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Seal</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16213A"/>
                          </a:solidFill>
                          <a:latin typeface="Inter" pitchFamily="34" charset="0"/>
                          <a:ea typeface="Inter" pitchFamily="34" charset="-122"/>
                          <a:cs typeface="Inter" pitchFamily="34" charset="-120"/>
                        </a:rPr>
                        <a:t>checkpoint.sealed → WORM</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96"/>
                        </a:lnSpc>
                        <a:buNone/>
                      </a:pPr>
                      <a:r>
                        <a:rPr lang="en-US" sz="1140" dirty="0">
                          <a:solidFill>
                            <a:srgbClr val="5A6374"/>
                          </a:solidFill>
                          <a:latin typeface="Inter" pitchFamily="34" charset="0"/>
                          <a:ea typeface="Inter" pitchFamily="34" charset="-122"/>
                          <a:cs typeface="Inter" pitchFamily="34" charset="-120"/>
                        </a:rPr>
                        <a:t>—</a:t>
                      </a:r>
                      <a:endParaRPr lang="en-US" sz="114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
        <p:nvSpPr>
          <p:cNvPr id="5" name="Shape 2"/>
          <p:cNvSpPr/>
          <p:nvPr/>
        </p:nvSpPr>
        <p:spPr>
          <a:xfrm>
            <a:off x="812800" y="5335234"/>
            <a:ext cx="10566400" cy="506765"/>
          </a:xfrm>
          <a:prstGeom prst="roundRect">
            <a:avLst>
              <a:gd name="adj" fmla="val 15037"/>
            </a:avLst>
          </a:prstGeom>
          <a:solidFill>
            <a:srgbClr val="16213A"/>
          </a:solidFill>
          <a:ln/>
        </p:spPr>
      </p:sp>
      <p:sp>
        <p:nvSpPr>
          <p:cNvPr id="6" name="Text 3"/>
          <p:cNvSpPr/>
          <p:nvPr/>
        </p:nvSpPr>
        <p:spPr>
          <a:xfrm>
            <a:off x="1041400" y="5481948"/>
            <a:ext cx="1320800"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3A060"/>
                </a:solidFill>
                <a:latin typeface="Inter" pitchFamily="34" charset="0"/>
                <a:ea typeface="Inter" pitchFamily="34" charset="-122"/>
                <a:cs typeface="Inter" pitchFamily="34" charset="-120"/>
              </a:rPr>
              <a:t>SIZING</a:t>
            </a:r>
            <a:endParaRPr lang="en-US" sz="1200" dirty="0"/>
          </a:p>
        </p:txBody>
      </p:sp>
      <p:sp>
        <p:nvSpPr>
          <p:cNvPr id="7" name="Text 4"/>
          <p:cNvSpPr/>
          <p:nvPr/>
        </p:nvSpPr>
        <p:spPr>
          <a:xfrm>
            <a:off x="2463800" y="5478152"/>
            <a:ext cx="8947404" cy="24637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4F2EC"/>
                </a:solidFill>
                <a:latin typeface="Inter" pitchFamily="34" charset="0"/>
                <a:ea typeface="Inter" pitchFamily="34" charset="-122"/>
                <a:cs typeface="Inter" pitchFamily="34" charset="-120"/>
              </a:rPr>
              <a:t>10 entries per run ≈ 5–10 KB. At [__] runs a day across [__] agents: ≈ [__] GB a year before compression.</a:t>
            </a:r>
            <a:endParaRPr lang="en-US" sz="1200" dirty="0"/>
          </a:p>
        </p:txBody>
      </p:sp>
      <p:sp>
        <p:nvSpPr>
          <p:cNvPr id="8" name="Text 5"/>
          <p:cNvSpPr/>
          <p:nvPr/>
        </p:nvSpPr>
        <p:spPr>
          <a:xfrm>
            <a:off x="812800" y="6238261"/>
            <a:ext cx="289762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Agent Audit Ledger · executive briefing</a:t>
            </a:r>
            <a:endParaRPr lang="en-US" sz="1200" dirty="0"/>
          </a:p>
        </p:txBody>
      </p:sp>
      <p:sp>
        <p:nvSpPr>
          <p:cNvPr id="9" name="Text 6"/>
          <p:cNvSpPr/>
          <p:nvPr/>
        </p:nvSpPr>
        <p:spPr>
          <a:xfrm>
            <a:off x="11218730" y="6238261"/>
            <a:ext cx="21127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213"/>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HOW · MULTI-AGENT EXAMPLE</a:t>
            </a:r>
            <a:endParaRPr lang="en-US" sz="1200" dirty="0"/>
          </a:p>
        </p:txBody>
      </p:sp>
      <p:sp>
        <p:nvSpPr>
          <p:cNvPr id="3" name="Text 1"/>
          <p:cNvSpPr/>
          <p:nvPr/>
        </p:nvSpPr>
        <p:spPr>
          <a:xfrm>
            <a:off x="812800" y="1127212"/>
            <a:ext cx="10883392" cy="471311"/>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6213A"/>
                </a:solidFill>
                <a:latin typeface="Source Serif 4" pitchFamily="34" charset="0"/>
                <a:ea typeface="Source Serif 4" pitchFamily="34" charset="-122"/>
                <a:cs typeface="Source Serif 4" pitchFamily="34" charset="-120"/>
              </a:rPr>
              <a:t>One prompt becomes a tree of agent work</a:t>
            </a:r>
            <a:endParaRPr lang="en-US" sz="3200" dirty="0"/>
          </a:p>
        </p:txBody>
      </p:sp>
      <p:pic>
        <p:nvPicPr>
          <p:cNvPr id="4" name="Image 0" descr="One user request fans out: routing agent delegates to a RAG agent and a text-to-SQL agent, which query a vector store and MongoDB through MCP servers; both feed the final answer. Each step is labelled with its ledger event.">    </p:cNvPr>
          <p:cNvPicPr>
            <a:picLocks noChangeAspect="1"/>
          </p:cNvPicPr>
          <p:nvPr/>
        </p:nvPicPr>
        <p:blipFill>
          <a:blip r:embed="rId1"/>
          <a:srcRect l="-138" r="-138" t="0" b="0"/>
          <a:stretch/>
        </p:blipFill>
        <p:spPr>
          <a:xfrm>
            <a:off x="812800" y="1776326"/>
            <a:ext cx="10566400" cy="3421548"/>
          </a:xfrm>
          <a:prstGeom prst="rect">
            <a:avLst/>
          </a:prstGeom>
        </p:spPr>
      </p:pic>
      <p:sp>
        <p:nvSpPr>
          <p:cNvPr id="5" name="Text 2"/>
          <p:cNvSpPr/>
          <p:nvPr/>
        </p:nvSpPr>
        <p:spPr>
          <a:xfrm>
            <a:off x="812800" y="5401072"/>
            <a:ext cx="10883392" cy="466328"/>
          </a:xfrm>
          <a:prstGeom prst="rect">
            <a:avLst/>
          </a:prstGeom>
          <a:noFill/>
          <a:ln/>
        </p:spPr>
        <p:txBody>
          <a:bodyPr wrap="square" lIns="0" tIns="0" rIns="0" bIns="0" rtlCol="0" anchor="t">
            <a:normAutofit/>
          </a:bodyPr>
          <a:lstStyle/>
          <a:p>
            <a:pPr algn="l" indent="0" marL="0">
              <a:lnSpc>
                <a:spcPts val="1735"/>
              </a:lnSpc>
              <a:buNone/>
            </a:pPr>
            <a:r>
              <a:rPr lang="en-US" sz="1196" dirty="0">
                <a:solidFill>
                  <a:srgbClr val="3A4458"/>
                </a:solidFill>
                <a:latin typeface="Inter" pitchFamily="34" charset="0"/>
                <a:ea typeface="Inter" pitchFamily="34" charset="-122"/>
                <a:cs typeface="Inter" pitchFamily="34" charset="-120"/>
              </a:rPr>
              <a:t>One root request; every delegation, retrieval, query and the final answer links back to it. </a:t>
            </a:r>
            <a:r>
              <a:rPr lang="en-US" sz="1196" dirty="0">
                <a:solidFill>
                  <a:srgbClr val="5A6374"/>
                </a:solidFill>
                <a:latin typeface="Inter" pitchFamily="34" charset="0"/>
                <a:ea typeface="Inter" pitchFamily="34" charset="-122"/>
                <a:cs typeface="Inter" pitchFamily="34" charset="-120"/>
              </a:rPr>
              <a:t>retrieval.completed and data_query.completed are typed forms of action.executed.</a:t>
            </a:r>
            <a:endParaRPr lang="en-US" sz="1196" dirty="0"/>
          </a:p>
        </p:txBody>
      </p:sp>
      <p:sp>
        <p:nvSpPr>
          <p:cNvPr id="6" name="Text 3"/>
          <p:cNvSpPr/>
          <p:nvPr/>
        </p:nvSpPr>
        <p:spPr>
          <a:xfrm>
            <a:off x="812800" y="6238261"/>
            <a:ext cx="289762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Agent Audit Ledger · executive briefing</a:t>
            </a:r>
            <a:endParaRPr lang="en-US" sz="1200" dirty="0"/>
          </a:p>
        </p:txBody>
      </p:sp>
      <p:sp>
        <p:nvSpPr>
          <p:cNvPr id="7" name="Text 4"/>
          <p:cNvSpPr/>
          <p:nvPr/>
        </p:nvSpPr>
        <p:spPr>
          <a:xfrm>
            <a:off x="11226800" y="6238261"/>
            <a:ext cx="2032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192705"/>
          </a:xfrm>
          <a:prstGeom prst="rect">
            <a:avLst/>
          </a:prstGeom>
          <a:noFill/>
          <a:ln/>
        </p:spPr>
        <p:txBody>
          <a:bodyPr wrap="square" lIns="0" tIns="0" rIns="0" bIns="0" rtlCol="0" anchor="t">
            <a:normAutofit/>
          </a:bodyPr>
          <a:lstStyle/>
          <a:p>
            <a:pPr algn="l" indent="0" marL="0">
              <a:lnSpc>
                <a:spcPts val="1323"/>
              </a:lnSpc>
              <a:buNone/>
            </a:pPr>
            <a:r>
              <a:rPr lang="en-US" sz="945" b="1" spc="100" kern="0" dirty="0">
                <a:solidFill>
                  <a:srgbClr val="9C4F0A"/>
                </a:solidFill>
                <a:latin typeface="Inter" pitchFamily="34" charset="0"/>
                <a:ea typeface="Inter" pitchFamily="34" charset="-122"/>
                <a:cs typeface="Inter" pitchFamily="34" charset="-120"/>
              </a:rPr>
              <a:t>HOW · MULTI-AGENT EXAMPLE</a:t>
            </a:r>
            <a:endParaRPr lang="en-US" sz="945" dirty="0"/>
          </a:p>
        </p:txBody>
      </p:sp>
      <p:sp>
        <p:nvSpPr>
          <p:cNvPr id="3" name="Text 1"/>
          <p:cNvSpPr/>
          <p:nvPr/>
        </p:nvSpPr>
        <p:spPr>
          <a:xfrm>
            <a:off x="812800" y="1081708"/>
            <a:ext cx="10883392" cy="375929"/>
          </a:xfrm>
          <a:prstGeom prst="rect">
            <a:avLst/>
          </a:prstGeom>
          <a:noFill/>
          <a:ln/>
        </p:spPr>
        <p:txBody>
          <a:bodyPr wrap="square" lIns="0" tIns="0" rIns="0" bIns="0" rtlCol="0" anchor="t">
            <a:normAutofit/>
          </a:bodyPr>
          <a:lstStyle/>
          <a:p>
            <a:pPr algn="l" indent="0" marL="0">
              <a:lnSpc>
                <a:spcPts val="2772"/>
              </a:lnSpc>
              <a:buNone/>
            </a:pPr>
            <a:r>
              <a:rPr lang="en-US" sz="2520" dirty="0">
                <a:solidFill>
                  <a:srgbClr val="16213A"/>
                </a:solidFill>
                <a:latin typeface="Source Serif 4" pitchFamily="34" charset="0"/>
                <a:ea typeface="Source Serif 4" pitchFamily="34" charset="-122"/>
                <a:cs typeface="Source Serif 4" pitchFamily="34" charset="-120"/>
              </a:rPr>
              <a:t>What each step leaves in the ledger</a:t>
            </a:r>
            <a:endParaRPr lang="en-US" sz="252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646724"/>
          <a:ext cx="10555111" cy="3327929"/>
        </p:xfrm>
        <a:graphic>
          <a:graphicData uri="http://schemas.openxmlformats.org/drawingml/2006/table">
            <a:tbl>
              <a:tblPr/>
              <a:tblGrid>
                <a:gridCol w="3518370"/>
                <a:gridCol w="3518370"/>
                <a:gridCol w="3518370"/>
              </a:tblGrid>
              <a:tr h="323585">
                <a:tc>
                  <a:txBody>
                    <a:bodyPr/>
                    <a:lstStyle/>
                    <a:p>
                      <a:pPr indent="0" marL="0">
                        <a:lnSpc>
                          <a:spcPts val="1460"/>
                        </a:lnSpc>
                        <a:buNone/>
                      </a:pPr>
                      <a:r>
                        <a:rPr lang="en-US" sz="1043" b="1" dirty="0">
                          <a:solidFill>
                            <a:srgbClr val="F4F2EC"/>
                          </a:solidFill>
                          <a:latin typeface="Inter" pitchFamily="34" charset="0"/>
                          <a:ea typeface="Inter" pitchFamily="34" charset="-122"/>
                          <a:cs typeface="Inter" pitchFamily="34" charset="-120"/>
                        </a:rPr>
                        <a:t>Step</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460"/>
                        </a:lnSpc>
                        <a:buNone/>
                      </a:pPr>
                      <a:r>
                        <a:rPr lang="en-US" sz="1043" b="1" dirty="0">
                          <a:solidFill>
                            <a:srgbClr val="F4F2EC"/>
                          </a:solidFill>
                          <a:latin typeface="Inter" pitchFamily="34" charset="0"/>
                          <a:ea typeface="Inter" pitchFamily="34" charset="-122"/>
                          <a:cs typeface="Inter" pitchFamily="34" charset="-120"/>
                        </a:rPr>
                        <a:t>Ledger event</a:t>
                      </a:r>
                      <a:endParaRPr lang="en-US" sz="1043" dirty="0">
                        <a:latin typeface="Inter" charset="0"/>
                        <a:ea typeface="Inter" charset="0"/>
                        <a:cs typeface="Inter" charset="0"/>
                      </a:endParaRPr>
                    </a:p>
                  </a:txBody>
                  <a:tcPr marL="101600" marR="101600" marT="63500" marB="635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460"/>
                        </a:lnSpc>
                        <a:buNone/>
                      </a:pPr>
                      <a:r>
                        <a:rPr lang="en-US" sz="1043" b="1" dirty="0">
                          <a:solidFill>
                            <a:srgbClr val="F4F2EC"/>
                          </a:solidFill>
                          <a:latin typeface="Inter" pitchFamily="34" charset="0"/>
                          <a:ea typeface="Inter" pitchFamily="34" charset="-122"/>
                          <a:cs typeface="Inter" pitchFamily="34" charset="-120"/>
                        </a:rPr>
                        <a:t>Key evidence</a:t>
                      </a:r>
                      <a:endParaRPr lang="en-US" sz="1043" dirty="0">
                        <a:latin typeface="Inter" charset="0"/>
                        <a:ea typeface="Inter" charset="0"/>
                        <a:cs typeface="Inter" charset="0"/>
                      </a:endParaRPr>
                    </a:p>
                  </a:txBody>
                  <a:tcPr marL="101600" marR="101600" marT="63500" marB="635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323585">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Request accepted</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request.started</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verified initiator, use case, root run_id, prompt digest</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23585">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Router chooses</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routing.decided</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agents selected, routing policy version, reason code</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08397">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Router delegates</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agent.delegated ×2</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parent and child agent_run_id, task, delegated scope</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08397">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RAG retrieves</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retrieval.completed</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MCP server, index version, filter digest, doc IDs, count</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08397">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SQL queries</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data_query.completed</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MCP server, collection, query digest, read-only grant, rows</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23585">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Branches return</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agent.completed ×2</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status, output digest, evidence references</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08397">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Answer composed</a:t>
                      </a:r>
                      <a:endParaRPr lang="en-US" sz="1043"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response.completed</a:t>
                      </a:r>
                      <a:endParaRPr lang="en-US" sz="1043" dirty="0">
                        <a:latin typeface="Inter" charset="0"/>
                        <a:ea typeface="Inter" charset="0"/>
                        <a:cs typeface="Inter" charset="0"/>
                      </a:endParaRPr>
                    </a:p>
                  </a:txBody>
                  <a:tcPr marL="101600" marR="101600" marT="63500" marB="635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460"/>
                        </a:lnSpc>
                        <a:buNone/>
                      </a:pPr>
                      <a:r>
                        <a:rPr lang="en-US" sz="1043" dirty="0">
                          <a:solidFill>
                            <a:srgbClr val="16213A"/>
                          </a:solidFill>
                          <a:latin typeface="Inter" pitchFamily="34" charset="0"/>
                          <a:ea typeface="Inter" pitchFamily="34" charset="-122"/>
                          <a:cs typeface="Inter" pitchFamily="34" charset="-120"/>
                        </a:rPr>
                        <a:t>answer digest, cited sources, contributing agent runs</a:t>
                      </a:r>
                      <a:endParaRPr lang="en-US" sz="1043" dirty="0">
                        <a:latin typeface="Inter" charset="0"/>
                        <a:ea typeface="Inter" charset="0"/>
                        <a:cs typeface="Inter" charset="0"/>
                      </a:endParaRPr>
                    </a:p>
                  </a:txBody>
                  <a:tcPr marL="101600" marR="101600" marT="63500" marB="635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r>
            </a:tbl>
          </a:graphicData>
        </a:graphic>
      </p:graphicFrame>
      <p:sp>
        <p:nvSpPr>
          <p:cNvPr id="5" name="Shape 2"/>
          <p:cNvSpPr/>
          <p:nvPr/>
        </p:nvSpPr>
        <p:spPr>
          <a:xfrm>
            <a:off x="812800" y="5177854"/>
            <a:ext cx="10566400" cy="664148"/>
          </a:xfrm>
          <a:prstGeom prst="roundRect">
            <a:avLst>
              <a:gd name="adj" fmla="val 11473"/>
            </a:avLst>
          </a:prstGeom>
          <a:solidFill>
            <a:srgbClr val="16213A"/>
          </a:solidFill>
          <a:ln/>
        </p:spPr>
      </p:sp>
      <p:sp>
        <p:nvSpPr>
          <p:cNvPr id="6" name="Text 3"/>
          <p:cNvSpPr/>
          <p:nvPr/>
        </p:nvSpPr>
        <p:spPr>
          <a:xfrm>
            <a:off x="1041400" y="5296607"/>
            <a:ext cx="1701800" cy="45208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3A060"/>
                </a:solidFill>
                <a:latin typeface="Inter" pitchFamily="34" charset="0"/>
                <a:ea typeface="Inter" pitchFamily="34" charset="-122"/>
                <a:cs typeface="Inter" pitchFamily="34" charset="-120"/>
              </a:rPr>
              <a:t>NOT IN THE LEDGER</a:t>
            </a:r>
            <a:endParaRPr lang="en-US" sz="1200" dirty="0"/>
          </a:p>
        </p:txBody>
      </p:sp>
      <p:sp>
        <p:nvSpPr>
          <p:cNvPr id="7" name="Text 4"/>
          <p:cNvSpPr/>
          <p:nvPr/>
        </p:nvSpPr>
        <p:spPr>
          <a:xfrm>
            <a:off x="2844800" y="5288979"/>
            <a:ext cx="8554974" cy="46734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4F2EC"/>
                </a:solidFill>
                <a:latin typeface="Inter" pitchFamily="34" charset="0"/>
                <a:ea typeface="Inter" pitchFamily="34" charset="-122"/>
                <a:cs typeface="Inter" pitchFamily="34" charset="-120"/>
              </a:rPr>
              <a:t>Tokens, retrieved chunks, vector scores and MongoDB documents. Arize keeps the detailed trace; the ledger keeps the decisions and references needed to rebuild the answer.</a:t>
            </a:r>
            <a:endParaRPr lang="en-US" sz="1200" dirty="0"/>
          </a:p>
        </p:txBody>
      </p:sp>
      <p:sp>
        <p:nvSpPr>
          <p:cNvPr id="8" name="Text 5"/>
          <p:cNvSpPr/>
          <p:nvPr/>
        </p:nvSpPr>
        <p:spPr>
          <a:xfrm>
            <a:off x="812800" y="6238255"/>
            <a:ext cx="289762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Agent Audit Ledger · executive briefing</a:t>
            </a:r>
            <a:endParaRPr lang="en-US" sz="1200" dirty="0"/>
          </a:p>
        </p:txBody>
      </p:sp>
      <p:sp>
        <p:nvSpPr>
          <p:cNvPr id="9" name="Text 6"/>
          <p:cNvSpPr/>
          <p:nvPr/>
        </p:nvSpPr>
        <p:spPr>
          <a:xfrm>
            <a:off x="11222699" y="6238255"/>
            <a:ext cx="207301"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HOW · CORRELATION</a:t>
            </a:r>
            <a:endParaRPr lang="en-US" sz="1200" dirty="0"/>
          </a:p>
        </p:txBody>
      </p:sp>
      <p:sp>
        <p:nvSpPr>
          <p:cNvPr id="3" name="Text 1"/>
          <p:cNvSpPr/>
          <p:nvPr/>
        </p:nvSpPr>
        <p:spPr>
          <a:xfrm>
            <a:off x="812800" y="112774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6213A"/>
                </a:solidFill>
                <a:latin typeface="Source Serif 4" pitchFamily="34" charset="0"/>
                <a:ea typeface="Source Serif 4" pitchFamily="34" charset="-122"/>
                <a:cs typeface="Source Serif 4" pitchFamily="34" charset="-120"/>
              </a:rPr>
              <a:t>Eight IDs turn a log into a causal graph</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789252"/>
          <a:ext cx="6719711" cy="3378024"/>
        </p:xfrm>
        <a:graphic>
          <a:graphicData uri="http://schemas.openxmlformats.org/drawingml/2006/table">
            <a:tbl>
              <a:tblPr/>
              <a:tblGrid>
                <a:gridCol w="3359856"/>
                <a:gridCol w="3359856"/>
              </a:tblGrid>
              <a:tr h="351631">
                <a:tc>
                  <a:txBody>
                    <a:bodyPr/>
                    <a:lstStyle/>
                    <a:p>
                      <a:pPr indent="0" marL="0">
                        <a:lnSpc>
                          <a:spcPts val="1680"/>
                        </a:lnSpc>
                        <a:buNone/>
                      </a:pPr>
                      <a:r>
                        <a:rPr lang="en-US" sz="1200" b="1" dirty="0">
                          <a:solidFill>
                            <a:srgbClr val="F4F2EC"/>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680"/>
                        </a:lnSpc>
                        <a:buNone/>
                      </a:pPr>
                      <a:r>
                        <a:rPr lang="en-US" sz="1200" b="1" dirty="0">
                          <a:solidFill>
                            <a:srgbClr val="F4F2EC"/>
                          </a:solidFill>
                          <a:latin typeface="Inter" pitchFamily="34" charset="0"/>
                          <a:ea typeface="Inter" pitchFamily="34" charset="-122"/>
                          <a:cs typeface="Inter" pitchFamily="34" charset="-120"/>
                        </a:rPr>
                        <a:t>Identifies</a:t>
                      </a:r>
                      <a:endParaRPr lang="en-US" sz="1200" dirty="0">
                        <a:latin typeface="Inter" charset="0"/>
                        <a:ea typeface="Inter" charset="0"/>
                        <a:cs typeface="Inter" charset="0"/>
                      </a:endParaRPr>
                    </a:p>
                  </a:txBody>
                  <a:tcPr marL="101600" marR="101600" marT="63500" marB="635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3516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request_id</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the one user prompt</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16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run_id</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the whole workflow execution</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16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agent_run_id</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one execution of one agent</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16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parent_agent_run_id</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the agent that delegated it</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16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task_id</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the delegated task; survives retries</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16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action_id</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one retrieval, query or model call</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516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trace_id · span_id</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the matching Arize trace</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64974">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source_request_id</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MCP, vector store, MongoDB, AI Bridge or Apigee request</a:t>
                      </a:r>
                      <a:endParaRPr lang="en-US" sz="120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
        <p:nvSpPr>
          <p:cNvPr id="5" name="Shape 2"/>
          <p:cNvSpPr/>
          <p:nvPr/>
        </p:nvSpPr>
        <p:spPr>
          <a:xfrm>
            <a:off x="7797800" y="1777963"/>
            <a:ext cx="3581400" cy="3389313"/>
          </a:xfrm>
          <a:prstGeom prst="roundRect">
            <a:avLst>
              <a:gd name="adj" fmla="val 2248"/>
            </a:avLst>
          </a:prstGeom>
          <a:solidFill>
            <a:srgbClr val="16213A"/>
          </a:solidFill>
          <a:ln/>
        </p:spPr>
      </p:sp>
      <p:sp>
        <p:nvSpPr>
          <p:cNvPr id="6" name="Text 3"/>
          <p:cNvSpPr/>
          <p:nvPr/>
        </p:nvSpPr>
        <p:spPr>
          <a:xfrm>
            <a:off x="8026400" y="2006563"/>
            <a:ext cx="3217926"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3A060"/>
                </a:solidFill>
                <a:latin typeface="Inter" pitchFamily="34" charset="0"/>
                <a:ea typeface="Inter" pitchFamily="34" charset="-122"/>
                <a:cs typeface="Inter" pitchFamily="34" charset="-120"/>
              </a:rPr>
              <a:t>WHY A GRAPH, NOT A LIST</a:t>
            </a:r>
            <a:endParaRPr lang="en-US" sz="1200" dirty="0"/>
          </a:p>
        </p:txBody>
      </p:sp>
      <p:sp>
        <p:nvSpPr>
          <p:cNvPr id="7" name="Text 4"/>
          <p:cNvSpPr/>
          <p:nvPr/>
        </p:nvSpPr>
        <p:spPr>
          <a:xfrm>
            <a:off x="8026400" y="2346896"/>
            <a:ext cx="3217926" cy="46734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4F2EC"/>
                </a:solidFill>
                <a:latin typeface="Inter" pitchFamily="34" charset="0"/>
                <a:ea typeface="Inter" pitchFamily="34" charset="-122"/>
                <a:cs typeface="Inter" pitchFamily="34" charset="-120"/>
              </a:rPr>
              <a:t>Branches run in parallel, so timestamps alone mislead.</a:t>
            </a:r>
            <a:endParaRPr lang="en-US" sz="1200" dirty="0"/>
          </a:p>
        </p:txBody>
      </p:sp>
      <p:sp>
        <p:nvSpPr>
          <p:cNvPr id="8" name="Text 5"/>
          <p:cNvSpPr/>
          <p:nvPr/>
        </p:nvSpPr>
        <p:spPr>
          <a:xfrm>
            <a:off x="8026400" y="2915841"/>
            <a:ext cx="3217926" cy="46734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4F2EC"/>
                </a:solidFill>
                <a:latin typeface="Inter" pitchFamily="34" charset="0"/>
                <a:ea typeface="Inter" pitchFamily="34" charset="-122"/>
                <a:cs typeface="Inter" pitchFamily="34" charset="-120"/>
              </a:rPr>
              <a:t>A branch can retry on its own; task_id ties the attempts together.</a:t>
            </a:r>
            <a:endParaRPr lang="en-US" sz="1200" dirty="0"/>
          </a:p>
        </p:txBody>
      </p:sp>
      <p:sp>
        <p:nvSpPr>
          <p:cNvPr id="9" name="Text 6"/>
          <p:cNvSpPr/>
          <p:nvPr/>
        </p:nvSpPr>
        <p:spPr>
          <a:xfrm>
            <a:off x="8026400" y="3484786"/>
            <a:ext cx="3217926" cy="46734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4F2EC"/>
                </a:solidFill>
                <a:latin typeface="Inter" pitchFamily="34" charset="0"/>
                <a:ea typeface="Inter" pitchFamily="34" charset="-122"/>
                <a:cs typeface="Inter" pitchFamily="34" charset="-120"/>
              </a:rPr>
              <a:t>Agents can delegate again; parent links keep the full chain.</a:t>
            </a:r>
            <a:endParaRPr lang="en-US" sz="1200" dirty="0"/>
          </a:p>
        </p:txBody>
      </p:sp>
      <p:sp>
        <p:nvSpPr>
          <p:cNvPr id="10" name="Text 7"/>
          <p:cNvSpPr/>
          <p:nvPr/>
        </p:nvSpPr>
        <p:spPr>
          <a:xfrm>
            <a:off x="812800" y="6238255"/>
            <a:ext cx="289762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Agent Audit Ledger · executive briefing</a:t>
            </a:r>
            <a:endParaRPr lang="en-US" sz="1200" dirty="0"/>
          </a:p>
        </p:txBody>
      </p:sp>
      <p:sp>
        <p:nvSpPr>
          <p:cNvPr id="11" name="Text 8"/>
          <p:cNvSpPr/>
          <p:nvPr/>
        </p:nvSpPr>
        <p:spPr>
          <a:xfrm>
            <a:off x="11230945" y="6238255"/>
            <a:ext cx="199055"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12108"/>
          </a:xfrm>
          <a:prstGeom prst="rect">
            <a:avLst/>
          </a:prstGeom>
          <a:noFill/>
          <a:ln/>
        </p:spPr>
        <p:txBody>
          <a:bodyPr wrap="square" lIns="0" tIns="0" rIns="0" bIns="0" rtlCol="0" anchor="t">
            <a:normAutofit/>
          </a:bodyPr>
          <a:lstStyle/>
          <a:p>
            <a:pPr algn="l" indent="0" marL="0">
              <a:lnSpc>
                <a:spcPts val="1470"/>
              </a:lnSpc>
              <a:buNone/>
            </a:pPr>
            <a:r>
              <a:rPr lang="en-US" sz="1050" b="1" spc="100" kern="0" dirty="0">
                <a:solidFill>
                  <a:srgbClr val="9C4F0A"/>
                </a:solidFill>
                <a:latin typeface="Inter" pitchFamily="34" charset="0"/>
                <a:ea typeface="Inter" pitchFamily="34" charset="-122"/>
                <a:cs typeface="Inter" pitchFamily="34" charset="-120"/>
              </a:rPr>
              <a:t>WHERE IT LIVES · RETENTION</a:t>
            </a:r>
            <a:endParaRPr lang="en-US" sz="1050" dirty="0"/>
          </a:p>
        </p:txBody>
      </p:sp>
      <p:sp>
        <p:nvSpPr>
          <p:cNvPr id="3" name="Text 1"/>
          <p:cNvSpPr/>
          <p:nvPr/>
        </p:nvSpPr>
        <p:spPr>
          <a:xfrm>
            <a:off x="812800" y="1101105"/>
            <a:ext cx="10883392" cy="416631"/>
          </a:xfrm>
          <a:prstGeom prst="rect">
            <a:avLst/>
          </a:prstGeom>
          <a:noFill/>
          <a:ln/>
        </p:spPr>
        <p:txBody>
          <a:bodyPr wrap="square" lIns="0" tIns="0" rIns="0" bIns="0" rtlCol="0" anchor="t">
            <a:normAutofit/>
          </a:bodyPr>
          <a:lstStyle/>
          <a:p>
            <a:pPr algn="l" indent="0" marL="0">
              <a:lnSpc>
                <a:spcPts val="3124"/>
              </a:lnSpc>
              <a:buNone/>
            </a:pPr>
            <a:r>
              <a:rPr lang="en-US" sz="2840" dirty="0">
                <a:solidFill>
                  <a:srgbClr val="16213A"/>
                </a:solidFill>
                <a:latin typeface="Source Serif 4" pitchFamily="34" charset="0"/>
                <a:ea typeface="Source Serif 4" pitchFamily="34" charset="-122"/>
                <a:cs typeface="Source Serif 4" pitchFamily="34" charset="-120"/>
              </a:rPr>
              <a:t>On-prem WORM primary, GCP secondary</a:t>
            </a:r>
            <a:endParaRPr lang="en-US" sz="284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706826"/>
          <a:ext cx="10555111" cy="3079926"/>
        </p:xfrm>
        <a:graphic>
          <a:graphicData uri="http://schemas.openxmlformats.org/drawingml/2006/table">
            <a:tbl>
              <a:tblPr/>
              <a:tblGrid>
                <a:gridCol w="2638778"/>
                <a:gridCol w="2638778"/>
                <a:gridCol w="2638778"/>
                <a:gridCol w="2638778"/>
              </a:tblGrid>
              <a:tr h="335624">
                <a:tc>
                  <a:txBody>
                    <a:bodyPr/>
                    <a:lstStyle/>
                    <a:p>
                      <a:pPr indent="0" marL="0">
                        <a:lnSpc>
                          <a:spcPts val="1554"/>
                        </a:lnSpc>
                        <a:buNone/>
                      </a:pPr>
                      <a:r>
                        <a:rPr lang="en-US" sz="1110" b="1" dirty="0">
                          <a:solidFill>
                            <a:srgbClr val="F4F2EC"/>
                          </a:solidFill>
                          <a:latin typeface="Inter" pitchFamily="34" charset="0"/>
                          <a:ea typeface="Inter" pitchFamily="34" charset="-122"/>
                          <a:cs typeface="Inter" pitchFamily="34" charset="-120"/>
                        </a:rPr>
                        <a:t>Data</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554"/>
                        </a:lnSpc>
                        <a:buNone/>
                      </a:pPr>
                      <a:r>
                        <a:rPr lang="en-US" sz="1110" b="1" dirty="0">
                          <a:solidFill>
                            <a:srgbClr val="F4F2EC"/>
                          </a:solidFill>
                          <a:latin typeface="Inter" pitchFamily="34" charset="0"/>
                          <a:ea typeface="Inter" pitchFamily="34" charset="-122"/>
                          <a:cs typeface="Inter" pitchFamily="34" charset="-120"/>
                        </a:rPr>
                        <a:t>Store</a:t>
                      </a:r>
                      <a:endParaRPr lang="en-US" sz="1110" dirty="0">
                        <a:latin typeface="Inter" charset="0"/>
                        <a:ea typeface="Inter" charset="0"/>
                        <a:cs typeface="Inter" charset="0"/>
                      </a:endParaRPr>
                    </a:p>
                  </a:txBody>
                  <a:tcPr marL="101600" marR="101600" marT="63500" marB="635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554"/>
                        </a:lnSpc>
                        <a:buNone/>
                      </a:pPr>
                      <a:r>
                        <a:rPr lang="en-US" sz="1110" b="1" dirty="0">
                          <a:solidFill>
                            <a:srgbClr val="F4F2EC"/>
                          </a:solidFill>
                          <a:latin typeface="Inter" pitchFamily="34" charset="0"/>
                          <a:ea typeface="Inter" pitchFamily="34" charset="-122"/>
                          <a:cs typeface="Inter" pitchFamily="34" charset="-120"/>
                        </a:rPr>
                        <a:t>Role</a:t>
                      </a:r>
                      <a:endParaRPr lang="en-US" sz="1110" dirty="0">
                        <a:latin typeface="Inter" charset="0"/>
                        <a:ea typeface="Inter" charset="0"/>
                        <a:cs typeface="Inter" charset="0"/>
                      </a:endParaRPr>
                    </a:p>
                  </a:txBody>
                  <a:tcPr marL="101600" marR="101600" marT="63500" marB="635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554"/>
                        </a:lnSpc>
                        <a:buNone/>
                      </a:pPr>
                      <a:r>
                        <a:rPr lang="en-US" sz="1110" b="1" dirty="0">
                          <a:solidFill>
                            <a:srgbClr val="F4F2EC"/>
                          </a:solidFill>
                          <a:latin typeface="Inter" pitchFamily="34" charset="0"/>
                          <a:ea typeface="Inter" pitchFamily="34" charset="-122"/>
                          <a:cs typeface="Inter" pitchFamily="34" charset="-120"/>
                        </a:rPr>
                        <a:t>Retention *</a:t>
                      </a:r>
                      <a:endParaRPr lang="en-US" sz="1110" dirty="0">
                        <a:latin typeface="Inter" charset="0"/>
                        <a:ea typeface="Inter" charset="0"/>
                        <a:cs typeface="Inter" charset="0"/>
                      </a:endParaRPr>
                    </a:p>
                  </a:txBody>
                  <a:tcPr marL="101600" marR="101600" marT="63500" marB="635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532959">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VAR records</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On-prem WORM (SnapLock-class) or Oracle / SQL Server Ledger</a:t>
                      </a:r>
                      <a:endParaRPr lang="en-US" sz="1110" dirty="0">
                        <a:latin typeface="Inter" charset="0"/>
                        <a:ea typeface="Inter" charset="0"/>
                        <a:cs typeface="Inter" charset="0"/>
                      </a:endParaRPr>
                    </a:p>
                  </a:txBody>
                  <a:tcPr marL="101600" marR="101600" marT="63500" marB="635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System of record</a:t>
                      </a:r>
                      <a:endParaRPr lang="en-US" sz="1110" dirty="0">
                        <a:latin typeface="Inter" charset="0"/>
                        <a:ea typeface="Inter" charset="0"/>
                        <a:cs typeface="Inter" charset="0"/>
                      </a:endParaRPr>
                    </a:p>
                  </a:txBody>
                  <a:tcPr marL="101600" marR="101600" marT="63500" marB="635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[__] years</a:t>
                      </a:r>
                      <a:endParaRPr lang="en-US" sz="1110" dirty="0">
                        <a:latin typeface="Inter" charset="0"/>
                        <a:ea typeface="Inter" charset="0"/>
                        <a:cs typeface="Inter" charset="0"/>
                      </a:endParaRPr>
                    </a:p>
                  </a:txBody>
                  <a:tcPr marL="101600" marR="101600" marT="63500" marB="635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r>
              <a:tr h="335668">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VAR replica</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GCP object store, retention lock</a:t>
                      </a:r>
                      <a:endParaRPr lang="en-US" sz="1110" dirty="0">
                        <a:latin typeface="Inter" charset="0"/>
                        <a:ea typeface="Inter" charset="0"/>
                        <a:cs typeface="Inter" charset="0"/>
                      </a:endParaRPr>
                    </a:p>
                  </a:txBody>
                  <a:tcPr marL="101600" marR="101600" marT="63500" marB="635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DR, risk dashboards</a:t>
                      </a:r>
                      <a:endParaRPr lang="en-US" sz="1110" dirty="0">
                        <a:latin typeface="Inter" charset="0"/>
                        <a:ea typeface="Inter" charset="0"/>
                        <a:cs typeface="Inter" charset="0"/>
                      </a:endParaRPr>
                    </a:p>
                  </a:txBody>
                  <a:tcPr marL="101600" marR="101600" marT="63500" marB="635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Same; never authoritative</a:t>
                      </a:r>
                      <a:endParaRPr lang="en-US" sz="1110" dirty="0">
                        <a:latin typeface="Inter" charset="0"/>
                        <a:ea typeface="Inter" charset="0"/>
                        <a:cs typeface="Inter" charset="0"/>
                      </a:endParaRPr>
                    </a:p>
                  </a:txBody>
                  <a:tcPr marL="101600" marR="101600" marT="63500" marB="635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r>
              <a:tr h="335668">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Merkle roots</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WORM plus external anchor</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Proof of intactness</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Records + [1] yr</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5668">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Policy bundles</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Git and signed OCI bundle</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Explains each decision</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Same as records</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533003">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Payloads</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Encrypted store via input_ref / output_ref</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Detail on demand</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[__] days</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5668">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Arize traces</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Arize</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Operational</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[30–90] days</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35668">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Apigee, AI Bridge</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Platform logging</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Operational</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554"/>
                        </a:lnSpc>
                        <a:buNone/>
                      </a:pPr>
                      <a:r>
                        <a:rPr lang="en-US" sz="1110" dirty="0">
                          <a:solidFill>
                            <a:srgbClr val="16213A"/>
                          </a:solidFill>
                          <a:latin typeface="Inter" pitchFamily="34" charset="0"/>
                          <a:ea typeface="Inter" pitchFamily="34" charset="-122"/>
                          <a:cs typeface="Inter" pitchFamily="34" charset="-120"/>
                        </a:rPr>
                        <a:t>Platform standard</a:t>
                      </a:r>
                      <a:endParaRPr lang="en-US" sz="1110" dirty="0">
                        <a:latin typeface="Inter" charset="0"/>
                        <a:ea typeface="Inter" charset="0"/>
                        <a:cs typeface="Inter" charset="0"/>
                      </a:endParaRPr>
                    </a:p>
                  </a:txBody>
                  <a:tcPr marL="101600" marR="101600" marT="63500" marB="635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
        <p:nvSpPr>
          <p:cNvPr id="5" name="Shape 2"/>
          <p:cNvSpPr/>
          <p:nvPr/>
        </p:nvSpPr>
        <p:spPr>
          <a:xfrm>
            <a:off x="812800" y="4996309"/>
            <a:ext cx="3420533" cy="0"/>
          </a:xfrm>
          <a:prstGeom prst="line">
            <a:avLst/>
          </a:prstGeom>
          <a:noFill/>
          <a:ln w="12700">
            <a:solidFill>
              <a:srgbClr val="16213A"/>
            </a:solidFill>
            <a:prstDash val="solid"/>
          </a:ln>
        </p:spPr>
      </p:sp>
      <p:sp>
        <p:nvSpPr>
          <p:cNvPr id="6" name="Text 3"/>
          <p:cNvSpPr/>
          <p:nvPr/>
        </p:nvSpPr>
        <p:spPr>
          <a:xfrm>
            <a:off x="812800" y="5077448"/>
            <a:ext cx="3523149" cy="39652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A4458"/>
                </a:solidFill>
                <a:latin typeface="Inter" pitchFamily="34" charset="0"/>
                <a:ea typeface="Inter" pitchFamily="34" charset="-122"/>
                <a:cs typeface="Inter" pitchFamily="34" charset="-120"/>
              </a:rPr>
              <a:t>Legal hold</a:t>
            </a:r>
            <a:r>
              <a:rPr lang="en-US" sz="1200" dirty="0">
                <a:solidFill>
                  <a:srgbClr val="3A4458"/>
                </a:solidFill>
                <a:latin typeface="Inter" pitchFamily="34" charset="0"/>
                <a:ea typeface="Inter" pitchFamily="34" charset="-122"/>
                <a:cs typeface="Inter" pitchFamily="34" charset="-120"/>
              </a:rPr>
              <a:t> is a record field and freezes expiry</a:t>
            </a:r>
            <a:endParaRPr lang="en-US" sz="1200" dirty="0"/>
          </a:p>
        </p:txBody>
      </p:sp>
      <p:sp>
        <p:nvSpPr>
          <p:cNvPr id="7" name="Shape 4"/>
          <p:cNvSpPr/>
          <p:nvPr/>
        </p:nvSpPr>
        <p:spPr>
          <a:xfrm>
            <a:off x="4385733" y="4996309"/>
            <a:ext cx="3420533" cy="0"/>
          </a:xfrm>
          <a:prstGeom prst="line">
            <a:avLst/>
          </a:prstGeom>
          <a:noFill/>
          <a:ln w="12700">
            <a:solidFill>
              <a:srgbClr val="16213A"/>
            </a:solidFill>
            <a:prstDash val="solid"/>
          </a:ln>
        </p:spPr>
      </p:sp>
      <p:sp>
        <p:nvSpPr>
          <p:cNvPr id="8" name="Text 5"/>
          <p:cNvSpPr/>
          <p:nvPr/>
        </p:nvSpPr>
        <p:spPr>
          <a:xfrm>
            <a:off x="4385733" y="5077448"/>
            <a:ext cx="3523149" cy="39652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A4458"/>
                </a:solidFill>
                <a:latin typeface="Inter" pitchFamily="34" charset="0"/>
                <a:ea typeface="Inter" pitchFamily="34" charset="-122"/>
                <a:cs typeface="Inter" pitchFamily="34" charset="-120"/>
              </a:rPr>
              <a:t>Residency:</a:t>
            </a:r>
            <a:r>
              <a:rPr lang="en-US" sz="1200" dirty="0">
                <a:solidFill>
                  <a:srgbClr val="3A4458"/>
                </a:solidFill>
                <a:latin typeface="Inter" pitchFamily="34" charset="0"/>
                <a:ea typeface="Inter" pitchFamily="34" charset="-122"/>
                <a:cs typeface="Inter" pitchFamily="34" charset="-120"/>
              </a:rPr>
              <a:t> primary in-region; confirm GCP region</a:t>
            </a:r>
            <a:endParaRPr lang="en-US" sz="1200" dirty="0"/>
          </a:p>
        </p:txBody>
      </p:sp>
      <p:sp>
        <p:nvSpPr>
          <p:cNvPr id="9" name="Shape 6"/>
          <p:cNvSpPr/>
          <p:nvPr/>
        </p:nvSpPr>
        <p:spPr>
          <a:xfrm>
            <a:off x="7958667" y="4996309"/>
            <a:ext cx="3420533" cy="0"/>
          </a:xfrm>
          <a:prstGeom prst="line">
            <a:avLst/>
          </a:prstGeom>
          <a:noFill/>
          <a:ln w="12700">
            <a:solidFill>
              <a:srgbClr val="16213A"/>
            </a:solidFill>
            <a:prstDash val="solid"/>
          </a:ln>
        </p:spPr>
      </p:sp>
      <p:sp>
        <p:nvSpPr>
          <p:cNvPr id="10" name="Text 7"/>
          <p:cNvSpPr/>
          <p:nvPr/>
        </p:nvSpPr>
        <p:spPr>
          <a:xfrm>
            <a:off x="7958667" y="5077448"/>
            <a:ext cx="3523149" cy="39652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A4458"/>
                </a:solidFill>
                <a:latin typeface="Inter" pitchFamily="34" charset="0"/>
                <a:ea typeface="Inter" pitchFamily="34" charset="-122"/>
                <a:cs typeface="Inter" pitchFamily="34" charset="-120"/>
              </a:rPr>
              <a:t>Erasure:</a:t>
            </a:r>
            <a:r>
              <a:rPr lang="en-US" sz="1200" dirty="0">
                <a:solidFill>
                  <a:srgbClr val="3A4458"/>
                </a:solidFill>
                <a:latin typeface="Inter" pitchFamily="34" charset="0"/>
                <a:ea typeface="Inter" pitchFamily="34" charset="-122"/>
                <a:cs typeface="Inter" pitchFamily="34" charset="-120"/>
              </a:rPr>
              <a:t> delete payload keys, never edit records</a:t>
            </a:r>
            <a:endParaRPr lang="en-US" sz="1200" dirty="0"/>
          </a:p>
        </p:txBody>
      </p:sp>
      <p:sp>
        <p:nvSpPr>
          <p:cNvPr id="11" name="Text 8"/>
          <p:cNvSpPr/>
          <p:nvPr/>
        </p:nvSpPr>
        <p:spPr>
          <a:xfrm>
            <a:off x="812800" y="5651760"/>
            <a:ext cx="10883392" cy="215635"/>
          </a:xfrm>
          <a:prstGeom prst="rect">
            <a:avLst/>
          </a:prstGeom>
          <a:noFill/>
          <a:ln/>
        </p:spPr>
        <p:txBody>
          <a:bodyPr wrap="square" lIns="0" tIns="0" rIns="0" bIns="0" rtlCol="0" anchor="t">
            <a:normAutofit/>
          </a:bodyPr>
          <a:lstStyle/>
          <a:p>
            <a:pPr algn="l" indent="0" marL="0">
              <a:lnSpc>
                <a:spcPts val="1523"/>
              </a:lnSpc>
              <a:buNone/>
            </a:pPr>
            <a:r>
              <a:rPr lang="en-US" sz="1088" dirty="0">
                <a:solidFill>
                  <a:srgbClr val="5A6374"/>
                </a:solidFill>
                <a:latin typeface="Inter" pitchFamily="34" charset="0"/>
                <a:ea typeface="Inter" pitchFamily="34" charset="-122"/>
                <a:cs typeface="Inter" pitchFamily="34" charset="-120"/>
              </a:rPr>
              <a:t>* Proposed values; final periods set by Records Management and Compliance.</a:t>
            </a:r>
            <a:endParaRPr lang="en-US" sz="1088" dirty="0"/>
          </a:p>
        </p:txBody>
      </p:sp>
      <p:sp>
        <p:nvSpPr>
          <p:cNvPr id="12" name="Text 9"/>
          <p:cNvSpPr/>
          <p:nvPr/>
        </p:nvSpPr>
        <p:spPr>
          <a:xfrm>
            <a:off x="812800" y="6238255"/>
            <a:ext cx="289762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Agent Audit Ledger · executive briefing</a:t>
            </a:r>
            <a:endParaRPr lang="en-US" sz="1200" dirty="0"/>
          </a:p>
        </p:txBody>
      </p:sp>
      <p:sp>
        <p:nvSpPr>
          <p:cNvPr id="13" name="Text 10"/>
          <p:cNvSpPr/>
          <p:nvPr/>
        </p:nvSpPr>
        <p:spPr>
          <a:xfrm>
            <a:off x="11222920" y="6238255"/>
            <a:ext cx="207081"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INDUSTRY · OPEN-SOURCE LANDSCAPE</a:t>
            </a:r>
            <a:endParaRPr lang="en-US" sz="1200" dirty="0"/>
          </a:p>
        </p:txBody>
      </p:sp>
      <p:sp>
        <p:nvSpPr>
          <p:cNvPr id="3" name="Text 1"/>
          <p:cNvSpPr/>
          <p:nvPr/>
        </p:nvSpPr>
        <p:spPr>
          <a:xfrm>
            <a:off x="812800" y="112774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6213A"/>
                </a:solidFill>
                <a:latin typeface="Source Serif 4" pitchFamily="34" charset="0"/>
                <a:ea typeface="Source Serif 4" pitchFamily="34" charset="-122"/>
                <a:cs typeface="Source Serif 4" pitchFamily="34" charset="-120"/>
              </a:rPr>
              <a:t>Four families of options, none complete alone</a:t>
            </a:r>
            <a:endParaRPr lang="en-US" sz="3200" dirty="0"/>
          </a:p>
        </p:txBody>
      </p:sp>
      <p:sp>
        <p:nvSpPr>
          <p:cNvPr id="4" name="Shape 2"/>
          <p:cNvSpPr/>
          <p:nvPr/>
        </p:nvSpPr>
        <p:spPr>
          <a:xfrm>
            <a:off x="815975" y="1831938"/>
            <a:ext cx="5200650" cy="1198695"/>
          </a:xfrm>
          <a:prstGeom prst="roundRect">
            <a:avLst>
              <a:gd name="adj" fmla="val 6092"/>
            </a:avLst>
          </a:prstGeom>
          <a:solidFill>
            <a:srgbClr val="FBFAF6"/>
          </a:solidFill>
          <a:ln w="6350">
            <a:solidFill>
              <a:srgbClr val="DCD6C8"/>
            </a:solidFill>
            <a:prstDash val="solid"/>
          </a:ln>
        </p:spPr>
      </p:sp>
      <p:sp>
        <p:nvSpPr>
          <p:cNvPr id="5" name="Text 3"/>
          <p:cNvSpPr/>
          <p:nvPr/>
        </p:nvSpPr>
        <p:spPr>
          <a:xfrm>
            <a:off x="1021644" y="2012206"/>
            <a:ext cx="493299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Agent governance toolkits</a:t>
            </a:r>
            <a:endParaRPr lang="en-US" sz="1600" dirty="0"/>
          </a:p>
        </p:txBody>
      </p:sp>
      <p:sp>
        <p:nvSpPr>
          <p:cNvPr id="6" name="Text 4"/>
          <p:cNvSpPr/>
          <p:nvPr/>
        </p:nvSpPr>
        <p:spPr>
          <a:xfrm>
            <a:off x="1021644" y="2332211"/>
            <a:ext cx="4932990" cy="246371"/>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3A4458"/>
                </a:solidFill>
                <a:latin typeface="Inter" pitchFamily="34" charset="0"/>
                <a:ea typeface="Inter" pitchFamily="34" charset="-122"/>
                <a:cs typeface="Inter" pitchFamily="34" charset="-120"/>
              </a:rPr>
              <a:t>Microsoft AGT</a:t>
            </a:r>
            <a:r>
              <a:rPr lang="en-US" sz="1200" dirty="0">
                <a:solidFill>
                  <a:srgbClr val="3A4458"/>
                </a:solidFill>
                <a:latin typeface="Inter" pitchFamily="34" charset="0"/>
                <a:ea typeface="Inter" pitchFamily="34" charset="-122"/>
                <a:cs typeface="Inter" pitchFamily="34" charset="-120"/>
              </a:rPr>
              <a:t> · policy gate + signed audit, MIT</a:t>
            </a:r>
            <a:endParaRPr lang="en-US" sz="1200" dirty="0"/>
          </a:p>
        </p:txBody>
      </p:sp>
      <p:sp>
        <p:nvSpPr>
          <p:cNvPr id="7" name="Text 5"/>
          <p:cNvSpPr/>
          <p:nvPr/>
        </p:nvSpPr>
        <p:spPr>
          <a:xfrm>
            <a:off x="1021644" y="2629384"/>
            <a:ext cx="4932990" cy="246371"/>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3A4458"/>
                </a:solidFill>
                <a:latin typeface="Inter" pitchFamily="34" charset="0"/>
                <a:ea typeface="Inter" pitchFamily="34" charset="-122"/>
                <a:cs typeface="Inter" pitchFamily="34" charset="-120"/>
              </a:rPr>
              <a:t>Obsigno</a:t>
            </a:r>
            <a:r>
              <a:rPr lang="en-US" sz="1200" dirty="0">
                <a:solidFill>
                  <a:srgbClr val="3A4458"/>
                </a:solidFill>
                <a:latin typeface="Inter" pitchFamily="34" charset="0"/>
                <a:ea typeface="Inter" pitchFamily="34" charset="-122"/>
                <a:cs typeface="Inter" pitchFamily="34" charset="-120"/>
              </a:rPr>
              <a:t> · MCP proxy, OPA/Cedar, signed chain</a:t>
            </a:r>
            <a:endParaRPr lang="en-US" sz="1200" dirty="0"/>
          </a:p>
        </p:txBody>
      </p:sp>
      <p:sp>
        <p:nvSpPr>
          <p:cNvPr id="8" name="Shape 6"/>
          <p:cNvSpPr/>
          <p:nvPr/>
        </p:nvSpPr>
        <p:spPr>
          <a:xfrm>
            <a:off x="6175375" y="1831938"/>
            <a:ext cx="5200650" cy="1198695"/>
          </a:xfrm>
          <a:prstGeom prst="roundRect">
            <a:avLst>
              <a:gd name="adj" fmla="val 6092"/>
            </a:avLst>
          </a:prstGeom>
          <a:solidFill>
            <a:srgbClr val="FBFAF6"/>
          </a:solidFill>
          <a:ln w="6350">
            <a:solidFill>
              <a:srgbClr val="DCD6C8"/>
            </a:solidFill>
            <a:prstDash val="solid"/>
          </a:ln>
        </p:spPr>
      </p:sp>
      <p:sp>
        <p:nvSpPr>
          <p:cNvPr id="9" name="Text 7"/>
          <p:cNvSpPr/>
          <p:nvPr/>
        </p:nvSpPr>
        <p:spPr>
          <a:xfrm>
            <a:off x="6381045" y="2012206"/>
            <a:ext cx="493299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Agent flight recorders</a:t>
            </a:r>
            <a:endParaRPr lang="en-US" sz="1600" dirty="0"/>
          </a:p>
        </p:txBody>
      </p:sp>
      <p:sp>
        <p:nvSpPr>
          <p:cNvPr id="10" name="Text 8"/>
          <p:cNvSpPr/>
          <p:nvPr/>
        </p:nvSpPr>
        <p:spPr>
          <a:xfrm>
            <a:off x="6381045" y="2332211"/>
            <a:ext cx="4932990" cy="246371"/>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3A4458"/>
                </a:solidFill>
                <a:latin typeface="Inter" pitchFamily="34" charset="0"/>
                <a:ea typeface="Inter" pitchFamily="34" charset="-122"/>
                <a:cs typeface="Inter" pitchFamily="34" charset="-120"/>
              </a:rPr>
              <a:t>agenttrace</a:t>
            </a:r>
            <a:r>
              <a:rPr lang="en-US" sz="1200" dirty="0">
                <a:solidFill>
                  <a:srgbClr val="3A4458"/>
                </a:solidFill>
                <a:latin typeface="Inter" pitchFamily="34" charset="0"/>
                <a:ea typeface="Inter" pitchFamily="34" charset="-122"/>
                <a:cs typeface="Inter" pitchFamily="34" charset="-120"/>
              </a:rPr>
              <a:t>, </a:t>
            </a:r>
            <a:r>
              <a:rPr lang="en-US" sz="1200" b="1" dirty="0">
                <a:solidFill>
                  <a:srgbClr val="3A4458"/>
                </a:solidFill>
                <a:latin typeface="Inter" pitchFamily="34" charset="0"/>
                <a:ea typeface="Inter" pitchFamily="34" charset="-122"/>
                <a:cs typeface="Inter" pitchFamily="34" charset="-120"/>
              </a:rPr>
              <a:t>halo-record</a:t>
            </a:r>
            <a:r>
              <a:rPr lang="en-US" sz="1200" dirty="0">
                <a:solidFill>
                  <a:srgbClr val="3A4458"/>
                </a:solidFill>
                <a:latin typeface="Inter" pitchFamily="34" charset="0"/>
                <a:ea typeface="Inter" pitchFamily="34" charset="-122"/>
                <a:cs typeface="Inter" pitchFamily="34" charset="-120"/>
              </a:rPr>
              <a:t> · hash-chained logs</a:t>
            </a:r>
            <a:endParaRPr lang="en-US" sz="1200" dirty="0"/>
          </a:p>
        </p:txBody>
      </p:sp>
      <p:sp>
        <p:nvSpPr>
          <p:cNvPr id="11" name="Text 9"/>
          <p:cNvSpPr/>
          <p:nvPr/>
        </p:nvSpPr>
        <p:spPr>
          <a:xfrm>
            <a:off x="6381045" y="2629384"/>
            <a:ext cx="4932990" cy="246371"/>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3A4458"/>
                </a:solidFill>
                <a:latin typeface="Inter" pitchFamily="34" charset="0"/>
                <a:ea typeface="Inter" pitchFamily="34" charset="-122"/>
                <a:cs typeface="Inter" pitchFamily="34" charset="-120"/>
              </a:rPr>
              <a:t>Trustra Flight Recorder</a:t>
            </a:r>
            <a:r>
              <a:rPr lang="en-US" sz="1200" dirty="0">
                <a:solidFill>
                  <a:srgbClr val="3A4458"/>
                </a:solidFill>
                <a:latin typeface="Inter" pitchFamily="34" charset="0"/>
                <a:ea typeface="Inter" pitchFamily="34" charset="-122"/>
                <a:cs typeface="Inter" pitchFamily="34" charset="-120"/>
              </a:rPr>
              <a:t> · AGPL-3.0</a:t>
            </a:r>
            <a:endParaRPr lang="en-US" sz="1200" dirty="0"/>
          </a:p>
        </p:txBody>
      </p:sp>
      <p:sp>
        <p:nvSpPr>
          <p:cNvPr id="12" name="Shape 10"/>
          <p:cNvSpPr/>
          <p:nvPr/>
        </p:nvSpPr>
        <p:spPr>
          <a:xfrm>
            <a:off x="815975" y="3189374"/>
            <a:ext cx="5200650" cy="1198695"/>
          </a:xfrm>
          <a:prstGeom prst="roundRect">
            <a:avLst>
              <a:gd name="adj" fmla="val 6092"/>
            </a:avLst>
          </a:prstGeom>
          <a:solidFill>
            <a:srgbClr val="FBFAF6"/>
          </a:solidFill>
          <a:ln w="6350">
            <a:solidFill>
              <a:srgbClr val="DCD6C8"/>
            </a:solidFill>
            <a:prstDash val="solid"/>
          </a:ln>
        </p:spPr>
      </p:sp>
      <p:sp>
        <p:nvSpPr>
          <p:cNvPr id="13" name="Text 11"/>
          <p:cNvSpPr/>
          <p:nvPr/>
        </p:nvSpPr>
        <p:spPr>
          <a:xfrm>
            <a:off x="1021644" y="3369642"/>
            <a:ext cx="493299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Verifiable log substrates</a:t>
            </a:r>
            <a:endParaRPr lang="en-US" sz="1600" dirty="0"/>
          </a:p>
        </p:txBody>
      </p:sp>
      <p:sp>
        <p:nvSpPr>
          <p:cNvPr id="14" name="Text 12"/>
          <p:cNvSpPr/>
          <p:nvPr/>
        </p:nvSpPr>
        <p:spPr>
          <a:xfrm>
            <a:off x="1021644" y="3689660"/>
            <a:ext cx="4932990" cy="246371"/>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3A4458"/>
                </a:solidFill>
                <a:latin typeface="Inter" pitchFamily="34" charset="0"/>
                <a:ea typeface="Inter" pitchFamily="34" charset="-122"/>
                <a:cs typeface="Inter" pitchFamily="34" charset="-120"/>
              </a:rPr>
              <a:t>immudb</a:t>
            </a:r>
            <a:r>
              <a:rPr lang="en-US" sz="1200" dirty="0">
                <a:solidFill>
                  <a:srgbClr val="3A4458"/>
                </a:solidFill>
                <a:latin typeface="Inter" pitchFamily="34" charset="0"/>
                <a:ea typeface="Inter" pitchFamily="34" charset="-122"/>
                <a:cs typeface="Inter" pitchFamily="34" charset="-120"/>
              </a:rPr>
              <a:t> · Merkle-verified database, Apache 2.0</a:t>
            </a:r>
            <a:endParaRPr lang="en-US" sz="1200" dirty="0"/>
          </a:p>
        </p:txBody>
      </p:sp>
      <p:sp>
        <p:nvSpPr>
          <p:cNvPr id="15" name="Text 13"/>
          <p:cNvSpPr/>
          <p:nvPr/>
        </p:nvSpPr>
        <p:spPr>
          <a:xfrm>
            <a:off x="1021644" y="3986833"/>
            <a:ext cx="4932990" cy="246371"/>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3A4458"/>
                </a:solidFill>
                <a:latin typeface="Inter" pitchFamily="34" charset="0"/>
                <a:ea typeface="Inter" pitchFamily="34" charset="-122"/>
                <a:cs typeface="Inter" pitchFamily="34" charset="-120"/>
              </a:rPr>
              <a:t>Trillian Tessera</a:t>
            </a:r>
            <a:r>
              <a:rPr lang="en-US" sz="1200" dirty="0">
                <a:solidFill>
                  <a:srgbClr val="3A4458"/>
                </a:solidFill>
                <a:latin typeface="Inter" pitchFamily="34" charset="0"/>
                <a:ea typeface="Inter" pitchFamily="34" charset="-122"/>
                <a:cs typeface="Inter" pitchFamily="34" charset="-120"/>
              </a:rPr>
              <a:t>, </a:t>
            </a:r>
            <a:r>
              <a:rPr lang="en-US" sz="1200" b="1" dirty="0">
                <a:solidFill>
                  <a:srgbClr val="3A4458"/>
                </a:solidFill>
                <a:latin typeface="Inter" pitchFamily="34" charset="0"/>
                <a:ea typeface="Inter" pitchFamily="34" charset="-122"/>
                <a:cs typeface="Inter" pitchFamily="34" charset="-120"/>
              </a:rPr>
              <a:t>Rekor v2</a:t>
            </a:r>
            <a:r>
              <a:rPr lang="en-US" sz="1200" dirty="0">
                <a:solidFill>
                  <a:srgbClr val="3A4458"/>
                </a:solidFill>
                <a:latin typeface="Inter" pitchFamily="34" charset="0"/>
                <a:ea typeface="Inter" pitchFamily="34" charset="-122"/>
                <a:cs typeface="Inter" pitchFamily="34" charset="-120"/>
              </a:rPr>
              <a:t> · transparency logs</a:t>
            </a:r>
            <a:endParaRPr lang="en-US" sz="1200" dirty="0"/>
          </a:p>
        </p:txBody>
      </p:sp>
      <p:sp>
        <p:nvSpPr>
          <p:cNvPr id="16" name="Shape 14"/>
          <p:cNvSpPr/>
          <p:nvPr/>
        </p:nvSpPr>
        <p:spPr>
          <a:xfrm>
            <a:off x="6175375" y="3189374"/>
            <a:ext cx="5200650" cy="1198695"/>
          </a:xfrm>
          <a:prstGeom prst="roundRect">
            <a:avLst>
              <a:gd name="adj" fmla="val 6092"/>
            </a:avLst>
          </a:prstGeom>
          <a:solidFill>
            <a:srgbClr val="FBFAF6"/>
          </a:solidFill>
          <a:ln w="6350">
            <a:solidFill>
              <a:srgbClr val="DCD6C8"/>
            </a:solidFill>
            <a:prstDash val="solid"/>
          </a:ln>
        </p:spPr>
      </p:sp>
      <p:sp>
        <p:nvSpPr>
          <p:cNvPr id="17" name="Text 15"/>
          <p:cNvSpPr/>
          <p:nvPr/>
        </p:nvSpPr>
        <p:spPr>
          <a:xfrm>
            <a:off x="6381045" y="3369642"/>
            <a:ext cx="493299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Telemetry standards</a:t>
            </a:r>
            <a:endParaRPr lang="en-US" sz="1600" dirty="0"/>
          </a:p>
        </p:txBody>
      </p:sp>
      <p:sp>
        <p:nvSpPr>
          <p:cNvPr id="18" name="Text 16"/>
          <p:cNvSpPr/>
          <p:nvPr/>
        </p:nvSpPr>
        <p:spPr>
          <a:xfrm>
            <a:off x="6381045" y="3689660"/>
            <a:ext cx="4932990" cy="246371"/>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3A4458"/>
                </a:solidFill>
                <a:latin typeface="Inter" pitchFamily="34" charset="0"/>
                <a:ea typeface="Inter" pitchFamily="34" charset="-122"/>
                <a:cs typeface="Inter" pitchFamily="34" charset="-120"/>
              </a:rPr>
              <a:t>OTel GenAI</a:t>
            </a:r>
            <a:r>
              <a:rPr lang="en-US" sz="1200" dirty="0">
                <a:solidFill>
                  <a:srgbClr val="3A4458"/>
                </a:solidFill>
                <a:latin typeface="Inter" pitchFamily="34" charset="0"/>
                <a:ea typeface="Inter" pitchFamily="34" charset="-122"/>
                <a:cs typeface="Inter" pitchFamily="34" charset="-120"/>
              </a:rPr>
              <a:t> conventions · still experimental</a:t>
            </a:r>
            <a:endParaRPr lang="en-US" sz="1200" dirty="0"/>
          </a:p>
        </p:txBody>
      </p:sp>
      <p:sp>
        <p:nvSpPr>
          <p:cNvPr id="19" name="Text 17"/>
          <p:cNvSpPr/>
          <p:nvPr/>
        </p:nvSpPr>
        <p:spPr>
          <a:xfrm>
            <a:off x="6381045" y="3986833"/>
            <a:ext cx="4932990" cy="246371"/>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3A4458"/>
                </a:solidFill>
                <a:latin typeface="Inter" pitchFamily="34" charset="0"/>
                <a:ea typeface="Inter" pitchFamily="34" charset="-122"/>
                <a:cs typeface="Inter" pitchFamily="34" charset="-120"/>
              </a:rPr>
              <a:t>OpenInference</a:t>
            </a:r>
            <a:r>
              <a:rPr lang="en-US" sz="1200" dirty="0">
                <a:solidFill>
                  <a:srgbClr val="3A4458"/>
                </a:solidFill>
                <a:latin typeface="Inter" pitchFamily="34" charset="0"/>
                <a:ea typeface="Inter" pitchFamily="34" charset="-122"/>
                <a:cs typeface="Inter" pitchFamily="34" charset="-120"/>
              </a:rPr>
              <a:t> (Arize) · agent and tool spans</a:t>
            </a:r>
            <a:endParaRPr lang="en-US" sz="1200" dirty="0"/>
          </a:p>
        </p:txBody>
      </p:sp>
      <p:sp>
        <p:nvSpPr>
          <p:cNvPr id="20" name="Text 18"/>
          <p:cNvSpPr/>
          <p:nvPr/>
        </p:nvSpPr>
        <p:spPr>
          <a:xfrm>
            <a:off x="812800" y="4645248"/>
            <a:ext cx="10883392" cy="24637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Commercial gateways and observability suites add audit logs, but record the model call or admin change, not the governed agent action.</a:t>
            </a:r>
            <a:endParaRPr lang="en-US" sz="1200" dirty="0"/>
          </a:p>
        </p:txBody>
      </p:sp>
      <p:sp>
        <p:nvSpPr>
          <p:cNvPr id="21" name="Text 19"/>
          <p:cNvSpPr/>
          <p:nvPr/>
        </p:nvSpPr>
        <p:spPr>
          <a:xfrm>
            <a:off x="812800" y="6238255"/>
            <a:ext cx="366136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Tachyon · Agent Audit Ledger · executive briefing</a:t>
            </a:r>
            <a:endParaRPr lang="en-US" sz="1200" dirty="0"/>
          </a:p>
        </p:txBody>
      </p:sp>
      <p:sp>
        <p:nvSpPr>
          <p:cNvPr id="22" name="Text 20"/>
          <p:cNvSpPr/>
          <p:nvPr/>
        </p:nvSpPr>
        <p:spPr>
          <a:xfrm>
            <a:off x="11222699" y="6238255"/>
            <a:ext cx="207301"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INDUSTRY · FIT ASSESSMENT</a:t>
            </a:r>
            <a:endParaRPr lang="en-US" sz="1200" dirty="0"/>
          </a:p>
        </p:txBody>
      </p:sp>
      <p:sp>
        <p:nvSpPr>
          <p:cNvPr id="3" name="Text 1"/>
          <p:cNvSpPr/>
          <p:nvPr/>
        </p:nvSpPr>
        <p:spPr>
          <a:xfrm>
            <a:off x="812800" y="112774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6213A"/>
                </a:solidFill>
                <a:latin typeface="Source Serif 4" pitchFamily="34" charset="0"/>
                <a:ea typeface="Source Serif 4" pitchFamily="34" charset="-122"/>
                <a:cs typeface="Source Serif 4" pitchFamily="34" charset="-120"/>
              </a:rPr>
              <a:t>How each option fits Tachyon's constraints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840052"/>
          <a:ext cx="10555111" cy="3016250"/>
        </p:xfrm>
        <a:graphic>
          <a:graphicData uri="http://schemas.openxmlformats.org/drawingml/2006/table">
            <a:tbl>
              <a:tblPr/>
              <a:tblGrid>
                <a:gridCol w="2111022"/>
                <a:gridCol w="2111022"/>
                <a:gridCol w="2111022"/>
                <a:gridCol w="2111022"/>
                <a:gridCol w="2111022"/>
              </a:tblGrid>
              <a:tr h="377031">
                <a:tc>
                  <a:txBody>
                    <a:bodyPr/>
                    <a:lstStyle/>
                    <a:p>
                      <a:pPr indent="0" marL="0">
                        <a:lnSpc>
                          <a:spcPts val="1680"/>
                        </a:lnSpc>
                        <a:buNone/>
                      </a:pPr>
                      <a:r>
                        <a:rPr lang="en-US" sz="1200" b="1" dirty="0">
                          <a:solidFill>
                            <a:srgbClr val="F4F2EC"/>
                          </a:solidFill>
                          <a:latin typeface="Inter" pitchFamily="34" charset="0"/>
                          <a:ea typeface="Inter" pitchFamily="34" charset="-122"/>
                          <a:cs typeface="Inter" pitchFamily="34" charset="-120"/>
                        </a:rPr>
                        <a:t>Option</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680"/>
                        </a:lnSpc>
                        <a:buNone/>
                      </a:pPr>
                      <a:r>
                        <a:rPr lang="en-US" sz="1200" b="1" dirty="0">
                          <a:solidFill>
                            <a:srgbClr val="F4F2EC"/>
                          </a:solidFill>
                          <a:latin typeface="Inter" pitchFamily="34" charset="0"/>
                          <a:ea typeface="Inter" pitchFamily="34" charset="-122"/>
                          <a:cs typeface="Inter" pitchFamily="34" charset="-120"/>
                        </a:rPr>
                        <a:t>Pre-exec gate</a:t>
                      </a:r>
                      <a:endParaRPr lang="en-US" sz="1200" dirty="0">
                        <a:latin typeface="Inter" charset="0"/>
                        <a:ea typeface="Inter" charset="0"/>
                        <a:cs typeface="Inter" charset="0"/>
                      </a:endParaRPr>
                    </a:p>
                  </a:txBody>
                  <a:tcPr marL="101600" marR="101600" marT="76200" marB="762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680"/>
                        </a:lnSpc>
                        <a:buNone/>
                      </a:pPr>
                      <a:r>
                        <a:rPr lang="en-US" sz="1200" b="1" dirty="0">
                          <a:solidFill>
                            <a:srgbClr val="F4F2EC"/>
                          </a:solidFill>
                          <a:latin typeface="Inter" pitchFamily="34" charset="0"/>
                          <a:ea typeface="Inter" pitchFamily="34" charset="-122"/>
                          <a:cs typeface="Inter" pitchFamily="34" charset="-120"/>
                        </a:rPr>
                        <a:t>Tamper evidence</a:t>
                      </a:r>
                      <a:endParaRPr lang="en-US" sz="1200" dirty="0">
                        <a:latin typeface="Inter" charset="0"/>
                        <a:ea typeface="Inter" charset="0"/>
                        <a:cs typeface="Inter" charset="0"/>
                      </a:endParaRPr>
                    </a:p>
                  </a:txBody>
                  <a:tcPr marL="101600" marR="101600" marT="76200" marB="762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680"/>
                        </a:lnSpc>
                        <a:buNone/>
                      </a:pPr>
                      <a:r>
                        <a:rPr lang="en-US" sz="1200" b="1" dirty="0">
                          <a:solidFill>
                            <a:srgbClr val="F4F2EC"/>
                          </a:solidFill>
                          <a:latin typeface="Inter" pitchFamily="34" charset="0"/>
                          <a:ea typeface="Inter" pitchFamily="34" charset="-122"/>
                          <a:cs typeface="Inter" pitchFamily="34" charset="-120"/>
                        </a:rPr>
                        <a:t>Maturity · licence</a:t>
                      </a:r>
                      <a:endParaRPr lang="en-US" sz="1200" dirty="0">
                        <a:latin typeface="Inter" charset="0"/>
                        <a:ea typeface="Inter" charset="0"/>
                        <a:cs typeface="Inter" charset="0"/>
                      </a:endParaRPr>
                    </a:p>
                  </a:txBody>
                  <a:tcPr marL="101600" marR="101600" marT="76200" marB="762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680"/>
                        </a:lnSpc>
                        <a:buNone/>
                      </a:pPr>
                      <a:r>
                        <a:rPr lang="en-US" sz="1200" b="1" dirty="0">
                          <a:solidFill>
                            <a:srgbClr val="F4F2EC"/>
                          </a:solidFill>
                          <a:latin typeface="Inter" pitchFamily="34" charset="0"/>
                          <a:ea typeface="Inter" pitchFamily="34" charset="-122"/>
                          <a:cs typeface="Inter" pitchFamily="34" charset="-120"/>
                        </a:rPr>
                        <a:t>Role for Tachyon</a:t>
                      </a:r>
                      <a:endParaRPr lang="en-US" sz="1200" dirty="0">
                        <a:latin typeface="Inter" charset="0"/>
                        <a:ea typeface="Inter" charset="0"/>
                        <a:cs typeface="Inter" charset="0"/>
                      </a:endParaRPr>
                    </a:p>
                  </a:txBody>
                  <a:tcPr marL="101600" marR="101600" marT="76200" marB="762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3770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Microsoft AGT</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Yes</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Signed trail</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Preview · MIT</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Reference design</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770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Obsigno</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MCP only</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Signed chain</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Early</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MCP proxy pattern</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770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agenttrace, halo-record</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No</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Hash chain</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Single maintainer</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Reference only</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770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Trustra Recorder</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No</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Hash chain</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Early · AGPL-3.0</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Avoid (licence)</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3770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immudb</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n/a</a:t>
                      </a:r>
                      <a:endParaRPr lang="en-US" sz="1200" dirty="0">
                        <a:latin typeface="Inter" charset="0"/>
                        <a:ea typeface="Inter" charset="0"/>
                        <a:cs typeface="Inter" charset="0"/>
                      </a:endParaRPr>
                    </a:p>
                  </a:txBody>
                  <a:tcPr marL="101600" marR="101600" marT="76200" marB="762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Merkle proofs</a:t>
                      </a:r>
                      <a:endParaRPr lang="en-US" sz="1200" dirty="0">
                        <a:latin typeface="Inter" charset="0"/>
                        <a:ea typeface="Inter" charset="0"/>
                        <a:cs typeface="Inter" charset="0"/>
                      </a:endParaRPr>
                    </a:p>
                  </a:txBody>
                  <a:tcPr marL="101600" marR="101600" marT="76200" marB="762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Mature · Apache 2.0</a:t>
                      </a:r>
                      <a:endParaRPr lang="en-US" sz="1200" dirty="0">
                        <a:latin typeface="Inter" charset="0"/>
                        <a:ea typeface="Inter" charset="0"/>
                        <a:cs typeface="Inter" charset="0"/>
                      </a:endParaRPr>
                    </a:p>
                  </a:txBody>
                  <a:tcPr marL="101600" marR="101600" marT="76200" marB="762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Anchor candidate</a:t>
                      </a:r>
                      <a:endParaRPr lang="en-US" sz="1200" dirty="0">
                        <a:latin typeface="Inter" charset="0"/>
                        <a:ea typeface="Inter" charset="0"/>
                        <a:cs typeface="Inter" charset="0"/>
                      </a:endParaRPr>
                    </a:p>
                  </a:txBody>
                  <a:tcPr marL="101600" marR="101600" marT="76200" marB="762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r>
              <a:tr h="3770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Trillian Tessera</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n/a</a:t>
                      </a:r>
                      <a:endParaRPr lang="en-US" sz="1200" dirty="0">
                        <a:latin typeface="Inter" charset="0"/>
                        <a:ea typeface="Inter" charset="0"/>
                        <a:cs typeface="Inter" charset="0"/>
                      </a:endParaRPr>
                    </a:p>
                  </a:txBody>
                  <a:tcPr marL="101600" marR="101600" marT="76200" marB="762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Transparency log</a:t>
                      </a:r>
                      <a:endParaRPr lang="en-US" sz="1200" dirty="0">
                        <a:latin typeface="Inter" charset="0"/>
                        <a:ea typeface="Inter" charset="0"/>
                        <a:cs typeface="Inter" charset="0"/>
                      </a:endParaRPr>
                    </a:p>
                  </a:txBody>
                  <a:tcPr marL="101600" marR="101600" marT="76200" marB="762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CT-grade · Apache 2.0</a:t>
                      </a:r>
                      <a:endParaRPr lang="en-US" sz="1200" dirty="0">
                        <a:latin typeface="Inter" charset="0"/>
                        <a:ea typeface="Inter" charset="0"/>
                        <a:cs typeface="Inter" charset="0"/>
                      </a:endParaRPr>
                    </a:p>
                  </a:txBody>
                  <a:tcPr marL="101600" marR="101600" marT="76200" marB="762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Anchor candidate</a:t>
                      </a:r>
                      <a:endParaRPr lang="en-US" sz="1200" dirty="0">
                        <a:latin typeface="Inter" charset="0"/>
                        <a:ea typeface="Inter" charset="0"/>
                        <a:cs typeface="Inter" charset="0"/>
                      </a:endParaRPr>
                    </a:p>
                  </a:txBody>
                  <a:tcPr marL="101600" marR="101600" marT="76200" marB="762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r>
              <a:tr h="3770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OTel · OpenInference</a:t>
                      </a:r>
                      <a:endParaRPr lang="en-US" sz="1200" dirty="0">
                        <a:latin typeface="Inter" charset="0"/>
                        <a:ea typeface="Inter" charset="0"/>
                        <a:cs typeface="Inter" charset="0"/>
                      </a:endParaRPr>
                    </a:p>
                  </a:txBody>
                  <a:tcPr marL="101600" marR="101600" marT="76200" marB="76200" anchor="t">
                    <a:lnL w="12700" cap="flat" cmpd="sng" algn="ctr">
                      <a:solidFill>
                        <a:srgbClr val="C3C1BC"/>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No</a:t>
                      </a:r>
                      <a:endParaRPr lang="en-US" sz="1200" dirty="0">
                        <a:latin typeface="Inter" charset="0"/>
                        <a:ea typeface="Inter" charset="0"/>
                        <a:cs typeface="Inter" charset="0"/>
                      </a:endParaRPr>
                    </a:p>
                  </a:txBody>
                  <a:tcPr marL="101600" marR="101600" marT="76200" marB="762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No</a:t>
                      </a:r>
                      <a:endParaRPr lang="en-US" sz="1200" dirty="0">
                        <a:latin typeface="Inter" charset="0"/>
                        <a:ea typeface="Inter" charset="0"/>
                        <a:cs typeface="Inter" charset="0"/>
                      </a:endParaRPr>
                    </a:p>
                  </a:txBody>
                  <a:tcPr marL="101600" marR="101600" marT="76200" marB="762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Standard</a:t>
                      </a:r>
                      <a:endParaRPr lang="en-US" sz="1200" dirty="0">
                        <a:latin typeface="Inter" charset="0"/>
                        <a:ea typeface="Inter" charset="0"/>
                        <a:cs typeface="Inter" charset="0"/>
                      </a:endParaRPr>
                    </a:p>
                  </a:txBody>
                  <a:tcPr marL="101600" marR="101600" marT="76200" marB="762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Correlation layer</a:t>
                      </a:r>
                      <a:endParaRPr lang="en-US" sz="1200" dirty="0">
                        <a:latin typeface="Inter" charset="0"/>
                        <a:ea typeface="Inter" charset="0"/>
                        <a:cs typeface="Inter" charset="0"/>
                      </a:endParaRPr>
                    </a:p>
                  </a:txBody>
                  <a:tcPr marL="101600" marR="101600" marT="76200" marB="76200" anchor="t">
                    <a:lnL w="12700" cap="flat" cmpd="sng" algn="ctr">
                      <a:solidFill>
                        <a:srgbClr val="C8C0B6"/>
                      </a:solidFill>
                      <a:prstDash val="solid"/>
                      <a:round/>
                      <a:headEnd type="none" w="med" len="med"/>
                      <a:tailEnd type="none" w="med" len="med"/>
                    </a:lnL>
                    <a:lnR w="12700" cap="flat" cmpd="sng" algn="ctr">
                      <a:solidFill>
                        <a:srgbClr val="C8C0B6"/>
                      </a:solidFill>
                      <a:prstDash val="solid"/>
                      <a:round/>
                      <a:headEnd type="none" w="med" len="med"/>
                      <a:tailEnd type="none" w="med" len="med"/>
                    </a:lnR>
                    <a:lnT w="12700" cap="flat" cmpd="sng" algn="ctr">
                      <a:solidFill>
                        <a:srgbClr val="C8C0B6"/>
                      </a:solidFill>
                      <a:prstDash val="solid"/>
                      <a:round/>
                      <a:headEnd type="none" w="med" len="med"/>
                      <a:tailEnd type="none" w="med" len="med"/>
                    </a:lnT>
                    <a:lnB w="12700" cap="flat" cmpd="sng" algn="ctr">
                      <a:solidFill>
                        <a:srgbClr val="C8C0B6"/>
                      </a:solidFill>
                      <a:prstDash val="solid"/>
                      <a:round/>
                      <a:headEnd type="none" w="med" len="med"/>
                      <a:tailEnd type="none" w="med" len="med"/>
                    </a:lnB>
                    <a:solidFill>
                      <a:srgbClr val="FBF1E4"/>
                    </a:solidFill>
                  </a:tcPr>
                </a:tc>
              </a:tr>
            </a:tbl>
          </a:graphicData>
        </a:graphic>
      </p:graphicFrame>
      <p:sp>
        <p:nvSpPr>
          <p:cNvPr id="5" name="Text 2"/>
          <p:cNvSpPr/>
          <p:nvPr/>
        </p:nvSpPr>
        <p:spPr>
          <a:xfrm>
            <a:off x="812800" y="5110299"/>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Highlighted rows are adopted in the recommendation. Assessment as of September 2026; each is validated in a pilot before commitment.</a:t>
            </a:r>
            <a:endParaRPr lang="en-US" sz="1200" dirty="0"/>
          </a:p>
        </p:txBody>
      </p:sp>
      <p:sp>
        <p:nvSpPr>
          <p:cNvPr id="6" name="Text 3"/>
          <p:cNvSpPr/>
          <p:nvPr/>
        </p:nvSpPr>
        <p:spPr>
          <a:xfrm>
            <a:off x="812800" y="6238255"/>
            <a:ext cx="366136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Tachyon · Agent Audit Ledger · executive briefing</a:t>
            </a:r>
            <a:endParaRPr lang="en-US" sz="1200" dirty="0"/>
          </a:p>
        </p:txBody>
      </p:sp>
      <p:sp>
        <p:nvSpPr>
          <p:cNvPr id="7" name="Text 4"/>
          <p:cNvSpPr/>
          <p:nvPr/>
        </p:nvSpPr>
        <p:spPr>
          <a:xfrm>
            <a:off x="11190112" y="6238255"/>
            <a:ext cx="239889"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RECOMMENDATION</a:t>
            </a:r>
            <a:endParaRPr lang="en-US" sz="1200" dirty="0"/>
          </a:p>
        </p:txBody>
      </p:sp>
      <p:sp>
        <p:nvSpPr>
          <p:cNvPr id="3" name="Text 1"/>
          <p:cNvSpPr/>
          <p:nvPr/>
        </p:nvSpPr>
        <p:spPr>
          <a:xfrm>
            <a:off x="812800" y="112774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6213A"/>
                </a:solidFill>
                <a:latin typeface="Source Serif 4" pitchFamily="34" charset="0"/>
                <a:ea typeface="Source Serif 4" pitchFamily="34" charset="-122"/>
                <a:cs typeface="Source Serif 4" pitchFamily="34" charset="-120"/>
              </a:rPr>
              <a:t>Build a thin core, adopt the rest</a:t>
            </a:r>
            <a:endParaRPr lang="en-US" sz="3200" dirty="0"/>
          </a:p>
        </p:txBody>
      </p:sp>
      <p:sp>
        <p:nvSpPr>
          <p:cNvPr id="4" name="Shape 2"/>
          <p:cNvSpPr/>
          <p:nvPr/>
        </p:nvSpPr>
        <p:spPr>
          <a:xfrm>
            <a:off x="812800" y="1828763"/>
            <a:ext cx="2535061" cy="1889742"/>
          </a:xfrm>
          <a:prstGeom prst="roundRect">
            <a:avLst>
              <a:gd name="adj" fmla="val 4032"/>
            </a:avLst>
          </a:prstGeom>
          <a:solidFill>
            <a:srgbClr val="16213A"/>
          </a:solidFill>
          <a:ln/>
        </p:spPr>
      </p:sp>
      <p:sp>
        <p:nvSpPr>
          <p:cNvPr id="5" name="Text 3"/>
          <p:cNvSpPr/>
          <p:nvPr/>
        </p:nvSpPr>
        <p:spPr>
          <a:xfrm>
            <a:off x="1016000" y="2031963"/>
            <a:ext cx="2192521"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3A060"/>
                </a:solidFill>
                <a:latin typeface="Inter" pitchFamily="34" charset="0"/>
                <a:ea typeface="Inter" pitchFamily="34" charset="-122"/>
                <a:cs typeface="Inter" pitchFamily="34" charset="-120"/>
              </a:rPr>
              <a:t>BUILD</a:t>
            </a:r>
            <a:endParaRPr lang="en-US" sz="1200" dirty="0"/>
          </a:p>
        </p:txBody>
      </p:sp>
      <p:sp>
        <p:nvSpPr>
          <p:cNvPr id="6" name="Text 4"/>
          <p:cNvSpPr/>
          <p:nvPr/>
        </p:nvSpPr>
        <p:spPr>
          <a:xfrm>
            <a:off x="1016000" y="2334196"/>
            <a:ext cx="219252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4F2EC"/>
                </a:solidFill>
                <a:latin typeface="Inter" pitchFamily="34" charset="0"/>
                <a:ea typeface="Inter" pitchFamily="34" charset="-122"/>
                <a:cs typeface="Inter" pitchFamily="34" charset="-120"/>
              </a:rPr>
              <a:t>SDK interception hooks</a:t>
            </a:r>
            <a:endParaRPr lang="en-US" sz="1200" dirty="0"/>
          </a:p>
        </p:txBody>
      </p:sp>
      <p:sp>
        <p:nvSpPr>
          <p:cNvPr id="7" name="Text 5"/>
          <p:cNvSpPr/>
          <p:nvPr/>
        </p:nvSpPr>
        <p:spPr>
          <a:xfrm>
            <a:off x="1016000" y="2651696"/>
            <a:ext cx="219252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4F2EC"/>
                </a:solidFill>
                <a:latin typeface="Inter" pitchFamily="34" charset="0"/>
                <a:ea typeface="Inter" pitchFamily="34" charset="-122"/>
                <a:cs typeface="Inter" pitchFamily="34" charset="-120"/>
              </a:rPr>
              <a:t>Ledger schema and API</a:t>
            </a:r>
            <a:endParaRPr lang="en-US" sz="1200" dirty="0"/>
          </a:p>
        </p:txBody>
      </p:sp>
      <p:sp>
        <p:nvSpPr>
          <p:cNvPr id="8" name="Text 6"/>
          <p:cNvSpPr/>
          <p:nvPr/>
        </p:nvSpPr>
        <p:spPr>
          <a:xfrm>
            <a:off x="1016000" y="2969196"/>
            <a:ext cx="219252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4F2EC"/>
                </a:solidFill>
                <a:latin typeface="Inter" pitchFamily="34" charset="0"/>
                <a:ea typeface="Inter" pitchFamily="34" charset="-122"/>
                <a:cs typeface="Inter" pitchFamily="34" charset="-120"/>
              </a:rPr>
              <a:t>Risk-tier policy bundle</a:t>
            </a:r>
            <a:endParaRPr lang="en-US" sz="1200" dirty="0"/>
          </a:p>
        </p:txBody>
      </p:sp>
      <p:sp>
        <p:nvSpPr>
          <p:cNvPr id="9" name="Text 7"/>
          <p:cNvSpPr/>
          <p:nvPr/>
        </p:nvSpPr>
        <p:spPr>
          <a:xfrm>
            <a:off x="1016000" y="3286696"/>
            <a:ext cx="219252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4F2EC"/>
                </a:solidFill>
                <a:latin typeface="Inter" pitchFamily="34" charset="0"/>
                <a:ea typeface="Inter" pitchFamily="34" charset="-122"/>
                <a:cs typeface="Inter" pitchFamily="34" charset="-120"/>
              </a:rPr>
              <a:t>Auditor verifier</a:t>
            </a:r>
            <a:endParaRPr lang="en-US" sz="1200" dirty="0"/>
          </a:p>
        </p:txBody>
      </p:sp>
      <p:sp>
        <p:nvSpPr>
          <p:cNvPr id="10" name="Shape 8"/>
          <p:cNvSpPr/>
          <p:nvPr/>
        </p:nvSpPr>
        <p:spPr>
          <a:xfrm>
            <a:off x="3481211" y="1835113"/>
            <a:ext cx="2544939" cy="1877042"/>
          </a:xfrm>
          <a:prstGeom prst="roundRect">
            <a:avLst>
              <a:gd name="adj" fmla="val 3721"/>
            </a:avLst>
          </a:prstGeom>
          <a:solidFill>
            <a:srgbClr val="FBFAF6"/>
          </a:solidFill>
          <a:ln w="12700">
            <a:solidFill>
              <a:srgbClr val="D9822B"/>
            </a:solidFill>
            <a:prstDash val="solid"/>
          </a:ln>
        </p:spPr>
      </p:sp>
      <p:sp>
        <p:nvSpPr>
          <p:cNvPr id="11" name="Text 9"/>
          <p:cNvSpPr/>
          <p:nvPr/>
        </p:nvSpPr>
        <p:spPr>
          <a:xfrm>
            <a:off x="3689350" y="2043249"/>
            <a:ext cx="2192521"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ADOPT</a:t>
            </a:r>
            <a:endParaRPr lang="en-US" sz="1200" dirty="0"/>
          </a:p>
        </p:txBody>
      </p:sp>
      <p:sp>
        <p:nvSpPr>
          <p:cNvPr id="12" name="Text 10"/>
          <p:cNvSpPr/>
          <p:nvPr/>
        </p:nvSpPr>
        <p:spPr>
          <a:xfrm>
            <a:off x="3689350" y="2345494"/>
            <a:ext cx="219252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6213A"/>
                </a:solidFill>
                <a:latin typeface="Inter" pitchFamily="34" charset="0"/>
                <a:ea typeface="Inter" pitchFamily="34" charset="-122"/>
                <a:cs typeface="Inter" pitchFamily="34" charset="-120"/>
              </a:rPr>
              <a:t>OPA (already in place)</a:t>
            </a:r>
            <a:endParaRPr lang="en-US" sz="1200" dirty="0"/>
          </a:p>
        </p:txBody>
      </p:sp>
      <p:sp>
        <p:nvSpPr>
          <p:cNvPr id="13" name="Text 11"/>
          <p:cNvSpPr/>
          <p:nvPr/>
        </p:nvSpPr>
        <p:spPr>
          <a:xfrm>
            <a:off x="3689350" y="2662994"/>
            <a:ext cx="219252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6213A"/>
                </a:solidFill>
                <a:latin typeface="Inter" pitchFamily="34" charset="0"/>
                <a:ea typeface="Inter" pitchFamily="34" charset="-122"/>
                <a:cs typeface="Inter" pitchFamily="34" charset="-120"/>
              </a:rPr>
              <a:t>OTel and OpenInference IDs</a:t>
            </a:r>
            <a:endParaRPr lang="en-US" sz="1200" dirty="0"/>
          </a:p>
        </p:txBody>
      </p:sp>
      <p:sp>
        <p:nvSpPr>
          <p:cNvPr id="14" name="Text 12"/>
          <p:cNvSpPr/>
          <p:nvPr/>
        </p:nvSpPr>
        <p:spPr>
          <a:xfrm>
            <a:off x="3689350" y="2980494"/>
            <a:ext cx="219252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6213A"/>
                </a:solidFill>
                <a:latin typeface="Inter" pitchFamily="34" charset="0"/>
                <a:ea typeface="Inter" pitchFamily="34" charset="-122"/>
                <a:cs typeface="Inter" pitchFamily="34" charset="-120"/>
              </a:rPr>
              <a:t>immudb or Tessera anchor</a:t>
            </a:r>
            <a:endParaRPr lang="en-US" sz="1200" dirty="0"/>
          </a:p>
        </p:txBody>
      </p:sp>
      <p:sp>
        <p:nvSpPr>
          <p:cNvPr id="15" name="Shape 13"/>
          <p:cNvSpPr/>
          <p:nvPr/>
        </p:nvSpPr>
        <p:spPr>
          <a:xfrm>
            <a:off x="6162675" y="1831938"/>
            <a:ext cx="2540000" cy="1883392"/>
          </a:xfrm>
          <a:prstGeom prst="roundRect">
            <a:avLst>
              <a:gd name="adj" fmla="val 3877"/>
            </a:avLst>
          </a:prstGeom>
          <a:solidFill>
            <a:srgbClr val="FBFAF6"/>
          </a:solidFill>
          <a:ln w="6350">
            <a:solidFill>
              <a:srgbClr val="DCD6C8"/>
            </a:solidFill>
            <a:prstDash val="solid"/>
          </a:ln>
        </p:spPr>
      </p:sp>
      <p:sp>
        <p:nvSpPr>
          <p:cNvPr id="16" name="Text 14"/>
          <p:cNvSpPr/>
          <p:nvPr/>
        </p:nvSpPr>
        <p:spPr>
          <a:xfrm>
            <a:off x="6368345" y="2037606"/>
            <a:ext cx="2192521"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8C"/>
                </a:solidFill>
                <a:latin typeface="Inter" pitchFamily="34" charset="0"/>
                <a:ea typeface="Inter" pitchFamily="34" charset="-122"/>
                <a:cs typeface="Inter" pitchFamily="34" charset="-120"/>
              </a:rPr>
              <a:t>BORROW</a:t>
            </a:r>
            <a:endParaRPr lang="en-US" sz="1200" dirty="0"/>
          </a:p>
        </p:txBody>
      </p:sp>
      <p:sp>
        <p:nvSpPr>
          <p:cNvPr id="17" name="Text 15"/>
          <p:cNvSpPr/>
          <p:nvPr/>
        </p:nvSpPr>
        <p:spPr>
          <a:xfrm>
            <a:off x="6368345" y="2339839"/>
            <a:ext cx="219252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6213A"/>
                </a:solidFill>
                <a:latin typeface="Inter" pitchFamily="34" charset="0"/>
                <a:ea typeface="Inter" pitchFamily="34" charset="-122"/>
                <a:cs typeface="Inter" pitchFamily="34" charset="-120"/>
              </a:rPr>
              <a:t>AGT privilege rings</a:t>
            </a:r>
            <a:endParaRPr lang="en-US" sz="1200" dirty="0"/>
          </a:p>
        </p:txBody>
      </p:sp>
      <p:sp>
        <p:nvSpPr>
          <p:cNvPr id="18" name="Text 16"/>
          <p:cNvSpPr/>
          <p:nvPr/>
        </p:nvSpPr>
        <p:spPr>
          <a:xfrm>
            <a:off x="6368345" y="2657339"/>
            <a:ext cx="219252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6213A"/>
                </a:solidFill>
                <a:latin typeface="Inter" pitchFamily="34" charset="0"/>
                <a:ea typeface="Inter" pitchFamily="34" charset="-122"/>
                <a:cs typeface="Inter" pitchFamily="34" charset="-120"/>
              </a:rPr>
              <a:t>AGT decision bill of materials</a:t>
            </a:r>
            <a:endParaRPr lang="en-US" sz="1200" dirty="0"/>
          </a:p>
        </p:txBody>
      </p:sp>
      <p:sp>
        <p:nvSpPr>
          <p:cNvPr id="19" name="Text 17"/>
          <p:cNvSpPr/>
          <p:nvPr/>
        </p:nvSpPr>
        <p:spPr>
          <a:xfrm>
            <a:off x="6368345" y="2974839"/>
            <a:ext cx="219252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6213A"/>
                </a:solidFill>
                <a:latin typeface="Inter" pitchFamily="34" charset="0"/>
                <a:ea typeface="Inter" pitchFamily="34" charset="-122"/>
                <a:cs typeface="Inter" pitchFamily="34" charset="-120"/>
              </a:rPr>
              <a:t>Obsigno MCP proxy design</a:t>
            </a:r>
            <a:endParaRPr lang="en-US" sz="1200" dirty="0"/>
          </a:p>
        </p:txBody>
      </p:sp>
      <p:sp>
        <p:nvSpPr>
          <p:cNvPr id="20" name="Shape 18"/>
          <p:cNvSpPr/>
          <p:nvPr/>
        </p:nvSpPr>
        <p:spPr>
          <a:xfrm>
            <a:off x="8836025" y="1831938"/>
            <a:ext cx="2540000" cy="1883392"/>
          </a:xfrm>
          <a:prstGeom prst="roundRect">
            <a:avLst>
              <a:gd name="adj" fmla="val 3877"/>
            </a:avLst>
          </a:prstGeom>
          <a:solidFill>
            <a:srgbClr val="FBFAF6"/>
          </a:solidFill>
          <a:ln w="6350">
            <a:solidFill>
              <a:srgbClr val="DCD6C8"/>
            </a:solidFill>
            <a:prstDash val="solid"/>
          </a:ln>
        </p:spPr>
      </p:sp>
      <p:sp>
        <p:nvSpPr>
          <p:cNvPr id="21" name="Text 19"/>
          <p:cNvSpPr/>
          <p:nvPr/>
        </p:nvSpPr>
        <p:spPr>
          <a:xfrm>
            <a:off x="9041695" y="2037606"/>
            <a:ext cx="2192521"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6374"/>
                </a:solidFill>
                <a:latin typeface="Inter" pitchFamily="34" charset="0"/>
                <a:ea typeface="Inter" pitchFamily="34" charset="-122"/>
                <a:cs typeface="Inter" pitchFamily="34" charset="-120"/>
              </a:rPr>
              <a:t>AVOID</a:t>
            </a:r>
            <a:endParaRPr lang="en-US" sz="1200" dirty="0"/>
          </a:p>
        </p:txBody>
      </p:sp>
      <p:sp>
        <p:nvSpPr>
          <p:cNvPr id="22" name="Text 20"/>
          <p:cNvSpPr/>
          <p:nvPr/>
        </p:nvSpPr>
        <p:spPr>
          <a:xfrm>
            <a:off x="9041695" y="2339839"/>
            <a:ext cx="219252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6213A"/>
                </a:solidFill>
                <a:latin typeface="Inter" pitchFamily="34" charset="0"/>
                <a:ea typeface="Inter" pitchFamily="34" charset="-122"/>
                <a:cs typeface="Inter" pitchFamily="34" charset="-120"/>
              </a:rPr>
              <a:t>AGPL code in the path</a:t>
            </a:r>
            <a:endParaRPr lang="en-US" sz="1200" dirty="0"/>
          </a:p>
        </p:txBody>
      </p:sp>
      <p:sp>
        <p:nvSpPr>
          <p:cNvPr id="23" name="Text 21"/>
          <p:cNvSpPr/>
          <p:nvPr/>
        </p:nvSpPr>
        <p:spPr>
          <a:xfrm>
            <a:off x="9041695" y="2657339"/>
            <a:ext cx="219252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6213A"/>
                </a:solidFill>
                <a:latin typeface="Inter" pitchFamily="34" charset="0"/>
                <a:ea typeface="Inter" pitchFamily="34" charset="-122"/>
                <a:cs typeface="Inter" pitchFamily="34" charset="-120"/>
              </a:rPr>
              <a:t>Single-maintainer libraries</a:t>
            </a:r>
            <a:endParaRPr lang="en-US" sz="1200" dirty="0"/>
          </a:p>
        </p:txBody>
      </p:sp>
      <p:sp>
        <p:nvSpPr>
          <p:cNvPr id="24" name="Text 22"/>
          <p:cNvSpPr/>
          <p:nvPr/>
        </p:nvSpPr>
        <p:spPr>
          <a:xfrm>
            <a:off x="9041695" y="2974839"/>
            <a:ext cx="219252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6213A"/>
                </a:solidFill>
                <a:latin typeface="Inter" pitchFamily="34" charset="0"/>
                <a:ea typeface="Inter" pitchFamily="34" charset="-122"/>
                <a:cs typeface="Inter" pitchFamily="34" charset="-120"/>
              </a:rPr>
              <a:t>Blockchain anchoring</a:t>
            </a:r>
            <a:endParaRPr lang="en-US" sz="1200" dirty="0"/>
          </a:p>
        </p:txBody>
      </p:sp>
      <p:sp>
        <p:nvSpPr>
          <p:cNvPr id="25" name="Text 23"/>
          <p:cNvSpPr/>
          <p:nvPr/>
        </p:nvSpPr>
        <p:spPr>
          <a:xfrm>
            <a:off x="812800" y="3972496"/>
            <a:ext cx="10883392" cy="59434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6213A"/>
                </a:solidFill>
                <a:latin typeface="Source Serif 4" pitchFamily="34" charset="0"/>
                <a:ea typeface="Source Serif 4" pitchFamily="34" charset="-122"/>
                <a:cs typeface="Source Serif 4" pitchFamily="34" charset="-120"/>
              </a:rPr>
              <a:t>Why not buy? No product today gates and records the agent action inside our SDK, identity and policy stack; buying would add a second enforcement point.</a:t>
            </a:r>
            <a:endParaRPr lang="en-US" sz="1600" dirty="0"/>
          </a:p>
        </p:txBody>
      </p:sp>
      <p:sp>
        <p:nvSpPr>
          <p:cNvPr id="26" name="Text 24"/>
          <p:cNvSpPr/>
          <p:nvPr/>
        </p:nvSpPr>
        <p:spPr>
          <a:xfrm>
            <a:off x="812800" y="6238255"/>
            <a:ext cx="366136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Tachyon · Agent Audit Ledger · executive briefing</a:t>
            </a:r>
            <a:endParaRPr lang="en-US" sz="1200" dirty="0"/>
          </a:p>
        </p:txBody>
      </p:sp>
      <p:sp>
        <p:nvSpPr>
          <p:cNvPr id="27" name="Text 25"/>
          <p:cNvSpPr/>
          <p:nvPr/>
        </p:nvSpPr>
        <p:spPr>
          <a:xfrm>
            <a:off x="11224243" y="6238255"/>
            <a:ext cx="205758"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WHEN · ROADMAP</a:t>
            </a:r>
            <a:endParaRPr lang="en-US" sz="1200" dirty="0"/>
          </a:p>
        </p:txBody>
      </p:sp>
      <p:sp>
        <p:nvSpPr>
          <p:cNvPr id="3" name="Text 1"/>
          <p:cNvSpPr/>
          <p:nvPr/>
        </p:nvSpPr>
        <p:spPr>
          <a:xfrm>
            <a:off x="812800" y="112774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6213A"/>
                </a:solidFill>
                <a:latin typeface="Source Serif 4" pitchFamily="34" charset="0"/>
                <a:ea typeface="Source Serif 4" pitchFamily="34" charset="-122"/>
                <a:cs typeface="Source Serif 4" pitchFamily="34" charset="-120"/>
              </a:rPr>
              <a:t>Shadow first, enforce where risk is highest</a:t>
            </a:r>
            <a:endParaRPr lang="en-US" sz="3200" dirty="0"/>
          </a:p>
        </p:txBody>
      </p:sp>
      <p:sp>
        <p:nvSpPr>
          <p:cNvPr id="4" name="Shape 2"/>
          <p:cNvSpPr/>
          <p:nvPr/>
        </p:nvSpPr>
        <p:spPr>
          <a:xfrm>
            <a:off x="812800" y="1828763"/>
            <a:ext cx="2641600" cy="76200"/>
          </a:xfrm>
          <a:prstGeom prst="rect">
            <a:avLst/>
          </a:prstGeom>
          <a:solidFill>
            <a:srgbClr val="1F4E8C"/>
          </a:solidFill>
          <a:ln/>
        </p:spPr>
      </p:sp>
      <p:sp>
        <p:nvSpPr>
          <p:cNvPr id="5" name="Shape 3"/>
          <p:cNvSpPr/>
          <p:nvPr/>
        </p:nvSpPr>
        <p:spPr>
          <a:xfrm>
            <a:off x="3454400" y="1828763"/>
            <a:ext cx="2641600" cy="76200"/>
          </a:xfrm>
          <a:prstGeom prst="rect">
            <a:avLst/>
          </a:prstGeom>
          <a:solidFill>
            <a:srgbClr val="D9822B"/>
          </a:solidFill>
          <a:ln/>
        </p:spPr>
      </p:sp>
      <p:sp>
        <p:nvSpPr>
          <p:cNvPr id="6" name="Shape 4"/>
          <p:cNvSpPr/>
          <p:nvPr/>
        </p:nvSpPr>
        <p:spPr>
          <a:xfrm>
            <a:off x="6096000" y="1828763"/>
            <a:ext cx="2641600" cy="76200"/>
          </a:xfrm>
          <a:prstGeom prst="rect">
            <a:avLst/>
          </a:prstGeom>
          <a:solidFill>
            <a:srgbClr val="1F4E8C"/>
          </a:solidFill>
          <a:ln/>
        </p:spPr>
      </p:sp>
      <p:sp>
        <p:nvSpPr>
          <p:cNvPr id="7" name="Shape 5"/>
          <p:cNvSpPr/>
          <p:nvPr/>
        </p:nvSpPr>
        <p:spPr>
          <a:xfrm>
            <a:off x="8737600" y="1828763"/>
            <a:ext cx="2641600" cy="76200"/>
          </a:xfrm>
          <a:prstGeom prst="rect">
            <a:avLst/>
          </a:prstGeom>
          <a:solidFill>
            <a:srgbClr val="8C95A3"/>
          </a:solidFill>
          <a:ln/>
        </p:spPr>
      </p:sp>
      <p:sp>
        <p:nvSpPr>
          <p:cNvPr id="8" name="Text 6"/>
          <p:cNvSpPr/>
          <p:nvPr/>
        </p:nvSpPr>
        <p:spPr>
          <a:xfrm>
            <a:off x="812800" y="2158963"/>
            <a:ext cx="2622740"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C"/>
                </a:solidFill>
                <a:latin typeface="Inter" pitchFamily="34" charset="0"/>
                <a:ea typeface="Inter" pitchFamily="34" charset="-122"/>
                <a:cs typeface="Inter" pitchFamily="34" charset="-120"/>
              </a:rPr>
              <a:t>PHASE 0 · 0–3 mo</a:t>
            </a:r>
            <a:endParaRPr lang="en-US" sz="1200" dirty="0"/>
          </a:p>
        </p:txBody>
      </p:sp>
      <p:sp>
        <p:nvSpPr>
          <p:cNvPr id="9" name="Text 7"/>
          <p:cNvSpPr/>
          <p:nvPr/>
        </p:nvSpPr>
        <p:spPr>
          <a:xfrm>
            <a:off x="812800" y="2448496"/>
            <a:ext cx="262274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Observe</a:t>
            </a:r>
            <a:endParaRPr lang="en-US" sz="1600" dirty="0"/>
          </a:p>
        </p:txBody>
      </p:sp>
      <p:sp>
        <p:nvSpPr>
          <p:cNvPr id="10" name="Text 8"/>
          <p:cNvSpPr/>
          <p:nvPr/>
        </p:nvSpPr>
        <p:spPr>
          <a:xfrm>
            <a:off x="812800" y="2768513"/>
            <a:ext cx="2622740" cy="68831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Schema and SDK hook; shadow mode on [3] pilot apps; Arize correlation.</a:t>
            </a:r>
            <a:endParaRPr lang="en-US" sz="1200" dirty="0"/>
          </a:p>
        </p:txBody>
      </p:sp>
      <p:sp>
        <p:nvSpPr>
          <p:cNvPr id="11" name="Text 9"/>
          <p:cNvSpPr/>
          <p:nvPr/>
        </p:nvSpPr>
        <p:spPr>
          <a:xfrm>
            <a:off x="812800" y="3507631"/>
            <a:ext cx="2622740" cy="467342"/>
          </a:xfrm>
          <a:prstGeom prst="rect">
            <a:avLst/>
          </a:prstGeom>
          <a:noFill/>
          <a:ln/>
        </p:spPr>
        <p:txBody>
          <a:bodyPr wrap="square" lIns="0" tIns="0" rIns="0" bIns="0" rtlCol="0" anchor="t">
            <a:normAutofit/>
          </a:bodyPr>
          <a:lstStyle/>
          <a:p>
            <a:pPr algn="l" indent="0" marL="0">
              <a:lnSpc>
                <a:spcPts val="1740"/>
              </a:lnSpc>
              <a:buNone/>
            </a:pPr>
            <a:r>
              <a:rPr lang="en-US" sz="1200" i="1" dirty="0">
                <a:solidFill>
                  <a:srgbClr val="5A6374"/>
                </a:solidFill>
                <a:latin typeface="Inter" pitchFamily="34" charset="0"/>
                <a:ea typeface="Inter" pitchFamily="34" charset="-122"/>
                <a:cs typeface="Inter" pitchFamily="34" charset="-120"/>
              </a:rPr>
              <a:t>Exit: 100% of pilot actions recorded</a:t>
            </a:r>
            <a:endParaRPr lang="en-US" sz="1200" dirty="0"/>
          </a:p>
        </p:txBody>
      </p:sp>
      <p:sp>
        <p:nvSpPr>
          <p:cNvPr id="12" name="Text 10"/>
          <p:cNvSpPr/>
          <p:nvPr/>
        </p:nvSpPr>
        <p:spPr>
          <a:xfrm>
            <a:off x="3486150" y="2158963"/>
            <a:ext cx="2622740"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4F0A"/>
                </a:solidFill>
                <a:latin typeface="Inter" pitchFamily="34" charset="0"/>
                <a:ea typeface="Inter" pitchFamily="34" charset="-122"/>
                <a:cs typeface="Inter" pitchFamily="34" charset="-120"/>
              </a:rPr>
              <a:t>PHASE 1 · 3–6 mo</a:t>
            </a:r>
            <a:endParaRPr lang="en-US" sz="1200" dirty="0"/>
          </a:p>
        </p:txBody>
      </p:sp>
      <p:sp>
        <p:nvSpPr>
          <p:cNvPr id="13" name="Text 11"/>
          <p:cNvSpPr/>
          <p:nvPr/>
        </p:nvSpPr>
        <p:spPr>
          <a:xfrm>
            <a:off x="3486150" y="2448496"/>
            <a:ext cx="262274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Enforce</a:t>
            </a:r>
            <a:endParaRPr lang="en-US" sz="1600" dirty="0"/>
          </a:p>
        </p:txBody>
      </p:sp>
      <p:sp>
        <p:nvSpPr>
          <p:cNvPr id="14" name="Text 12"/>
          <p:cNvSpPr/>
          <p:nvPr/>
        </p:nvSpPr>
        <p:spPr>
          <a:xfrm>
            <a:off x="3486150" y="2768513"/>
            <a:ext cx="2622740" cy="68831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Gate enforces R3–R4 actions; signed checkpoints; first auditor walkthrough.</a:t>
            </a:r>
            <a:endParaRPr lang="en-US" sz="1200" dirty="0"/>
          </a:p>
        </p:txBody>
      </p:sp>
      <p:sp>
        <p:nvSpPr>
          <p:cNvPr id="15" name="Text 13"/>
          <p:cNvSpPr/>
          <p:nvPr/>
        </p:nvSpPr>
        <p:spPr>
          <a:xfrm>
            <a:off x="3486150" y="3507631"/>
            <a:ext cx="2622740" cy="246371"/>
          </a:xfrm>
          <a:prstGeom prst="rect">
            <a:avLst/>
          </a:prstGeom>
          <a:noFill/>
          <a:ln/>
        </p:spPr>
        <p:txBody>
          <a:bodyPr wrap="square" lIns="0" tIns="0" rIns="0" bIns="0" rtlCol="0" anchor="t">
            <a:normAutofit/>
          </a:bodyPr>
          <a:lstStyle/>
          <a:p>
            <a:pPr algn="l" indent="0" marL="0">
              <a:lnSpc>
                <a:spcPts val="1740"/>
              </a:lnSpc>
              <a:buNone/>
            </a:pPr>
            <a:r>
              <a:rPr lang="en-US" sz="1200" i="1" dirty="0">
                <a:solidFill>
                  <a:srgbClr val="5A6374"/>
                </a:solidFill>
                <a:latin typeface="Inter" pitchFamily="34" charset="0"/>
                <a:ea typeface="Inter" pitchFamily="34" charset="-122"/>
                <a:cs typeface="Inter" pitchFamily="34" charset="-120"/>
              </a:rPr>
              <a:t>Exit: latency SLO met</a:t>
            </a:r>
            <a:endParaRPr lang="en-US" sz="1200" dirty="0"/>
          </a:p>
        </p:txBody>
      </p:sp>
      <p:sp>
        <p:nvSpPr>
          <p:cNvPr id="16" name="Text 14"/>
          <p:cNvSpPr/>
          <p:nvPr/>
        </p:nvSpPr>
        <p:spPr>
          <a:xfrm>
            <a:off x="6159500" y="2158963"/>
            <a:ext cx="2622740"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8C"/>
                </a:solidFill>
                <a:latin typeface="Inter" pitchFamily="34" charset="0"/>
                <a:ea typeface="Inter" pitchFamily="34" charset="-122"/>
                <a:cs typeface="Inter" pitchFamily="34" charset="-120"/>
              </a:rPr>
              <a:t>PHASE 2 · 6–12 mo</a:t>
            </a:r>
            <a:endParaRPr lang="en-US" sz="1200" dirty="0"/>
          </a:p>
        </p:txBody>
      </p:sp>
      <p:sp>
        <p:nvSpPr>
          <p:cNvPr id="17" name="Text 15"/>
          <p:cNvSpPr/>
          <p:nvPr/>
        </p:nvSpPr>
        <p:spPr>
          <a:xfrm>
            <a:off x="6159500" y="2448496"/>
            <a:ext cx="262274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Prove</a:t>
            </a:r>
            <a:endParaRPr lang="en-US" sz="1600" dirty="0"/>
          </a:p>
        </p:txBody>
      </p:sp>
      <p:sp>
        <p:nvSpPr>
          <p:cNvPr id="18" name="Text 16"/>
          <p:cNvSpPr/>
          <p:nvPr/>
        </p:nvSpPr>
        <p:spPr>
          <a:xfrm>
            <a:off x="6159500" y="2768513"/>
            <a:ext cx="2622740" cy="68831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External anchor pilot; verifier tool; 40+ apps onboard via SDK upgrade.</a:t>
            </a:r>
            <a:endParaRPr lang="en-US" sz="1200" dirty="0"/>
          </a:p>
        </p:txBody>
      </p:sp>
      <p:sp>
        <p:nvSpPr>
          <p:cNvPr id="19" name="Text 17"/>
          <p:cNvSpPr/>
          <p:nvPr/>
        </p:nvSpPr>
        <p:spPr>
          <a:xfrm>
            <a:off x="6159500" y="3507631"/>
            <a:ext cx="2622740" cy="246371"/>
          </a:xfrm>
          <a:prstGeom prst="rect">
            <a:avLst/>
          </a:prstGeom>
          <a:noFill/>
          <a:ln/>
        </p:spPr>
        <p:txBody>
          <a:bodyPr wrap="square" lIns="0" tIns="0" rIns="0" bIns="0" rtlCol="0" anchor="t">
            <a:normAutofit/>
          </a:bodyPr>
          <a:lstStyle/>
          <a:p>
            <a:pPr algn="l" indent="0" marL="0">
              <a:lnSpc>
                <a:spcPts val="1740"/>
              </a:lnSpc>
              <a:buNone/>
            </a:pPr>
            <a:r>
              <a:rPr lang="en-US" sz="1200" i="1" dirty="0">
                <a:solidFill>
                  <a:srgbClr val="5A6374"/>
                </a:solidFill>
                <a:latin typeface="Inter" pitchFamily="34" charset="0"/>
                <a:ea typeface="Inter" pitchFamily="34" charset="-122"/>
                <a:cs typeface="Inter" pitchFamily="34" charset="-120"/>
              </a:rPr>
              <a:t>Exit: audit sign-off</a:t>
            </a:r>
            <a:endParaRPr lang="en-US" sz="1200" dirty="0"/>
          </a:p>
        </p:txBody>
      </p:sp>
      <p:sp>
        <p:nvSpPr>
          <p:cNvPr id="20" name="Text 18"/>
          <p:cNvSpPr/>
          <p:nvPr/>
        </p:nvSpPr>
        <p:spPr>
          <a:xfrm>
            <a:off x="8832850" y="2158963"/>
            <a:ext cx="2622740" cy="2387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374"/>
                </a:solidFill>
                <a:latin typeface="Inter" pitchFamily="34" charset="0"/>
                <a:ea typeface="Inter" pitchFamily="34" charset="-122"/>
                <a:cs typeface="Inter" pitchFamily="34" charset="-120"/>
              </a:rPr>
              <a:t>PHASE 3 · 12 mo+</a:t>
            </a:r>
            <a:endParaRPr lang="en-US" sz="1200" dirty="0"/>
          </a:p>
        </p:txBody>
      </p:sp>
      <p:sp>
        <p:nvSpPr>
          <p:cNvPr id="21" name="Text 19"/>
          <p:cNvSpPr/>
          <p:nvPr/>
        </p:nvSpPr>
        <p:spPr>
          <a:xfrm>
            <a:off x="8832850" y="2448496"/>
            <a:ext cx="262274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Extend</a:t>
            </a:r>
            <a:endParaRPr lang="en-US" sz="1600" dirty="0"/>
          </a:p>
        </p:txBody>
      </p:sp>
      <p:sp>
        <p:nvSpPr>
          <p:cNvPr id="22" name="Text 20"/>
          <p:cNvSpPr/>
          <p:nvPr/>
        </p:nvSpPr>
        <p:spPr>
          <a:xfrm>
            <a:off x="8832850" y="2768513"/>
            <a:ext cx="2622740" cy="68831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Multi-agent and A2A chains; adaptation receipts from the adaptive harness.</a:t>
            </a:r>
            <a:endParaRPr lang="en-US" sz="1200" dirty="0"/>
          </a:p>
        </p:txBody>
      </p:sp>
      <p:sp>
        <p:nvSpPr>
          <p:cNvPr id="23" name="Text 21"/>
          <p:cNvSpPr/>
          <p:nvPr/>
        </p:nvSpPr>
        <p:spPr>
          <a:xfrm>
            <a:off x="8832850" y="3507631"/>
            <a:ext cx="2622740" cy="246371"/>
          </a:xfrm>
          <a:prstGeom prst="rect">
            <a:avLst/>
          </a:prstGeom>
          <a:noFill/>
          <a:ln/>
        </p:spPr>
        <p:txBody>
          <a:bodyPr wrap="square" lIns="0" tIns="0" rIns="0" bIns="0" rtlCol="0" anchor="t">
            <a:normAutofit/>
          </a:bodyPr>
          <a:lstStyle/>
          <a:p>
            <a:pPr algn="l" indent="0" marL="0">
              <a:lnSpc>
                <a:spcPts val="1740"/>
              </a:lnSpc>
              <a:buNone/>
            </a:pPr>
            <a:r>
              <a:rPr lang="en-US" sz="1200" i="1" dirty="0">
                <a:solidFill>
                  <a:srgbClr val="5A6374"/>
                </a:solidFill>
                <a:latin typeface="Inter" pitchFamily="34" charset="0"/>
                <a:ea typeface="Inter" pitchFamily="34" charset="-122"/>
                <a:cs typeface="Inter" pitchFamily="34" charset="-120"/>
              </a:rPr>
              <a:t>Exit: [to define]</a:t>
            </a:r>
            <a:endParaRPr lang="en-US" sz="1200" dirty="0"/>
          </a:p>
        </p:txBody>
      </p:sp>
      <p:sp>
        <p:nvSpPr>
          <p:cNvPr id="24" name="Text 22"/>
          <p:cNvSpPr/>
          <p:nvPr/>
        </p:nvSpPr>
        <p:spPr>
          <a:xfrm>
            <a:off x="812800" y="6238255"/>
            <a:ext cx="366136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Tachyon · Agent Audit Ledger · executive briefing</a:t>
            </a:r>
            <a:endParaRPr lang="en-US" sz="1200" dirty="0"/>
          </a:p>
        </p:txBody>
      </p:sp>
      <p:sp>
        <p:nvSpPr>
          <p:cNvPr id="25" name="Text 23"/>
          <p:cNvSpPr/>
          <p:nvPr/>
        </p:nvSpPr>
        <p:spPr>
          <a:xfrm>
            <a:off x="11193287" y="6238255"/>
            <a:ext cx="236714"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RISKS</a:t>
            </a:r>
            <a:endParaRPr lang="en-US" sz="1200" dirty="0"/>
          </a:p>
        </p:txBody>
      </p:sp>
      <p:sp>
        <p:nvSpPr>
          <p:cNvPr id="3" name="Text 1"/>
          <p:cNvSpPr/>
          <p:nvPr/>
        </p:nvSpPr>
        <p:spPr>
          <a:xfrm>
            <a:off x="812800" y="112774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6213A"/>
                </a:solidFill>
                <a:latin typeface="Source Serif 4" pitchFamily="34" charset="0"/>
                <a:ea typeface="Source Serif 4" pitchFamily="34" charset="-122"/>
                <a:cs typeface="Source Serif 4" pitchFamily="34" charset="-120"/>
              </a:rPr>
              <a:t>What could go wrong, and how we contain it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840052"/>
          <a:ext cx="10555111" cy="2817019"/>
        </p:xfrm>
        <a:graphic>
          <a:graphicData uri="http://schemas.openxmlformats.org/drawingml/2006/table">
            <a:tbl>
              <a:tblPr/>
              <a:tblGrid>
                <a:gridCol w="5277556"/>
                <a:gridCol w="5277556"/>
              </a:tblGrid>
              <a:tr h="402431">
                <a:tc>
                  <a:txBody>
                    <a:bodyPr/>
                    <a:lstStyle/>
                    <a:p>
                      <a:pPr indent="0" marL="0">
                        <a:lnSpc>
                          <a:spcPts val="1680"/>
                        </a:lnSpc>
                        <a:buNone/>
                      </a:pPr>
                      <a:r>
                        <a:rPr lang="en-US" sz="1200" b="1" dirty="0">
                          <a:solidFill>
                            <a:srgbClr val="F4F2EC"/>
                          </a:solidFill>
                          <a:latin typeface="Inter" pitchFamily="34" charset="0"/>
                          <a:ea typeface="Inter" pitchFamily="34" charset="-122"/>
                          <a:cs typeface="Inter" pitchFamily="34" charset="-120"/>
                        </a:rPr>
                        <a:t>Risk</a:t>
                      </a:r>
                      <a:endParaRPr lang="en-US" sz="1200" dirty="0">
                        <a:latin typeface="Inter" charset="0"/>
                        <a:ea typeface="Inter" charset="0"/>
                        <a:cs typeface="Inter" charset="0"/>
                      </a:endParaRPr>
                    </a:p>
                  </a:txBody>
                  <a:tcPr marL="114300" marR="114300" marT="88900" marB="88900" anchor="t">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indent="0" marL="0">
                        <a:lnSpc>
                          <a:spcPts val="1680"/>
                        </a:lnSpc>
                        <a:buNone/>
                      </a:pPr>
                      <a:r>
                        <a:rPr lang="en-US" sz="1200" b="1" dirty="0">
                          <a:solidFill>
                            <a:srgbClr val="F4F2EC"/>
                          </a:solidFill>
                          <a:latin typeface="Inter" pitchFamily="34" charset="0"/>
                          <a:ea typeface="Inter" pitchFamily="34" charset="-122"/>
                          <a:cs typeface="Inter" pitchFamily="34" charset="-120"/>
                        </a:rPr>
                        <a:t>Mitigation</a:t>
                      </a:r>
                      <a:endParaRPr lang="en-US" sz="1200" dirty="0">
                        <a:latin typeface="Inter" charset="0"/>
                        <a:ea typeface="Inter" charset="0"/>
                        <a:cs typeface="Inter" charset="0"/>
                      </a:endParaRPr>
                    </a:p>
                  </a:txBody>
                  <a:tcPr marL="114300" marR="114300" marT="88900" marB="88900"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r>
              <a:tr h="4024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Gate slows agent loops</a:t>
                      </a:r>
                      <a:endParaRPr lang="en-US" sz="1200" dirty="0">
                        <a:latin typeface="Inter" charset="0"/>
                        <a:ea typeface="Inter" charset="0"/>
                        <a:cs typeface="Inter" charset="0"/>
                      </a:endParaRPr>
                    </a:p>
                  </a:txBody>
                  <a:tcPr marL="114300" marR="1143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Tiered sync/async by risk; decision caching; published p99 SLO</a:t>
                      </a:r>
                      <a:endParaRPr lang="en-US" sz="1200" dirty="0">
                        <a:latin typeface="Inter" charset="0"/>
                        <a:ea typeface="Inter" charset="0"/>
                        <a:cs typeface="Inter" charset="0"/>
                      </a:endParaRPr>
                    </a:p>
                  </a:txBody>
                  <a:tcPr marL="114300" marR="1143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4024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Integrity mistaken for completeness</a:t>
                      </a:r>
                      <a:endParaRPr lang="en-US" sz="1200" dirty="0">
                        <a:latin typeface="Inter" charset="0"/>
                        <a:ea typeface="Inter" charset="0"/>
                        <a:cs typeface="Inter" charset="0"/>
                      </a:endParaRPr>
                    </a:p>
                  </a:txBody>
                  <a:tcPr marL="114300" marR="1143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SDK as the only path; daily reconciliation with Apigee and AI Bridge</a:t>
                      </a:r>
                      <a:endParaRPr lang="en-US" sz="1200" dirty="0">
                        <a:latin typeface="Inter" charset="0"/>
                        <a:ea typeface="Inter" charset="0"/>
                        <a:cs typeface="Inter" charset="0"/>
                      </a:endParaRPr>
                    </a:p>
                  </a:txBody>
                  <a:tcPr marL="114300" marR="1143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4024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Sensitive data in the ledger</a:t>
                      </a:r>
                      <a:endParaRPr lang="en-US" sz="1200" dirty="0">
                        <a:latin typeface="Inter" charset="0"/>
                        <a:ea typeface="Inter" charset="0"/>
                        <a:cs typeface="Inter" charset="0"/>
                      </a:endParaRPr>
                    </a:p>
                  </a:txBody>
                  <a:tcPr marL="114300" marR="1143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Hashes and references only; payloads in a governed store</a:t>
                      </a:r>
                      <a:endParaRPr lang="en-US" sz="1200" dirty="0">
                        <a:latin typeface="Inter" charset="0"/>
                        <a:ea typeface="Inter" charset="0"/>
                        <a:cs typeface="Inter" charset="0"/>
                      </a:endParaRPr>
                    </a:p>
                  </a:txBody>
                  <a:tcPr marL="114300" marR="1143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4024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Unclear failure mode</a:t>
                      </a:r>
                      <a:endParaRPr lang="en-US" sz="1200" dirty="0">
                        <a:latin typeface="Inter" charset="0"/>
                        <a:ea typeface="Inter" charset="0"/>
                        <a:cs typeface="Inter" charset="0"/>
                      </a:endParaRPr>
                    </a:p>
                  </a:txBody>
                  <a:tcPr marL="114300" marR="1143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Fail closed for R3–R4; fail open with backfill for R0–R2</a:t>
                      </a:r>
                      <a:endParaRPr lang="en-US" sz="1200" dirty="0">
                        <a:latin typeface="Inter" charset="0"/>
                        <a:ea typeface="Inter" charset="0"/>
                        <a:cs typeface="Inter" charset="0"/>
                      </a:endParaRPr>
                    </a:p>
                  </a:txBody>
                  <a:tcPr marL="114300" marR="1143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4024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Overlap with Arize or SIEM</a:t>
                      </a:r>
                      <a:endParaRPr lang="en-US" sz="1200" dirty="0">
                        <a:latin typeface="Inter" charset="0"/>
                        <a:ea typeface="Inter" charset="0"/>
                        <a:cs typeface="Inter" charset="0"/>
                      </a:endParaRPr>
                    </a:p>
                  </a:txBody>
                  <a:tcPr marL="114300" marR="1143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Written system-of-record charter; export to SIEM, never duplicate</a:t>
                      </a:r>
                      <a:endParaRPr lang="en-US" sz="1200" dirty="0">
                        <a:latin typeface="Inter" charset="0"/>
                        <a:ea typeface="Inter" charset="0"/>
                        <a:cs typeface="Inter" charset="0"/>
                      </a:endParaRPr>
                    </a:p>
                  </a:txBody>
                  <a:tcPr marL="114300" marR="1143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r h="402431">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Scope creep</a:t>
                      </a:r>
                      <a:endParaRPr lang="en-US" sz="1200" dirty="0">
                        <a:latin typeface="Inter" charset="0"/>
                        <a:ea typeface="Inter" charset="0"/>
                        <a:cs typeface="Inter" charset="0"/>
                      </a:endParaRPr>
                    </a:p>
                  </a:txBody>
                  <a:tcPr marL="114300" marR="1143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nter" pitchFamily="34" charset="0"/>
                          <a:ea typeface="Inter" pitchFamily="34" charset="-122"/>
                          <a:cs typeface="Inter" pitchFamily="34" charset="-120"/>
                        </a:rPr>
                        <a:t>New components earn entry via an incident or an audit ask</a:t>
                      </a:r>
                      <a:endParaRPr lang="en-US" sz="1200" dirty="0">
                        <a:latin typeface="Inter" charset="0"/>
                        <a:ea typeface="Inter" charset="0"/>
                        <a:cs typeface="Inter" charset="0"/>
                      </a:endParaRPr>
                    </a:p>
                  </a:txBody>
                  <a:tcPr marL="114300" marR="114300" marT="88900" marB="8890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r>
            </a:tbl>
          </a:graphicData>
        </a:graphic>
      </p:graphicFrame>
      <p:sp>
        <p:nvSpPr>
          <p:cNvPr id="5" name="Text 2"/>
          <p:cNvSpPr/>
          <p:nvPr/>
        </p:nvSpPr>
        <p:spPr>
          <a:xfrm>
            <a:off x="812800" y="6238255"/>
            <a:ext cx="366136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Tachyon · Agent Audit Ledger · executive briefing</a:t>
            </a:r>
            <a:endParaRPr lang="en-US" sz="1200" dirty="0"/>
          </a:p>
        </p:txBody>
      </p:sp>
      <p:sp>
        <p:nvSpPr>
          <p:cNvPr id="6" name="Text 3"/>
          <p:cNvSpPr/>
          <p:nvPr/>
        </p:nvSpPr>
        <p:spPr>
          <a:xfrm>
            <a:off x="11192096" y="6238255"/>
            <a:ext cx="237905"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OPEN ITEMS</a:t>
            </a:r>
            <a:endParaRPr lang="en-US" sz="1200" dirty="0"/>
          </a:p>
        </p:txBody>
      </p:sp>
      <p:sp>
        <p:nvSpPr>
          <p:cNvPr id="3" name="Text 1"/>
          <p:cNvSpPr/>
          <p:nvPr/>
        </p:nvSpPr>
        <p:spPr>
          <a:xfrm>
            <a:off x="812800" y="112774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6213A"/>
                </a:solidFill>
                <a:latin typeface="Source Serif 4" pitchFamily="34" charset="0"/>
                <a:ea typeface="Source Serif 4" pitchFamily="34" charset="-122"/>
                <a:cs typeface="Source Serif 4" pitchFamily="34" charset="-120"/>
              </a:rPr>
              <a:t>Details still to close before Phase 1</a:t>
            </a:r>
            <a:endParaRPr lang="en-US" sz="3200" dirty="0"/>
          </a:p>
        </p:txBody>
      </p:sp>
      <p:sp>
        <p:nvSpPr>
          <p:cNvPr id="4" name="Shape 2"/>
          <p:cNvSpPr/>
          <p:nvPr/>
        </p:nvSpPr>
        <p:spPr>
          <a:xfrm>
            <a:off x="812800" y="1835113"/>
            <a:ext cx="5283200" cy="0"/>
          </a:xfrm>
          <a:prstGeom prst="line">
            <a:avLst/>
          </a:prstGeom>
          <a:noFill/>
          <a:ln w="12700">
            <a:solidFill>
              <a:srgbClr val="16213A"/>
            </a:solidFill>
            <a:prstDash val="solid"/>
          </a:ln>
        </p:spPr>
      </p:sp>
      <p:sp>
        <p:nvSpPr>
          <p:cNvPr id="5" name="Text 3"/>
          <p:cNvSpPr/>
          <p:nvPr/>
        </p:nvSpPr>
        <p:spPr>
          <a:xfrm>
            <a:off x="812800" y="1941649"/>
            <a:ext cx="5441696" cy="208271"/>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6213A"/>
                </a:solidFill>
                <a:latin typeface="Inter" pitchFamily="34" charset="0"/>
                <a:ea typeface="Inter" pitchFamily="34" charset="-122"/>
                <a:cs typeface="Inter" pitchFamily="34" charset="-120"/>
              </a:rPr>
              <a:t>Ownership and RACI</a:t>
            </a:r>
            <a:endParaRPr lang="en-US" sz="1200" dirty="0"/>
          </a:p>
        </p:txBody>
      </p:sp>
      <p:sp>
        <p:nvSpPr>
          <p:cNvPr id="6" name="Text 4"/>
          <p:cNvSpPr/>
          <p:nvPr/>
        </p:nvSpPr>
        <p:spPr>
          <a:xfrm>
            <a:off x="812800" y="2162621"/>
            <a:ext cx="5441696"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458"/>
                </a:solidFill>
                <a:latin typeface="Inter" pitchFamily="34" charset="0"/>
                <a:ea typeface="Inter" pitchFamily="34" charset="-122"/>
                <a:cs typeface="Inter" pitchFamily="34" charset="-120"/>
              </a:rPr>
              <a:t>Who owns policy content, the ledger, and audit requests</a:t>
            </a:r>
            <a:endParaRPr lang="en-US" sz="1200" dirty="0"/>
          </a:p>
        </p:txBody>
      </p:sp>
      <p:sp>
        <p:nvSpPr>
          <p:cNvPr id="7" name="Shape 5"/>
          <p:cNvSpPr/>
          <p:nvPr/>
        </p:nvSpPr>
        <p:spPr>
          <a:xfrm>
            <a:off x="6096000" y="1835113"/>
            <a:ext cx="5283200" cy="0"/>
          </a:xfrm>
          <a:prstGeom prst="line">
            <a:avLst/>
          </a:prstGeom>
          <a:noFill/>
          <a:ln w="12700">
            <a:solidFill>
              <a:srgbClr val="16213A"/>
            </a:solidFill>
            <a:prstDash val="solid"/>
          </a:ln>
        </p:spPr>
      </p:sp>
      <p:sp>
        <p:nvSpPr>
          <p:cNvPr id="8" name="Text 6"/>
          <p:cNvSpPr/>
          <p:nvPr/>
        </p:nvSpPr>
        <p:spPr>
          <a:xfrm>
            <a:off x="6096000" y="1941649"/>
            <a:ext cx="5441696" cy="208271"/>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6213A"/>
                </a:solidFill>
                <a:latin typeface="Inter" pitchFamily="34" charset="0"/>
                <a:ea typeface="Inter" pitchFamily="34" charset="-122"/>
                <a:cs typeface="Inter" pitchFamily="34" charset="-120"/>
              </a:rPr>
              <a:t>Retention and residency</a:t>
            </a:r>
            <a:endParaRPr lang="en-US" sz="1200" dirty="0"/>
          </a:p>
        </p:txBody>
      </p:sp>
      <p:sp>
        <p:nvSpPr>
          <p:cNvPr id="9" name="Text 7"/>
          <p:cNvSpPr/>
          <p:nvPr/>
        </p:nvSpPr>
        <p:spPr>
          <a:xfrm>
            <a:off x="6096000" y="2162621"/>
            <a:ext cx="5441696"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458"/>
                </a:solidFill>
                <a:latin typeface="Inter" pitchFamily="34" charset="0"/>
                <a:ea typeface="Inter" pitchFamily="34" charset="-122"/>
                <a:cs typeface="Inter" pitchFamily="34" charset="-120"/>
              </a:rPr>
              <a:t>Years per record class; in-region storage for India data</a:t>
            </a:r>
            <a:endParaRPr lang="en-US" sz="1200" dirty="0"/>
          </a:p>
        </p:txBody>
      </p:sp>
      <p:sp>
        <p:nvSpPr>
          <p:cNvPr id="10" name="Shape 8"/>
          <p:cNvSpPr/>
          <p:nvPr/>
        </p:nvSpPr>
        <p:spPr>
          <a:xfrm>
            <a:off x="812800" y="2382304"/>
            <a:ext cx="5283200" cy="0"/>
          </a:xfrm>
          <a:prstGeom prst="line">
            <a:avLst/>
          </a:prstGeom>
          <a:noFill/>
          <a:ln w="12700">
            <a:solidFill>
              <a:srgbClr val="16213A"/>
            </a:solidFill>
            <a:prstDash val="solid"/>
          </a:ln>
        </p:spPr>
      </p:sp>
      <p:sp>
        <p:nvSpPr>
          <p:cNvPr id="11" name="Text 9"/>
          <p:cNvSpPr/>
          <p:nvPr/>
        </p:nvSpPr>
        <p:spPr>
          <a:xfrm>
            <a:off x="812800" y="2488853"/>
            <a:ext cx="5441696" cy="208271"/>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6213A"/>
                </a:solidFill>
                <a:latin typeface="Inter" pitchFamily="34" charset="0"/>
                <a:ea typeface="Inter" pitchFamily="34" charset="-122"/>
                <a:cs typeface="Inter" pitchFamily="34" charset="-120"/>
              </a:rPr>
              <a:t>Auditor verification path</a:t>
            </a:r>
            <a:endParaRPr lang="en-US" sz="1200" dirty="0"/>
          </a:p>
        </p:txBody>
      </p:sp>
      <p:sp>
        <p:nvSpPr>
          <p:cNvPr id="12" name="Text 10"/>
          <p:cNvSpPr/>
          <p:nvPr/>
        </p:nvSpPr>
        <p:spPr>
          <a:xfrm>
            <a:off x="812800" y="2709825"/>
            <a:ext cx="5441696"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458"/>
                </a:solidFill>
                <a:latin typeface="Inter" pitchFamily="34" charset="0"/>
                <a:ea typeface="Inter" pitchFamily="34" charset="-122"/>
                <a:cs typeface="Inter" pitchFamily="34" charset="-120"/>
              </a:rPr>
              <a:t>How Internal Audit checks the chain without us</a:t>
            </a:r>
            <a:endParaRPr lang="en-US" sz="1200" dirty="0"/>
          </a:p>
        </p:txBody>
      </p:sp>
      <p:sp>
        <p:nvSpPr>
          <p:cNvPr id="13" name="Shape 11"/>
          <p:cNvSpPr/>
          <p:nvPr/>
        </p:nvSpPr>
        <p:spPr>
          <a:xfrm>
            <a:off x="6096000" y="2382304"/>
            <a:ext cx="5283200" cy="0"/>
          </a:xfrm>
          <a:prstGeom prst="line">
            <a:avLst/>
          </a:prstGeom>
          <a:noFill/>
          <a:ln w="12700">
            <a:solidFill>
              <a:srgbClr val="16213A"/>
            </a:solidFill>
            <a:prstDash val="solid"/>
          </a:ln>
        </p:spPr>
      </p:sp>
      <p:sp>
        <p:nvSpPr>
          <p:cNvPr id="14" name="Text 12"/>
          <p:cNvSpPr/>
          <p:nvPr/>
        </p:nvSpPr>
        <p:spPr>
          <a:xfrm>
            <a:off x="6096000" y="2488853"/>
            <a:ext cx="5441696" cy="208271"/>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6213A"/>
                </a:solidFill>
                <a:latin typeface="Inter" pitchFamily="34" charset="0"/>
                <a:ea typeface="Inter" pitchFamily="34" charset="-122"/>
                <a:cs typeface="Inter" pitchFamily="34" charset="-120"/>
              </a:rPr>
              <a:t>Cost and capacity</a:t>
            </a:r>
            <a:endParaRPr lang="en-US" sz="1200" dirty="0"/>
          </a:p>
        </p:txBody>
      </p:sp>
      <p:sp>
        <p:nvSpPr>
          <p:cNvPr id="15" name="Text 13"/>
          <p:cNvSpPr/>
          <p:nvPr/>
        </p:nvSpPr>
        <p:spPr>
          <a:xfrm>
            <a:off x="6096000" y="2709825"/>
            <a:ext cx="5441696"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458"/>
                </a:solidFill>
                <a:latin typeface="Inter" pitchFamily="34" charset="0"/>
                <a:ea typeface="Inter" pitchFamily="34" charset="-122"/>
                <a:cs typeface="Inter" pitchFamily="34" charset="-120"/>
              </a:rPr>
              <a:t>Storage growth, compute, and FTE per phase</a:t>
            </a:r>
            <a:endParaRPr lang="en-US" sz="1200" dirty="0"/>
          </a:p>
        </p:txBody>
      </p:sp>
      <p:sp>
        <p:nvSpPr>
          <p:cNvPr id="16" name="Shape 14"/>
          <p:cNvSpPr/>
          <p:nvPr/>
        </p:nvSpPr>
        <p:spPr>
          <a:xfrm>
            <a:off x="812800" y="2929508"/>
            <a:ext cx="5283200" cy="0"/>
          </a:xfrm>
          <a:prstGeom prst="line">
            <a:avLst/>
          </a:prstGeom>
          <a:noFill/>
          <a:ln w="12700">
            <a:solidFill>
              <a:srgbClr val="16213A"/>
            </a:solidFill>
            <a:prstDash val="solid"/>
          </a:ln>
        </p:spPr>
      </p:sp>
      <p:sp>
        <p:nvSpPr>
          <p:cNvPr id="17" name="Text 15"/>
          <p:cNvSpPr/>
          <p:nvPr/>
        </p:nvSpPr>
        <p:spPr>
          <a:xfrm>
            <a:off x="812800" y="3036057"/>
            <a:ext cx="5441696" cy="208271"/>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6213A"/>
                </a:solidFill>
                <a:latin typeface="Inter" pitchFamily="34" charset="0"/>
                <a:ea typeface="Inter" pitchFamily="34" charset="-122"/>
                <a:cs typeface="Inter" pitchFamily="34" charset="-120"/>
              </a:rPr>
              <a:t>Multi-DC ordering</a:t>
            </a:r>
            <a:endParaRPr lang="en-US" sz="1200" dirty="0"/>
          </a:p>
        </p:txBody>
      </p:sp>
      <p:sp>
        <p:nvSpPr>
          <p:cNvPr id="18" name="Text 16"/>
          <p:cNvSpPr/>
          <p:nvPr/>
        </p:nvSpPr>
        <p:spPr>
          <a:xfrm>
            <a:off x="812800" y="3257017"/>
            <a:ext cx="5441696"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458"/>
                </a:solidFill>
                <a:latin typeface="Inter" pitchFamily="34" charset="0"/>
                <a:ea typeface="Inter" pitchFamily="34" charset="-122"/>
                <a:cs typeface="Inter" pitchFamily="34" charset="-120"/>
              </a:rPr>
              <a:t>Chain semantics across pods and data centres</a:t>
            </a:r>
            <a:endParaRPr lang="en-US" sz="1200" dirty="0"/>
          </a:p>
        </p:txBody>
      </p:sp>
      <p:sp>
        <p:nvSpPr>
          <p:cNvPr id="19" name="Shape 17"/>
          <p:cNvSpPr/>
          <p:nvPr/>
        </p:nvSpPr>
        <p:spPr>
          <a:xfrm>
            <a:off x="6096000" y="2929508"/>
            <a:ext cx="5283200" cy="0"/>
          </a:xfrm>
          <a:prstGeom prst="line">
            <a:avLst/>
          </a:prstGeom>
          <a:noFill/>
          <a:ln w="12700">
            <a:solidFill>
              <a:srgbClr val="16213A"/>
            </a:solidFill>
            <a:prstDash val="solid"/>
          </a:ln>
        </p:spPr>
      </p:sp>
      <p:sp>
        <p:nvSpPr>
          <p:cNvPr id="20" name="Text 18"/>
          <p:cNvSpPr/>
          <p:nvPr/>
        </p:nvSpPr>
        <p:spPr>
          <a:xfrm>
            <a:off x="6096000" y="3036057"/>
            <a:ext cx="5441696" cy="208271"/>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6213A"/>
                </a:solidFill>
                <a:latin typeface="Inter" pitchFamily="34" charset="0"/>
                <a:ea typeface="Inter" pitchFamily="34" charset="-122"/>
                <a:cs typeface="Inter" pitchFamily="34" charset="-120"/>
              </a:rPr>
              <a:t>SDK signing keys</a:t>
            </a:r>
            <a:endParaRPr lang="en-US" sz="1200" dirty="0"/>
          </a:p>
        </p:txBody>
      </p:sp>
      <p:sp>
        <p:nvSpPr>
          <p:cNvPr id="21" name="Text 19"/>
          <p:cNvSpPr/>
          <p:nvPr/>
        </p:nvSpPr>
        <p:spPr>
          <a:xfrm>
            <a:off x="6096000" y="3257017"/>
            <a:ext cx="5441696"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458"/>
                </a:solidFill>
                <a:latin typeface="Inter" pitchFamily="34" charset="0"/>
                <a:ea typeface="Inter" pitchFamily="34" charset="-122"/>
                <a:cs typeface="Inter" pitchFamily="34" charset="-120"/>
              </a:rPr>
              <a:t>Distributing and rotating keys to every agent runtime</a:t>
            </a:r>
            <a:endParaRPr lang="en-US" sz="1200" dirty="0"/>
          </a:p>
        </p:txBody>
      </p:sp>
      <p:sp>
        <p:nvSpPr>
          <p:cNvPr id="22" name="Shape 20"/>
          <p:cNvSpPr/>
          <p:nvPr/>
        </p:nvSpPr>
        <p:spPr>
          <a:xfrm>
            <a:off x="812800" y="3476712"/>
            <a:ext cx="5283200" cy="0"/>
          </a:xfrm>
          <a:prstGeom prst="line">
            <a:avLst/>
          </a:prstGeom>
          <a:noFill/>
          <a:ln w="12700">
            <a:solidFill>
              <a:srgbClr val="16213A"/>
            </a:solidFill>
            <a:prstDash val="solid"/>
          </a:ln>
        </p:spPr>
      </p:sp>
      <p:sp>
        <p:nvSpPr>
          <p:cNvPr id="23" name="Text 21"/>
          <p:cNvSpPr/>
          <p:nvPr/>
        </p:nvSpPr>
        <p:spPr>
          <a:xfrm>
            <a:off x="812800" y="3583248"/>
            <a:ext cx="5441696" cy="208271"/>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6213A"/>
                </a:solidFill>
                <a:latin typeface="Inter" pitchFamily="34" charset="0"/>
                <a:ea typeface="Inter" pitchFamily="34" charset="-122"/>
                <a:cs typeface="Inter" pitchFamily="34" charset="-120"/>
              </a:rPr>
              <a:t>Adoption mechanics</a:t>
            </a:r>
            <a:endParaRPr lang="en-US" sz="1200" dirty="0"/>
          </a:p>
        </p:txBody>
      </p:sp>
      <p:sp>
        <p:nvSpPr>
          <p:cNvPr id="24" name="Text 22"/>
          <p:cNvSpPr/>
          <p:nvPr/>
        </p:nvSpPr>
        <p:spPr>
          <a:xfrm>
            <a:off x="812800" y="3804221"/>
            <a:ext cx="5441696"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458"/>
                </a:solidFill>
                <a:latin typeface="Inter" pitchFamily="34" charset="0"/>
                <a:ea typeface="Inter" pitchFamily="34" charset="-122"/>
                <a:cs typeface="Inter" pitchFamily="34" charset="-120"/>
              </a:rPr>
              <a:t>SDK upgrade path for 40+ apps; non-SDK agents</a:t>
            </a:r>
            <a:endParaRPr lang="en-US" sz="1200" dirty="0"/>
          </a:p>
        </p:txBody>
      </p:sp>
      <p:sp>
        <p:nvSpPr>
          <p:cNvPr id="25" name="Shape 23"/>
          <p:cNvSpPr/>
          <p:nvPr/>
        </p:nvSpPr>
        <p:spPr>
          <a:xfrm>
            <a:off x="6096000" y="3476712"/>
            <a:ext cx="5283200" cy="0"/>
          </a:xfrm>
          <a:prstGeom prst="line">
            <a:avLst/>
          </a:prstGeom>
          <a:noFill/>
          <a:ln w="12700">
            <a:solidFill>
              <a:srgbClr val="16213A"/>
            </a:solidFill>
            <a:prstDash val="solid"/>
          </a:ln>
        </p:spPr>
      </p:sp>
      <p:sp>
        <p:nvSpPr>
          <p:cNvPr id="26" name="Text 24"/>
          <p:cNvSpPr/>
          <p:nvPr/>
        </p:nvSpPr>
        <p:spPr>
          <a:xfrm>
            <a:off x="6096000" y="3583248"/>
            <a:ext cx="5441696" cy="208271"/>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6213A"/>
                </a:solidFill>
                <a:latin typeface="Inter" pitchFamily="34" charset="0"/>
                <a:ea typeface="Inter" pitchFamily="34" charset="-122"/>
                <a:cs typeface="Inter" pitchFamily="34" charset="-120"/>
              </a:rPr>
              <a:t>Third-party agents</a:t>
            </a:r>
            <a:endParaRPr lang="en-US" sz="1200" dirty="0"/>
          </a:p>
        </p:txBody>
      </p:sp>
      <p:sp>
        <p:nvSpPr>
          <p:cNvPr id="27" name="Text 25"/>
          <p:cNvSpPr/>
          <p:nvPr/>
        </p:nvSpPr>
        <p:spPr>
          <a:xfrm>
            <a:off x="6096000" y="3804221"/>
            <a:ext cx="5441696"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458"/>
                </a:solidFill>
                <a:latin typeface="Inter" pitchFamily="34" charset="0"/>
                <a:ea typeface="Inter" pitchFamily="34" charset="-122"/>
                <a:cs typeface="Inter" pitchFamily="34" charset="-120"/>
              </a:rPr>
              <a:t>Coverage for vendor agents such as Devin outside the SDK</a:t>
            </a:r>
            <a:endParaRPr lang="en-US" sz="1200" dirty="0"/>
          </a:p>
        </p:txBody>
      </p:sp>
      <p:sp>
        <p:nvSpPr>
          <p:cNvPr id="28" name="Text 26"/>
          <p:cNvSpPr/>
          <p:nvPr/>
        </p:nvSpPr>
        <p:spPr>
          <a:xfrm>
            <a:off x="812800" y="6238255"/>
            <a:ext cx="366136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Tachyon · Agent Audit Ledger · executive briefing</a:t>
            </a:r>
            <a:endParaRPr lang="en-US" sz="1200" dirty="0"/>
          </a:p>
        </p:txBody>
      </p:sp>
      <p:sp>
        <p:nvSpPr>
          <p:cNvPr id="29" name="Text 27"/>
          <p:cNvSpPr/>
          <p:nvPr/>
        </p:nvSpPr>
        <p:spPr>
          <a:xfrm>
            <a:off x="11190155" y="6238255"/>
            <a:ext cx="239845"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SUCCESS MEASURES</a:t>
            </a:r>
            <a:endParaRPr lang="en-US" sz="1200" dirty="0"/>
          </a:p>
        </p:txBody>
      </p:sp>
      <p:sp>
        <p:nvSpPr>
          <p:cNvPr id="3" name="Text 1"/>
          <p:cNvSpPr/>
          <p:nvPr/>
        </p:nvSpPr>
        <p:spPr>
          <a:xfrm>
            <a:off x="812800" y="112774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6213A"/>
                </a:solidFill>
                <a:latin typeface="Source Serif 4" pitchFamily="34" charset="0"/>
                <a:ea typeface="Source Serif 4" pitchFamily="34" charset="-122"/>
                <a:cs typeface="Source Serif 4" pitchFamily="34" charset="-120"/>
              </a:rPr>
              <a:t>Four numbers we will report monthly</a:t>
            </a:r>
            <a:endParaRPr lang="en-US" sz="3200" dirty="0"/>
          </a:p>
        </p:txBody>
      </p:sp>
      <p:sp>
        <p:nvSpPr>
          <p:cNvPr id="4" name="Shape 2"/>
          <p:cNvSpPr/>
          <p:nvPr/>
        </p:nvSpPr>
        <p:spPr>
          <a:xfrm>
            <a:off x="815975" y="1882738"/>
            <a:ext cx="2520950" cy="1909895"/>
          </a:xfrm>
          <a:prstGeom prst="roundRect">
            <a:avLst>
              <a:gd name="adj" fmla="val 3824"/>
            </a:avLst>
          </a:prstGeom>
          <a:solidFill>
            <a:srgbClr val="FBFAF6"/>
          </a:solidFill>
          <a:ln w="6350">
            <a:solidFill>
              <a:srgbClr val="DCD6C8"/>
            </a:solidFill>
            <a:prstDash val="solid"/>
          </a:ln>
        </p:spPr>
      </p:sp>
      <p:sp>
        <p:nvSpPr>
          <p:cNvPr id="5" name="Text 3"/>
          <p:cNvSpPr/>
          <p:nvPr/>
        </p:nvSpPr>
        <p:spPr>
          <a:xfrm>
            <a:off x="1021644" y="2113806"/>
            <a:ext cx="2172899"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9C4F0A"/>
                </a:solidFill>
                <a:latin typeface="Source Serif 4" pitchFamily="34" charset="0"/>
                <a:ea typeface="Source Serif 4" pitchFamily="34" charset="-122"/>
                <a:cs typeface="Source Serif 4" pitchFamily="34" charset="-120"/>
              </a:rPr>
              <a:t>[__%]</a:t>
            </a:r>
            <a:endParaRPr lang="en-US" sz="4800" dirty="0"/>
          </a:p>
        </p:txBody>
      </p:sp>
      <p:sp>
        <p:nvSpPr>
          <p:cNvPr id="6" name="Text 4"/>
          <p:cNvSpPr/>
          <p:nvPr/>
        </p:nvSpPr>
        <p:spPr>
          <a:xfrm>
            <a:off x="1021644" y="2799606"/>
            <a:ext cx="217289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Coverage</a:t>
            </a:r>
            <a:endParaRPr lang="en-US" sz="1600" dirty="0"/>
          </a:p>
        </p:txBody>
      </p:sp>
      <p:sp>
        <p:nvSpPr>
          <p:cNvPr id="7" name="Text 5"/>
          <p:cNvSpPr/>
          <p:nvPr/>
        </p:nvSpPr>
        <p:spPr>
          <a:xfrm>
            <a:off x="1021644" y="3119611"/>
            <a:ext cx="2172899" cy="46734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Consequential actions that pass the gate</a:t>
            </a:r>
            <a:endParaRPr lang="en-US" sz="1200" dirty="0"/>
          </a:p>
        </p:txBody>
      </p:sp>
      <p:sp>
        <p:nvSpPr>
          <p:cNvPr id="8" name="Shape 6"/>
          <p:cNvSpPr/>
          <p:nvPr/>
        </p:nvSpPr>
        <p:spPr>
          <a:xfrm>
            <a:off x="3495675" y="1882738"/>
            <a:ext cx="2520950" cy="1909895"/>
          </a:xfrm>
          <a:prstGeom prst="roundRect">
            <a:avLst>
              <a:gd name="adj" fmla="val 3824"/>
            </a:avLst>
          </a:prstGeom>
          <a:solidFill>
            <a:srgbClr val="FBFAF6"/>
          </a:solidFill>
          <a:ln w="6350">
            <a:solidFill>
              <a:srgbClr val="DCD6C8"/>
            </a:solidFill>
            <a:prstDash val="solid"/>
          </a:ln>
        </p:spPr>
      </p:sp>
      <p:sp>
        <p:nvSpPr>
          <p:cNvPr id="9" name="Text 7"/>
          <p:cNvSpPr/>
          <p:nvPr/>
        </p:nvSpPr>
        <p:spPr>
          <a:xfrm>
            <a:off x="3701345" y="2113806"/>
            <a:ext cx="2172899"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9C4F0A"/>
                </a:solidFill>
                <a:latin typeface="Source Serif 4" pitchFamily="34" charset="0"/>
                <a:ea typeface="Source Serif 4" pitchFamily="34" charset="-122"/>
                <a:cs typeface="Source Serif 4" pitchFamily="34" charset="-120"/>
              </a:rPr>
              <a:t>[__ms]</a:t>
            </a:r>
            <a:endParaRPr lang="en-US" sz="4800" dirty="0"/>
          </a:p>
        </p:txBody>
      </p:sp>
      <p:sp>
        <p:nvSpPr>
          <p:cNvPr id="10" name="Text 8"/>
          <p:cNvSpPr/>
          <p:nvPr/>
        </p:nvSpPr>
        <p:spPr>
          <a:xfrm>
            <a:off x="3701345" y="2799606"/>
            <a:ext cx="217289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Gate latency</a:t>
            </a:r>
            <a:endParaRPr lang="en-US" sz="1600" dirty="0"/>
          </a:p>
        </p:txBody>
      </p:sp>
      <p:sp>
        <p:nvSpPr>
          <p:cNvPr id="11" name="Text 9"/>
          <p:cNvSpPr/>
          <p:nvPr/>
        </p:nvSpPr>
        <p:spPr>
          <a:xfrm>
            <a:off x="3701345" y="3119611"/>
            <a:ext cx="2172899" cy="46734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p99 for synchronous decisions</a:t>
            </a:r>
            <a:endParaRPr lang="en-US" sz="1200" dirty="0"/>
          </a:p>
        </p:txBody>
      </p:sp>
      <p:sp>
        <p:nvSpPr>
          <p:cNvPr id="12" name="Shape 10"/>
          <p:cNvSpPr/>
          <p:nvPr/>
        </p:nvSpPr>
        <p:spPr>
          <a:xfrm>
            <a:off x="6175375" y="1882738"/>
            <a:ext cx="2520950" cy="1909895"/>
          </a:xfrm>
          <a:prstGeom prst="roundRect">
            <a:avLst>
              <a:gd name="adj" fmla="val 3824"/>
            </a:avLst>
          </a:prstGeom>
          <a:solidFill>
            <a:srgbClr val="FBFAF6"/>
          </a:solidFill>
          <a:ln w="6350">
            <a:solidFill>
              <a:srgbClr val="DCD6C8"/>
            </a:solidFill>
            <a:prstDash val="solid"/>
          </a:ln>
        </p:spPr>
      </p:sp>
      <p:sp>
        <p:nvSpPr>
          <p:cNvPr id="13" name="Text 11"/>
          <p:cNvSpPr/>
          <p:nvPr/>
        </p:nvSpPr>
        <p:spPr>
          <a:xfrm>
            <a:off x="6381045" y="2113806"/>
            <a:ext cx="2172899"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9C4F0A"/>
                </a:solidFill>
                <a:latin typeface="Source Serif 4" pitchFamily="34" charset="0"/>
                <a:ea typeface="Source Serif 4" pitchFamily="34" charset="-122"/>
                <a:cs typeface="Source Serif 4" pitchFamily="34" charset="-120"/>
              </a:rPr>
              <a:t>[__h]</a:t>
            </a:r>
            <a:endParaRPr lang="en-US" sz="4800" dirty="0"/>
          </a:p>
        </p:txBody>
      </p:sp>
      <p:sp>
        <p:nvSpPr>
          <p:cNvPr id="14" name="Text 12"/>
          <p:cNvSpPr/>
          <p:nvPr/>
        </p:nvSpPr>
        <p:spPr>
          <a:xfrm>
            <a:off x="6381045" y="2799606"/>
            <a:ext cx="217289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Evidence time</a:t>
            </a:r>
            <a:endParaRPr lang="en-US" sz="1600" dirty="0"/>
          </a:p>
        </p:txBody>
      </p:sp>
      <p:sp>
        <p:nvSpPr>
          <p:cNvPr id="15" name="Text 13"/>
          <p:cNvSpPr/>
          <p:nvPr/>
        </p:nvSpPr>
        <p:spPr>
          <a:xfrm>
            <a:off x="6381045" y="3119611"/>
            <a:ext cx="2172899" cy="46734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To answer an audit request, vs today's [__]</a:t>
            </a:r>
            <a:endParaRPr lang="en-US" sz="1200" dirty="0"/>
          </a:p>
        </p:txBody>
      </p:sp>
      <p:sp>
        <p:nvSpPr>
          <p:cNvPr id="16" name="Shape 14"/>
          <p:cNvSpPr/>
          <p:nvPr/>
        </p:nvSpPr>
        <p:spPr>
          <a:xfrm>
            <a:off x="8855075" y="1882738"/>
            <a:ext cx="2520950" cy="1909895"/>
          </a:xfrm>
          <a:prstGeom prst="roundRect">
            <a:avLst>
              <a:gd name="adj" fmla="val 3824"/>
            </a:avLst>
          </a:prstGeom>
          <a:solidFill>
            <a:srgbClr val="FBFAF6"/>
          </a:solidFill>
          <a:ln w="6350">
            <a:solidFill>
              <a:srgbClr val="DCD6C8"/>
            </a:solidFill>
            <a:prstDash val="solid"/>
          </a:ln>
        </p:spPr>
      </p:sp>
      <p:sp>
        <p:nvSpPr>
          <p:cNvPr id="17" name="Text 15"/>
          <p:cNvSpPr/>
          <p:nvPr/>
        </p:nvSpPr>
        <p:spPr>
          <a:xfrm>
            <a:off x="9060745" y="2113806"/>
            <a:ext cx="2172899"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9C4F0A"/>
                </a:solidFill>
                <a:latin typeface="Source Serif 4" pitchFamily="34" charset="0"/>
                <a:ea typeface="Source Serif 4" pitchFamily="34" charset="-122"/>
                <a:cs typeface="Source Serif 4" pitchFamily="34" charset="-120"/>
              </a:rPr>
              <a:t>100%</a:t>
            </a:r>
            <a:endParaRPr lang="en-US" sz="4800" dirty="0"/>
          </a:p>
        </p:txBody>
      </p:sp>
      <p:sp>
        <p:nvSpPr>
          <p:cNvPr id="18" name="Text 16"/>
          <p:cNvSpPr/>
          <p:nvPr/>
        </p:nvSpPr>
        <p:spPr>
          <a:xfrm>
            <a:off x="9060745" y="2799606"/>
            <a:ext cx="217289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Chain checks</a:t>
            </a:r>
            <a:endParaRPr lang="en-US" sz="1600" dirty="0"/>
          </a:p>
        </p:txBody>
      </p:sp>
      <p:sp>
        <p:nvSpPr>
          <p:cNvPr id="19" name="Text 17"/>
          <p:cNvSpPr/>
          <p:nvPr/>
        </p:nvSpPr>
        <p:spPr>
          <a:xfrm>
            <a:off x="9060745" y="3119611"/>
            <a:ext cx="2172899" cy="46734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Daily verification and reconciliation pass</a:t>
            </a:r>
            <a:endParaRPr lang="en-US" sz="1200" dirty="0"/>
          </a:p>
        </p:txBody>
      </p:sp>
      <p:sp>
        <p:nvSpPr>
          <p:cNvPr id="20" name="Text 18"/>
          <p:cNvSpPr/>
          <p:nvPr/>
        </p:nvSpPr>
        <p:spPr>
          <a:xfrm>
            <a:off x="812800" y="6238255"/>
            <a:ext cx="366136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Tachyon · Agent Audit Ledger · executive briefing</a:t>
            </a:r>
            <a:endParaRPr lang="en-US" sz="1200" dirty="0"/>
          </a:p>
        </p:txBody>
      </p:sp>
      <p:sp>
        <p:nvSpPr>
          <p:cNvPr id="21" name="Text 19"/>
          <p:cNvSpPr/>
          <p:nvPr/>
        </p:nvSpPr>
        <p:spPr>
          <a:xfrm>
            <a:off x="11195844" y="6238255"/>
            <a:ext cx="234156"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C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3A060"/>
                </a:solidFill>
                <a:latin typeface="Inter" pitchFamily="34" charset="0"/>
                <a:ea typeface="Inter" pitchFamily="34" charset="-122"/>
                <a:cs typeface="Inter" pitchFamily="34" charset="-120"/>
              </a:rPr>
              <a:t>THE ASK</a:t>
            </a:r>
            <a:endParaRPr lang="en-US" sz="1200" dirty="0"/>
          </a:p>
        </p:txBody>
      </p:sp>
      <p:sp>
        <p:nvSpPr>
          <p:cNvPr id="3" name="Text 1"/>
          <p:cNvSpPr/>
          <p:nvPr/>
        </p:nvSpPr>
        <p:spPr>
          <a:xfrm>
            <a:off x="812800" y="112774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F4F2EC"/>
                </a:solidFill>
                <a:latin typeface="Source Serif 4" pitchFamily="34" charset="0"/>
                <a:ea typeface="Source Serif 4" pitchFamily="34" charset="-122"/>
                <a:cs typeface="Source Serif 4" pitchFamily="34" charset="-120"/>
              </a:rPr>
              <a:t>Four decisions for today</a:t>
            </a:r>
            <a:endParaRPr lang="en-US" sz="3200" dirty="0"/>
          </a:p>
        </p:txBody>
      </p:sp>
      <p:sp>
        <p:nvSpPr>
          <p:cNvPr id="4" name="Shape 2"/>
          <p:cNvSpPr/>
          <p:nvPr/>
        </p:nvSpPr>
        <p:spPr>
          <a:xfrm>
            <a:off x="812800" y="1930363"/>
            <a:ext cx="5181600" cy="1005769"/>
          </a:xfrm>
          <a:prstGeom prst="roundRect">
            <a:avLst>
              <a:gd name="adj" fmla="val 7576"/>
            </a:avLst>
          </a:prstGeom>
          <a:solidFill>
            <a:srgbClr val="1C2A42"/>
          </a:solidFill>
          <a:ln/>
        </p:spPr>
      </p:sp>
      <p:sp>
        <p:nvSpPr>
          <p:cNvPr id="5" name="Text 3"/>
          <p:cNvSpPr/>
          <p:nvPr/>
        </p:nvSpPr>
        <p:spPr>
          <a:xfrm>
            <a:off x="1041400" y="2158963"/>
            <a:ext cx="265818" cy="573969"/>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E3A060"/>
                </a:solidFill>
                <a:latin typeface="Source Serif 4" pitchFamily="34" charset="0"/>
                <a:ea typeface="Source Serif 4" pitchFamily="34" charset="-122"/>
                <a:cs typeface="Source Serif 4" pitchFamily="34" charset="-120"/>
              </a:rPr>
              <a:t>1</a:t>
            </a:r>
            <a:endParaRPr lang="en-US" sz="3200" dirty="0"/>
          </a:p>
        </p:txBody>
      </p:sp>
      <p:sp>
        <p:nvSpPr>
          <p:cNvPr id="6" name="Text 4"/>
          <p:cNvSpPr/>
          <p:nvPr/>
        </p:nvSpPr>
        <p:spPr>
          <a:xfrm>
            <a:off x="1408818" y="2158963"/>
            <a:ext cx="4487692" cy="573969"/>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4F2EC"/>
                </a:solidFill>
                <a:latin typeface="Inter" pitchFamily="34" charset="0"/>
                <a:ea typeface="Inter" pitchFamily="34" charset="-122"/>
                <a:cs typeface="Inter" pitchFamily="34" charset="-120"/>
              </a:rPr>
              <a:t>Endorse the Agent Audit Ledger as the system of record for agent actions</a:t>
            </a:r>
            <a:endParaRPr lang="en-US" sz="1600" dirty="0"/>
          </a:p>
        </p:txBody>
      </p:sp>
      <p:sp>
        <p:nvSpPr>
          <p:cNvPr id="7" name="Shape 5"/>
          <p:cNvSpPr/>
          <p:nvPr/>
        </p:nvSpPr>
        <p:spPr>
          <a:xfrm>
            <a:off x="6197600" y="1930363"/>
            <a:ext cx="5181600" cy="1005769"/>
          </a:xfrm>
          <a:prstGeom prst="roundRect">
            <a:avLst>
              <a:gd name="adj" fmla="val 7576"/>
            </a:avLst>
          </a:prstGeom>
          <a:solidFill>
            <a:srgbClr val="1C2A42"/>
          </a:solidFill>
          <a:ln/>
        </p:spPr>
      </p:sp>
      <p:sp>
        <p:nvSpPr>
          <p:cNvPr id="8" name="Text 6"/>
          <p:cNvSpPr/>
          <p:nvPr/>
        </p:nvSpPr>
        <p:spPr>
          <a:xfrm>
            <a:off x="6426200" y="2158963"/>
            <a:ext cx="265818" cy="573969"/>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E3A060"/>
                </a:solidFill>
                <a:latin typeface="Source Serif 4" pitchFamily="34" charset="0"/>
                <a:ea typeface="Source Serif 4" pitchFamily="34" charset="-122"/>
                <a:cs typeface="Source Serif 4" pitchFamily="34" charset="-120"/>
              </a:rPr>
              <a:t>2</a:t>
            </a:r>
            <a:endParaRPr lang="en-US" sz="3200" dirty="0"/>
          </a:p>
        </p:txBody>
      </p:sp>
      <p:sp>
        <p:nvSpPr>
          <p:cNvPr id="9" name="Text 7"/>
          <p:cNvSpPr/>
          <p:nvPr/>
        </p:nvSpPr>
        <p:spPr>
          <a:xfrm>
            <a:off x="6793618" y="2158963"/>
            <a:ext cx="4487692" cy="573969"/>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4F2EC"/>
                </a:solidFill>
                <a:latin typeface="Inter" pitchFamily="34" charset="0"/>
                <a:ea typeface="Inter" pitchFamily="34" charset="-122"/>
                <a:cs typeface="Inter" pitchFamily="34" charset="-120"/>
              </a:rPr>
              <a:t>Approve Phase 0–1 scope and [__] FTE</a:t>
            </a:r>
            <a:endParaRPr lang="en-US" sz="1600" dirty="0"/>
          </a:p>
        </p:txBody>
      </p:sp>
      <p:sp>
        <p:nvSpPr>
          <p:cNvPr id="10" name="Shape 8"/>
          <p:cNvSpPr/>
          <p:nvPr/>
        </p:nvSpPr>
        <p:spPr>
          <a:xfrm>
            <a:off x="812800" y="3139331"/>
            <a:ext cx="5181600" cy="1005769"/>
          </a:xfrm>
          <a:prstGeom prst="roundRect">
            <a:avLst>
              <a:gd name="adj" fmla="val 7576"/>
            </a:avLst>
          </a:prstGeom>
          <a:solidFill>
            <a:srgbClr val="1C2A42"/>
          </a:solidFill>
          <a:ln/>
        </p:spPr>
      </p:sp>
      <p:sp>
        <p:nvSpPr>
          <p:cNvPr id="11" name="Text 9"/>
          <p:cNvSpPr/>
          <p:nvPr/>
        </p:nvSpPr>
        <p:spPr>
          <a:xfrm>
            <a:off x="1041400" y="3367931"/>
            <a:ext cx="265818" cy="573969"/>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E3A060"/>
                </a:solidFill>
                <a:latin typeface="Source Serif 4" pitchFamily="34" charset="0"/>
                <a:ea typeface="Source Serif 4" pitchFamily="34" charset="-122"/>
                <a:cs typeface="Source Serif 4" pitchFamily="34" charset="-120"/>
              </a:rPr>
              <a:t>3</a:t>
            </a:r>
            <a:endParaRPr lang="en-US" sz="3200" dirty="0"/>
          </a:p>
        </p:txBody>
      </p:sp>
      <p:sp>
        <p:nvSpPr>
          <p:cNvPr id="12" name="Text 10"/>
          <p:cNvSpPr/>
          <p:nvPr/>
        </p:nvSpPr>
        <p:spPr>
          <a:xfrm>
            <a:off x="1408818" y="3367931"/>
            <a:ext cx="4487692" cy="573969"/>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4F2EC"/>
                </a:solidFill>
                <a:latin typeface="Inter" pitchFamily="34" charset="0"/>
                <a:ea typeface="Inter" pitchFamily="34" charset="-122"/>
                <a:cs typeface="Inter" pitchFamily="34" charset="-120"/>
              </a:rPr>
              <a:t>Nominate [3] pilot applications across LoBs</a:t>
            </a:r>
            <a:endParaRPr lang="en-US" sz="1600" dirty="0"/>
          </a:p>
        </p:txBody>
      </p:sp>
      <p:sp>
        <p:nvSpPr>
          <p:cNvPr id="13" name="Shape 11"/>
          <p:cNvSpPr/>
          <p:nvPr/>
        </p:nvSpPr>
        <p:spPr>
          <a:xfrm>
            <a:off x="6197600" y="3139331"/>
            <a:ext cx="5181600" cy="1005769"/>
          </a:xfrm>
          <a:prstGeom prst="roundRect">
            <a:avLst>
              <a:gd name="adj" fmla="val 7576"/>
            </a:avLst>
          </a:prstGeom>
          <a:solidFill>
            <a:srgbClr val="1C2A42"/>
          </a:solidFill>
          <a:ln/>
        </p:spPr>
      </p:sp>
      <p:sp>
        <p:nvSpPr>
          <p:cNvPr id="14" name="Text 12"/>
          <p:cNvSpPr/>
          <p:nvPr/>
        </p:nvSpPr>
        <p:spPr>
          <a:xfrm>
            <a:off x="6426200" y="3367931"/>
            <a:ext cx="265818" cy="573969"/>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E3A060"/>
                </a:solidFill>
                <a:latin typeface="Source Serif 4" pitchFamily="34" charset="0"/>
                <a:ea typeface="Source Serif 4" pitchFamily="34" charset="-122"/>
                <a:cs typeface="Source Serif 4" pitchFamily="34" charset="-120"/>
              </a:rPr>
              <a:t>4</a:t>
            </a:r>
            <a:endParaRPr lang="en-US" sz="3200" dirty="0"/>
          </a:p>
        </p:txBody>
      </p:sp>
      <p:sp>
        <p:nvSpPr>
          <p:cNvPr id="15" name="Text 13"/>
          <p:cNvSpPr/>
          <p:nvPr/>
        </p:nvSpPr>
        <p:spPr>
          <a:xfrm>
            <a:off x="6793618" y="3367931"/>
            <a:ext cx="4487692" cy="573969"/>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4F2EC"/>
                </a:solidFill>
                <a:latin typeface="Inter" pitchFamily="34" charset="0"/>
                <a:ea typeface="Inter" pitchFamily="34" charset="-122"/>
                <a:cs typeface="Inter" pitchFamily="34" charset="-120"/>
              </a:rPr>
              <a:t>Agree the fail-closed rule with Risk and Compliance</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C4F0A"/>
                </a:solidFill>
                <a:latin typeface="Inter" pitchFamily="34" charset="0"/>
                <a:ea typeface="Inter" pitchFamily="34" charset="-122"/>
                <a:cs typeface="Inter" pitchFamily="34" charset="-120"/>
              </a:rPr>
              <a:t>HOW · SCALE</a:t>
            </a:r>
            <a:endParaRPr lang="en-US" sz="1200" dirty="0"/>
          </a:p>
        </p:txBody>
      </p:sp>
      <p:sp>
        <p:nvSpPr>
          <p:cNvPr id="3" name="Text 1"/>
          <p:cNvSpPr/>
          <p:nvPr/>
        </p:nvSpPr>
        <p:spPr>
          <a:xfrm>
            <a:off x="812800" y="1127745"/>
            <a:ext cx="10883392" cy="472414"/>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6213A"/>
                </a:solidFill>
                <a:latin typeface="Source Serif 4" pitchFamily="34" charset="0"/>
                <a:ea typeface="Source Serif 4" pitchFamily="34" charset="-122"/>
                <a:cs typeface="Source Serif 4" pitchFamily="34" charset="-120"/>
              </a:rPr>
              <a:t>Two meanings of “10,000 agents”</a:t>
            </a:r>
            <a:endParaRPr lang="en-US" sz="3200" dirty="0"/>
          </a:p>
        </p:txBody>
      </p:sp>
      <p:sp>
        <p:nvSpPr>
          <p:cNvPr id="4" name="Shape 2"/>
          <p:cNvSpPr/>
          <p:nvPr/>
        </p:nvSpPr>
        <p:spPr>
          <a:xfrm>
            <a:off x="815975" y="1781138"/>
            <a:ext cx="5200650" cy="1406966"/>
          </a:xfrm>
          <a:prstGeom prst="roundRect">
            <a:avLst>
              <a:gd name="adj" fmla="val 5190"/>
            </a:avLst>
          </a:prstGeom>
          <a:solidFill>
            <a:srgbClr val="FBFAF6"/>
          </a:solidFill>
          <a:ln w="6350">
            <a:solidFill>
              <a:srgbClr val="DCD6C8"/>
            </a:solidFill>
            <a:prstDash val="solid"/>
          </a:ln>
        </p:spPr>
      </p:sp>
      <p:sp>
        <p:nvSpPr>
          <p:cNvPr id="5" name="Text 3"/>
          <p:cNvSpPr/>
          <p:nvPr/>
        </p:nvSpPr>
        <p:spPr>
          <a:xfrm>
            <a:off x="1021644" y="1986806"/>
            <a:ext cx="493299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10,000 registered agents</a:t>
            </a:r>
            <a:endParaRPr lang="en-US" sz="1600" dirty="0"/>
          </a:p>
        </p:txBody>
      </p:sp>
      <p:sp>
        <p:nvSpPr>
          <p:cNvPr id="6" name="Text 4"/>
          <p:cNvSpPr/>
          <p:nvPr/>
        </p:nvSpPr>
        <p:spPr>
          <a:xfrm>
            <a:off x="1021644" y="2319511"/>
            <a:ext cx="4932990" cy="46734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Only a few run per prompt. Ledger volume follows actual executions, not the catalogue. Straightforward.</a:t>
            </a:r>
            <a:endParaRPr lang="en-US" sz="1200" dirty="0"/>
          </a:p>
        </p:txBody>
      </p:sp>
      <p:sp>
        <p:nvSpPr>
          <p:cNvPr id="7" name="Shape 5"/>
          <p:cNvSpPr/>
          <p:nvPr/>
        </p:nvSpPr>
        <p:spPr>
          <a:xfrm>
            <a:off x="6175375" y="1781138"/>
            <a:ext cx="5200650" cy="1406966"/>
          </a:xfrm>
          <a:prstGeom prst="roundRect">
            <a:avLst>
              <a:gd name="adj" fmla="val 5190"/>
            </a:avLst>
          </a:prstGeom>
          <a:solidFill>
            <a:srgbClr val="FBFAF6"/>
          </a:solidFill>
          <a:ln w="6350">
            <a:solidFill>
              <a:srgbClr val="DCD6C8"/>
            </a:solidFill>
            <a:prstDash val="solid"/>
          </a:ln>
        </p:spPr>
      </p:sp>
      <p:sp>
        <p:nvSpPr>
          <p:cNvPr id="8" name="Text 6"/>
          <p:cNvSpPr/>
          <p:nvPr/>
        </p:nvSpPr>
        <p:spPr>
          <a:xfrm>
            <a:off x="6381045" y="1986806"/>
            <a:ext cx="493299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nter" pitchFamily="34" charset="0"/>
                <a:ea typeface="Inter" pitchFamily="34" charset="-122"/>
                <a:cs typeface="Inter" pitchFamily="34" charset="-120"/>
              </a:rPr>
              <a:t>10,000 invocations, one prompt</a:t>
            </a:r>
            <a:endParaRPr lang="en-US" sz="1600" dirty="0"/>
          </a:p>
        </p:txBody>
      </p:sp>
      <p:sp>
        <p:nvSpPr>
          <p:cNvPr id="9" name="Text 7"/>
          <p:cNvSpPr/>
          <p:nvPr/>
        </p:nvSpPr>
        <p:spPr>
          <a:xfrm>
            <a:off x="6381045" y="2319511"/>
            <a:ext cx="4932990" cy="688314"/>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Tens of thousands of events. Compact records, batched async ingest for reads, partitions by time and use case, payloads kept outside.</a:t>
            </a:r>
            <a:endParaRPr lang="en-US" sz="1200" dirty="0"/>
          </a:p>
        </p:txBody>
      </p:sp>
      <p:sp>
        <p:nvSpPr>
          <p:cNvPr id="10" name="Shape 8"/>
          <p:cNvSpPr/>
          <p:nvPr/>
        </p:nvSpPr>
        <p:spPr>
          <a:xfrm>
            <a:off x="812800" y="3400822"/>
            <a:ext cx="5207000" cy="0"/>
          </a:xfrm>
          <a:prstGeom prst="line">
            <a:avLst/>
          </a:prstGeom>
          <a:noFill/>
          <a:ln w="12700">
            <a:solidFill>
              <a:srgbClr val="16213A"/>
            </a:solidFill>
            <a:prstDash val="solid"/>
          </a:ln>
        </p:spPr>
      </p:sp>
      <p:sp>
        <p:nvSpPr>
          <p:cNvPr id="11" name="Text 9"/>
          <p:cNvSpPr/>
          <p:nvPr/>
        </p:nvSpPr>
        <p:spPr>
          <a:xfrm>
            <a:off x="812800" y="3507358"/>
            <a:ext cx="5363210" cy="208271"/>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6213A"/>
                </a:solidFill>
                <a:latin typeface="Inter" pitchFamily="34" charset="0"/>
                <a:ea typeface="Inter" pitchFamily="34" charset="-122"/>
                <a:cs typeface="Inter" pitchFamily="34" charset="-120"/>
              </a:rPr>
              <a:t>Read path · this example</a:t>
            </a:r>
            <a:endParaRPr lang="en-US" sz="1200" dirty="0"/>
          </a:p>
        </p:txBody>
      </p:sp>
      <p:sp>
        <p:nvSpPr>
          <p:cNvPr id="12" name="Text 10"/>
          <p:cNvSpPr/>
          <p:nvPr/>
        </p:nvSpPr>
        <p:spPr>
          <a:xfrm>
            <a:off x="812800" y="3753731"/>
            <a:ext cx="5363210" cy="46734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Attribution, source lineage and query evidence, written asynchronously. No blocking receipt.</a:t>
            </a:r>
            <a:endParaRPr lang="en-US" sz="1200" dirty="0"/>
          </a:p>
        </p:txBody>
      </p:sp>
      <p:sp>
        <p:nvSpPr>
          <p:cNvPr id="13" name="Shape 11"/>
          <p:cNvSpPr/>
          <p:nvPr/>
        </p:nvSpPr>
        <p:spPr>
          <a:xfrm>
            <a:off x="6172200" y="3400822"/>
            <a:ext cx="5207000" cy="0"/>
          </a:xfrm>
          <a:prstGeom prst="line">
            <a:avLst/>
          </a:prstGeom>
          <a:noFill/>
          <a:ln w="12700">
            <a:solidFill>
              <a:srgbClr val="9C4F0A"/>
            </a:solidFill>
            <a:prstDash val="solid"/>
          </a:ln>
        </p:spPr>
      </p:sp>
      <p:sp>
        <p:nvSpPr>
          <p:cNvPr id="14" name="Text 12"/>
          <p:cNvSpPr/>
          <p:nvPr/>
        </p:nvSpPr>
        <p:spPr>
          <a:xfrm>
            <a:off x="6172200" y="3507358"/>
            <a:ext cx="5363210" cy="208271"/>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9C4F0A"/>
                </a:solidFill>
                <a:latin typeface="Inter" pitchFamily="34" charset="0"/>
                <a:ea typeface="Inter" pitchFamily="34" charset="-122"/>
                <a:cs typeface="Inter" pitchFamily="34" charset="-120"/>
              </a:rPr>
              <a:t>Write path · if a branch changes state</a:t>
            </a:r>
            <a:endParaRPr lang="en-US" sz="1200" dirty="0"/>
          </a:p>
        </p:txBody>
      </p:sp>
      <p:sp>
        <p:nvSpPr>
          <p:cNvPr id="15" name="Text 13"/>
          <p:cNvSpPr/>
          <p:nvPr/>
        </p:nvSpPr>
        <p:spPr>
          <a:xfrm>
            <a:off x="6172200" y="3753731"/>
            <a:ext cx="5363210" cy="467342"/>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A4458"/>
                </a:solidFill>
                <a:latin typeface="Inter" pitchFamily="34" charset="0"/>
                <a:ea typeface="Inter" pitchFamily="34" charset="-122"/>
                <a:cs typeface="Inter" pitchFamily="34" charset="-120"/>
              </a:rPr>
              <a:t>Authorisation and durable intent before execution, then reconcile the actual result.</a:t>
            </a:r>
            <a:endParaRPr lang="en-US" sz="1200" dirty="0"/>
          </a:p>
        </p:txBody>
      </p:sp>
      <p:sp>
        <p:nvSpPr>
          <p:cNvPr id="16" name="Text 14"/>
          <p:cNvSpPr/>
          <p:nvPr/>
        </p:nvSpPr>
        <p:spPr>
          <a:xfrm>
            <a:off x="812800" y="4398876"/>
            <a:ext cx="10883392" cy="30987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6213A"/>
                </a:solidFill>
                <a:latin typeface="Source Serif 4" pitchFamily="34" charset="0"/>
                <a:ea typeface="Source Serif 4" pitchFamily="34" charset="-122"/>
                <a:cs typeface="Source Serif 4" pitchFamily="34" charset="-120"/>
              </a:rPr>
              <a:t>One record per consequential decision or action, linked into one request-wide evidence graph.</a:t>
            </a:r>
            <a:endParaRPr lang="en-US" sz="1600" dirty="0"/>
          </a:p>
        </p:txBody>
      </p:sp>
      <p:sp>
        <p:nvSpPr>
          <p:cNvPr id="17" name="Text 15"/>
          <p:cNvSpPr/>
          <p:nvPr/>
        </p:nvSpPr>
        <p:spPr>
          <a:xfrm>
            <a:off x="812800" y="6238255"/>
            <a:ext cx="289762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Agent Audit Ledger · executive briefing</a:t>
            </a:r>
            <a:endParaRPr lang="en-US" sz="1200" dirty="0"/>
          </a:p>
        </p:txBody>
      </p:sp>
      <p:sp>
        <p:nvSpPr>
          <p:cNvPr id="18" name="Text 16"/>
          <p:cNvSpPr/>
          <p:nvPr/>
        </p:nvSpPr>
        <p:spPr>
          <a:xfrm>
            <a:off x="11222920" y="6238255"/>
            <a:ext cx="207081"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374"/>
                </a:solidFill>
                <a:latin typeface="Inter" pitchFamily="34" charset="0"/>
                <a:ea typeface="Inter" pitchFamily="34" charset="-122"/>
                <a:cs typeface="Inter" pitchFamily="34" charset="-120"/>
              </a:rPr>
              <a:t>18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Audit Ledger in the Tachyon Ecosystem</dc:title>
  <dc:subject>PptxGenJS Presentation</dc:subject>
  <dc:creator>PptxGenJS</dc:creator>
  <cp:lastModifiedBy>PptxGenJS</cp:lastModifiedBy>
  <cp:revision>1</cp:revision>
  <dcterms:created xsi:type="dcterms:W3CDTF">2026-09-25T09:04:23Z</dcterms:created>
  <dcterms:modified xsi:type="dcterms:W3CDTF">2026-09-25T09:04:23Z</dcterms:modified>
</cp:coreProperties>
</file>