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06" y="2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1304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82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Behavior Chaos Engineering for Agentic AI?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02920" y="7132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10-K Analyzer: A multi-agent financial workflow where routing, agents, MCP servers, and LLMs each introduce non-deterministic failure modes invisible to traditional testing.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016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02920" y="12801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10-K ANALYZER  —  MULTI-AGENT WORKFLOW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240280" y="1691640"/>
            <a:ext cx="2011680" cy="438912"/>
          </a:xfrm>
          <a:prstGeom prst="roundRect">
            <a:avLst>
              <a:gd name="adj" fmla="val 12500"/>
            </a:avLst>
          </a:prstGeom>
          <a:solidFill>
            <a:srgbClr val="F7F8FB"/>
          </a:solidFill>
          <a:ln w="1016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2240280" y="16916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Prompt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46120" y="2130552"/>
            <a:ext cx="0" cy="256032"/>
          </a:xfrm>
          <a:prstGeom prst="line">
            <a:avLst/>
          </a:prstGeom>
          <a:noFill/>
          <a:ln w="1524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2167128"/>
            <a:ext cx="164592" cy="1645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1488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650" dirty="0"/>
          </a:p>
        </p:txBody>
      </p:sp>
      <p:sp>
        <p:nvSpPr>
          <p:cNvPr id="13" name="Shape 9"/>
          <p:cNvSpPr/>
          <p:nvPr/>
        </p:nvSpPr>
        <p:spPr>
          <a:xfrm>
            <a:off x="1783080" y="2404872"/>
            <a:ext cx="2926080" cy="621792"/>
          </a:xfrm>
          <a:prstGeom prst="roundRect">
            <a:avLst>
              <a:gd name="adj" fmla="val 11765"/>
            </a:avLst>
          </a:prstGeom>
          <a:solidFill>
            <a:srgbClr val="EBF8FF"/>
          </a:solidFill>
          <a:ln w="1524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94A3B8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0240" y="2532888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331720" y="2478024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Agent</a:t>
            </a:r>
            <a:endParaRPr lang="en-US" sz="1200" dirty="0"/>
          </a:p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classification → dispatch to sub-agent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709160" y="2715768"/>
            <a:ext cx="457200" cy="0"/>
          </a:xfrm>
          <a:prstGeom prst="line">
            <a:avLst/>
          </a:prstGeom>
          <a:noFill/>
          <a:ln w="10160">
            <a:solidFill>
              <a:srgbClr val="D97706"/>
            </a:solidFill>
            <a:prstDash val="dot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5184648" y="256032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9512" y="2615184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73908" y="252597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800" dirty="0"/>
          </a:p>
        </p:txBody>
      </p:sp>
      <p:sp>
        <p:nvSpPr>
          <p:cNvPr id="20" name="Shape 14"/>
          <p:cNvSpPr/>
          <p:nvPr/>
        </p:nvSpPr>
        <p:spPr>
          <a:xfrm>
            <a:off x="2377440" y="3026664"/>
            <a:ext cx="0" cy="384048"/>
          </a:xfrm>
          <a:prstGeom prst="line">
            <a:avLst/>
          </a:prstGeom>
          <a:noFill/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5"/>
          <p:cNvSpPr/>
          <p:nvPr/>
        </p:nvSpPr>
        <p:spPr>
          <a:xfrm>
            <a:off x="3246120" y="3026664"/>
            <a:ext cx="0" cy="384048"/>
          </a:xfrm>
          <a:prstGeom prst="line">
            <a:avLst/>
          </a:prstGeom>
          <a:noFill/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6"/>
          <p:cNvSpPr/>
          <p:nvPr/>
        </p:nvSpPr>
        <p:spPr>
          <a:xfrm>
            <a:off x="4114800" y="3026664"/>
            <a:ext cx="960120" cy="384048"/>
          </a:xfrm>
          <a:prstGeom prst="line">
            <a:avLst/>
          </a:prstGeom>
          <a:noFill/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127248"/>
            <a:ext cx="164592" cy="16459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572768" y="3273552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Misroute</a:t>
            </a:r>
            <a:endParaRPr lang="en-US" sz="650" dirty="0"/>
          </a:p>
        </p:txBody>
      </p:sp>
      <p:sp>
        <p:nvSpPr>
          <p:cNvPr id="25" name="Shape 18"/>
          <p:cNvSpPr/>
          <p:nvPr/>
        </p:nvSpPr>
        <p:spPr>
          <a:xfrm>
            <a:off x="457200" y="3429000"/>
            <a:ext cx="1874520" cy="594360"/>
          </a:xfrm>
          <a:prstGeom prst="roundRect">
            <a:avLst>
              <a:gd name="adj" fmla="val 9231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blurRad="508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3557016"/>
            <a:ext cx="256032" cy="25603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77824" y="3483864"/>
            <a:ext cx="13533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Agent</a:t>
            </a:r>
            <a:endParaRPr lang="en-US" sz="950" dirty="0"/>
          </a:p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</a:t>
            </a:r>
            <a:endParaRPr lang="en-US" sz="950" dirty="0"/>
          </a:p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on 10-K</a:t>
            </a:r>
            <a:endParaRPr lang="en-US" sz="950" dirty="0"/>
          </a:p>
        </p:txBody>
      </p:sp>
      <p:sp>
        <p:nvSpPr>
          <p:cNvPr id="28" name="Shape 20"/>
          <p:cNvSpPr/>
          <p:nvPr/>
        </p:nvSpPr>
        <p:spPr>
          <a:xfrm>
            <a:off x="2468880" y="3429000"/>
            <a:ext cx="1874520" cy="594360"/>
          </a:xfrm>
          <a:prstGeom prst="roundRect">
            <a:avLst>
              <a:gd name="adj" fmla="val 9231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  <a:effectLst>
            <a:outerShdw blurRad="508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78608" y="3557016"/>
            <a:ext cx="256032" cy="25603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2889504" y="3483864"/>
            <a:ext cx="13533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Text-to-SQL Agent</a:t>
            </a:r>
            <a:endParaRPr lang="en-US" sz="950" dirty="0"/>
          </a:p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</a:t>
            </a:r>
            <a:endParaRPr lang="en-US" sz="950" dirty="0"/>
          </a:p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SQL queries</a:t>
            </a:r>
            <a:endParaRPr lang="en-US" sz="950" dirty="0"/>
          </a:p>
        </p:txBody>
      </p:sp>
      <p:sp>
        <p:nvSpPr>
          <p:cNvPr id="31" name="Shape 22"/>
          <p:cNvSpPr/>
          <p:nvPr/>
        </p:nvSpPr>
        <p:spPr>
          <a:xfrm>
            <a:off x="4480560" y="3429000"/>
            <a:ext cx="1874520" cy="594360"/>
          </a:xfrm>
          <a:prstGeom prst="roundRect">
            <a:avLst>
              <a:gd name="adj" fmla="val 9231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  <a:effectLst>
            <a:outerShdw blurRad="508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0288" y="3557016"/>
            <a:ext cx="256032" cy="256032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901184" y="3483864"/>
            <a:ext cx="13533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 Agent</a:t>
            </a:r>
            <a:endParaRPr lang="en-US" sz="950" dirty="0"/>
          </a:p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market data</a:t>
            </a:r>
            <a:endParaRPr lang="en-US" sz="950" dirty="0"/>
          </a:p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news retrieval</a:t>
            </a:r>
            <a:endParaRPr lang="en-US" sz="950" dirty="0"/>
          </a:p>
        </p:txBody>
      </p:sp>
      <p:sp>
        <p:nvSpPr>
          <p:cNvPr id="34" name="Shape 24"/>
          <p:cNvSpPr/>
          <p:nvPr/>
        </p:nvSpPr>
        <p:spPr>
          <a:xfrm>
            <a:off x="914400" y="4023360"/>
            <a:ext cx="0" cy="292608"/>
          </a:xfrm>
          <a:prstGeom prst="line">
            <a:avLst/>
          </a:prstGeom>
          <a:noFill/>
          <a:ln w="10160">
            <a:solidFill>
              <a:srgbClr val="D1D9E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25"/>
          <p:cNvSpPr/>
          <p:nvPr/>
        </p:nvSpPr>
        <p:spPr>
          <a:xfrm>
            <a:off x="1828800" y="4023360"/>
            <a:ext cx="0" cy="292608"/>
          </a:xfrm>
          <a:prstGeom prst="line">
            <a:avLst/>
          </a:prstGeom>
          <a:noFill/>
          <a:ln w="10160">
            <a:solidFill>
              <a:srgbClr val="D1D9E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26"/>
          <p:cNvSpPr/>
          <p:nvPr/>
        </p:nvSpPr>
        <p:spPr>
          <a:xfrm>
            <a:off x="2926080" y="4023360"/>
            <a:ext cx="0" cy="292608"/>
          </a:xfrm>
          <a:prstGeom prst="line">
            <a:avLst/>
          </a:prstGeom>
          <a:noFill/>
          <a:ln w="10160">
            <a:solidFill>
              <a:srgbClr val="D1D9E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27"/>
          <p:cNvSpPr/>
          <p:nvPr/>
        </p:nvSpPr>
        <p:spPr>
          <a:xfrm>
            <a:off x="3840480" y="4023360"/>
            <a:ext cx="0" cy="292608"/>
          </a:xfrm>
          <a:prstGeom prst="line">
            <a:avLst/>
          </a:prstGeom>
          <a:noFill/>
          <a:ln w="10160">
            <a:solidFill>
              <a:srgbClr val="D1D9E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28"/>
          <p:cNvSpPr/>
          <p:nvPr/>
        </p:nvSpPr>
        <p:spPr>
          <a:xfrm>
            <a:off x="4937760" y="4023360"/>
            <a:ext cx="0" cy="292608"/>
          </a:xfrm>
          <a:prstGeom prst="line">
            <a:avLst/>
          </a:prstGeom>
          <a:noFill/>
          <a:ln w="10160">
            <a:solidFill>
              <a:srgbClr val="D1D9E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29"/>
          <p:cNvSpPr/>
          <p:nvPr/>
        </p:nvSpPr>
        <p:spPr>
          <a:xfrm>
            <a:off x="5852160" y="4023360"/>
            <a:ext cx="0" cy="292608"/>
          </a:xfrm>
          <a:prstGeom prst="line">
            <a:avLst/>
          </a:prstGeom>
          <a:noFill/>
          <a:ln w="10160">
            <a:solidFill>
              <a:srgbClr val="D1D9E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059936"/>
            <a:ext cx="164592" cy="164592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384048" y="420624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650" dirty="0"/>
          </a:p>
        </p:txBody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0048" y="4059936"/>
            <a:ext cx="164592" cy="164592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2377440" y="420624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650" dirty="0"/>
          </a:p>
        </p:txBody>
      </p:sp>
      <p:pic>
        <p:nvPicPr>
          <p:cNvPr id="44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6128" y="4059936"/>
            <a:ext cx="164592" cy="164592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5303520" y="420624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Overflow</a:t>
            </a:r>
            <a:endParaRPr lang="en-US" sz="650" dirty="0"/>
          </a:p>
        </p:txBody>
      </p:sp>
      <p:sp>
        <p:nvSpPr>
          <p:cNvPr id="46" name="Shape 33"/>
          <p:cNvSpPr/>
          <p:nvPr/>
        </p:nvSpPr>
        <p:spPr>
          <a:xfrm>
            <a:off x="457200" y="4370832"/>
            <a:ext cx="868680" cy="457200"/>
          </a:xfrm>
          <a:prstGeom prst="roundRect">
            <a:avLst>
              <a:gd name="adj" fmla="val 10000"/>
            </a:avLst>
          </a:prstGeom>
          <a:solidFill>
            <a:srgbClr val="FDF2F8"/>
          </a:solidFill>
          <a:ln w="10160">
            <a:solidFill>
              <a:srgbClr val="DB2777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pic>
        <p:nvPicPr>
          <p:cNvPr id="47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2064" y="4480560"/>
            <a:ext cx="182880" cy="182880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713232" y="437083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MCP</a:t>
            </a:r>
            <a:endParaRPr lang="en-US" sz="700" dirty="0"/>
          </a:p>
        </p:txBody>
      </p:sp>
      <p:sp>
        <p:nvSpPr>
          <p:cNvPr id="49" name="Shape 35"/>
          <p:cNvSpPr/>
          <p:nvPr/>
        </p:nvSpPr>
        <p:spPr>
          <a:xfrm>
            <a:off x="1417320" y="4370832"/>
            <a:ext cx="868680" cy="4572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0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2184" y="4480560"/>
            <a:ext cx="182880" cy="182880"/>
          </a:xfrm>
          <a:prstGeom prst="rect">
            <a:avLst/>
          </a:prstGeom>
        </p:spPr>
      </p:pic>
      <p:sp>
        <p:nvSpPr>
          <p:cNvPr id="51" name="Text 36"/>
          <p:cNvSpPr/>
          <p:nvPr/>
        </p:nvSpPr>
        <p:spPr>
          <a:xfrm>
            <a:off x="1673352" y="43708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750" dirty="0"/>
          </a:p>
        </p:txBody>
      </p:sp>
      <p:sp>
        <p:nvSpPr>
          <p:cNvPr id="52" name="Shape 37"/>
          <p:cNvSpPr/>
          <p:nvPr/>
        </p:nvSpPr>
        <p:spPr>
          <a:xfrm>
            <a:off x="2468880" y="4370832"/>
            <a:ext cx="868680" cy="457200"/>
          </a:xfrm>
          <a:prstGeom prst="roundRect">
            <a:avLst>
              <a:gd name="adj" fmla="val 10000"/>
            </a:avLst>
          </a:prstGeom>
          <a:solidFill>
            <a:srgbClr val="FDF2F8"/>
          </a:solidFill>
          <a:ln w="10160">
            <a:solidFill>
              <a:srgbClr val="DB2777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pic>
        <p:nvPicPr>
          <p:cNvPr id="53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23744" y="4480560"/>
            <a:ext cx="182880" cy="182880"/>
          </a:xfrm>
          <a:prstGeom prst="rect">
            <a:avLst/>
          </a:prstGeom>
        </p:spPr>
      </p:pic>
      <p:sp>
        <p:nvSpPr>
          <p:cNvPr id="54" name="Text 38"/>
          <p:cNvSpPr/>
          <p:nvPr/>
        </p:nvSpPr>
        <p:spPr>
          <a:xfrm>
            <a:off x="2724912" y="437083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MCP</a:t>
            </a:r>
            <a:endParaRPr lang="en-US" sz="700" dirty="0"/>
          </a:p>
        </p:txBody>
      </p:sp>
      <p:sp>
        <p:nvSpPr>
          <p:cNvPr id="55" name="Shape 39"/>
          <p:cNvSpPr/>
          <p:nvPr/>
        </p:nvSpPr>
        <p:spPr>
          <a:xfrm>
            <a:off x="3429000" y="4370832"/>
            <a:ext cx="868680" cy="4572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6" name="Image 1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3864" y="4480560"/>
            <a:ext cx="182880" cy="182880"/>
          </a:xfrm>
          <a:prstGeom prst="rect">
            <a:avLst/>
          </a:prstGeom>
        </p:spPr>
      </p:pic>
      <p:sp>
        <p:nvSpPr>
          <p:cNvPr id="57" name="Text 40"/>
          <p:cNvSpPr/>
          <p:nvPr/>
        </p:nvSpPr>
        <p:spPr>
          <a:xfrm>
            <a:off x="3685032" y="43708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750" dirty="0"/>
          </a:p>
        </p:txBody>
      </p:sp>
      <p:sp>
        <p:nvSpPr>
          <p:cNvPr id="58" name="Shape 41"/>
          <p:cNvSpPr/>
          <p:nvPr/>
        </p:nvSpPr>
        <p:spPr>
          <a:xfrm>
            <a:off x="4480560" y="4370832"/>
            <a:ext cx="960120" cy="457200"/>
          </a:xfrm>
          <a:prstGeom prst="roundRect">
            <a:avLst>
              <a:gd name="adj" fmla="val 10000"/>
            </a:avLst>
          </a:prstGeom>
          <a:solidFill>
            <a:srgbClr val="FDF2F8"/>
          </a:solidFill>
          <a:ln w="10160">
            <a:solidFill>
              <a:srgbClr val="DB2777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pic>
        <p:nvPicPr>
          <p:cNvPr id="59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35424" y="4480560"/>
            <a:ext cx="182880" cy="182880"/>
          </a:xfrm>
          <a:prstGeom prst="rect">
            <a:avLst/>
          </a:prstGeom>
        </p:spPr>
      </p:pic>
      <p:sp>
        <p:nvSpPr>
          <p:cNvPr id="60" name="Text 42"/>
          <p:cNvSpPr/>
          <p:nvPr/>
        </p:nvSpPr>
        <p:spPr>
          <a:xfrm>
            <a:off x="4736592" y="4370832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MCP</a:t>
            </a:r>
            <a:endParaRPr lang="en-US" sz="700" dirty="0"/>
          </a:p>
        </p:txBody>
      </p:sp>
      <p:sp>
        <p:nvSpPr>
          <p:cNvPr id="61" name="Shape 43"/>
          <p:cNvSpPr/>
          <p:nvPr/>
        </p:nvSpPr>
        <p:spPr>
          <a:xfrm>
            <a:off x="5557520" y="4370832"/>
            <a:ext cx="868680" cy="4572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2" name="Image 1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2224" y="4500880"/>
            <a:ext cx="182880" cy="182880"/>
          </a:xfrm>
          <a:prstGeom prst="rect">
            <a:avLst/>
          </a:prstGeom>
        </p:spPr>
      </p:pic>
      <p:sp>
        <p:nvSpPr>
          <p:cNvPr id="63" name="Text 44"/>
          <p:cNvSpPr/>
          <p:nvPr/>
        </p:nvSpPr>
        <p:spPr>
          <a:xfrm>
            <a:off x="5823712" y="43708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750" dirty="0"/>
          </a:p>
        </p:txBody>
      </p:sp>
      <p:pic>
        <p:nvPicPr>
          <p:cNvPr id="64" name="Image 1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4800" y="4064000"/>
            <a:ext cx="164592" cy="164592"/>
          </a:xfrm>
          <a:prstGeom prst="rect">
            <a:avLst/>
          </a:prstGeom>
        </p:spPr>
      </p:pic>
      <p:sp>
        <p:nvSpPr>
          <p:cNvPr id="65" name="Text 45"/>
          <p:cNvSpPr/>
          <p:nvPr/>
        </p:nvSpPr>
        <p:spPr>
          <a:xfrm>
            <a:off x="1485900" y="4203700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Timeout</a:t>
            </a:r>
            <a:endParaRPr lang="en-US" sz="650" dirty="0"/>
          </a:p>
        </p:txBody>
      </p:sp>
      <p:pic>
        <p:nvPicPr>
          <p:cNvPr id="66" name="Image 1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400" y="4064000"/>
            <a:ext cx="164592" cy="164592"/>
          </a:xfrm>
          <a:prstGeom prst="rect">
            <a:avLst/>
          </a:prstGeom>
        </p:spPr>
      </p:pic>
      <p:sp>
        <p:nvSpPr>
          <p:cNvPr id="67" name="Text 46"/>
          <p:cNvSpPr/>
          <p:nvPr/>
        </p:nvSpPr>
        <p:spPr>
          <a:xfrm>
            <a:off x="3403600" y="420370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Downgrade</a:t>
            </a:r>
            <a:endParaRPr lang="en-US" sz="650" dirty="0"/>
          </a:p>
        </p:txBody>
      </p:sp>
      <p:pic>
        <p:nvPicPr>
          <p:cNvPr id="68" name="Image 1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5074920"/>
            <a:ext cx="164592" cy="164592"/>
          </a:xfrm>
          <a:prstGeom prst="rect">
            <a:avLst/>
          </a:prstGeom>
        </p:spPr>
      </p:pic>
      <p:sp>
        <p:nvSpPr>
          <p:cNvPr id="69" name="Text 47"/>
          <p:cNvSpPr/>
          <p:nvPr/>
        </p:nvSpPr>
        <p:spPr>
          <a:xfrm>
            <a:off x="713232" y="50749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Fault Injection Point  (non-deterministic failure surface)</a:t>
            </a:r>
            <a:endParaRPr lang="en-US" sz="800" dirty="0"/>
          </a:p>
        </p:txBody>
      </p:sp>
      <p:sp>
        <p:nvSpPr>
          <p:cNvPr id="70" name="Shape 48"/>
          <p:cNvSpPr/>
          <p:nvPr/>
        </p:nvSpPr>
        <p:spPr>
          <a:xfrm>
            <a:off x="6629400" y="1280160"/>
            <a:ext cx="0" cy="4114800"/>
          </a:xfrm>
          <a:prstGeom prst="line">
            <a:avLst/>
          </a:prstGeom>
          <a:noFill/>
          <a:ln w="10160">
            <a:solidFill>
              <a:srgbClr val="D1D9E6"/>
            </a:solidFill>
            <a:prstDash val="dot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49"/>
          <p:cNvSpPr/>
          <p:nvPr/>
        </p:nvSpPr>
        <p:spPr>
          <a:xfrm>
            <a:off x="6903720" y="1280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FMEA  —  10-K ANALYZER FAILURE MODES</a:t>
            </a:r>
            <a:endParaRPr lang="en-US" sz="1000" dirty="0"/>
          </a:p>
        </p:txBody>
      </p:sp>
      <p:sp>
        <p:nvSpPr>
          <p:cNvPr id="72" name="Shape 50"/>
          <p:cNvSpPr/>
          <p:nvPr/>
        </p:nvSpPr>
        <p:spPr>
          <a:xfrm>
            <a:off x="6903720" y="1664208"/>
            <a:ext cx="4937760" cy="3657600"/>
          </a:xfrm>
          <a:prstGeom prst="roundRect">
            <a:avLst>
              <a:gd name="adj" fmla="val 2000"/>
            </a:avLst>
          </a:prstGeom>
          <a:solidFill>
            <a:srgbClr val="F7F8FB"/>
          </a:solidFill>
          <a:ln w="1270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3" name="Shape 51"/>
          <p:cNvSpPr/>
          <p:nvPr/>
        </p:nvSpPr>
        <p:spPr>
          <a:xfrm>
            <a:off x="6976872" y="1755648"/>
            <a:ext cx="4791456" cy="310896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52"/>
          <p:cNvSpPr/>
          <p:nvPr/>
        </p:nvSpPr>
        <p:spPr>
          <a:xfrm>
            <a:off x="7040880" y="177393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750" dirty="0"/>
          </a:p>
        </p:txBody>
      </p:sp>
      <p:sp>
        <p:nvSpPr>
          <p:cNvPr id="75" name="Text 53"/>
          <p:cNvSpPr/>
          <p:nvPr/>
        </p:nvSpPr>
        <p:spPr>
          <a:xfrm>
            <a:off x="8138160" y="17739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</a:t>
            </a:r>
            <a:endParaRPr lang="en-US" sz="750" dirty="0"/>
          </a:p>
        </p:txBody>
      </p:sp>
      <p:sp>
        <p:nvSpPr>
          <p:cNvPr id="76" name="Text 54"/>
          <p:cNvSpPr/>
          <p:nvPr/>
        </p:nvSpPr>
        <p:spPr>
          <a:xfrm>
            <a:off x="9281160" y="17739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on 10-K Output</a:t>
            </a:r>
            <a:endParaRPr lang="en-US" sz="750" dirty="0"/>
          </a:p>
        </p:txBody>
      </p:sp>
      <p:sp>
        <p:nvSpPr>
          <p:cNvPr id="77" name="Text 55"/>
          <p:cNvSpPr/>
          <p:nvPr/>
        </p:nvSpPr>
        <p:spPr>
          <a:xfrm>
            <a:off x="10881360" y="1773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750" dirty="0"/>
          </a:p>
        </p:txBody>
      </p:sp>
      <p:sp>
        <p:nvSpPr>
          <p:cNvPr id="78" name="Shape 56"/>
          <p:cNvSpPr/>
          <p:nvPr/>
        </p:nvSpPr>
        <p:spPr>
          <a:xfrm>
            <a:off x="6976872" y="2103120"/>
            <a:ext cx="4791456" cy="347472"/>
          </a:xfrm>
          <a:prstGeom prst="rect">
            <a:avLst/>
          </a:prstGeom>
          <a:solidFill>
            <a:srgbClr val="F1F4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Text 57"/>
          <p:cNvSpPr/>
          <p:nvPr/>
        </p:nvSpPr>
        <p:spPr>
          <a:xfrm>
            <a:off x="7040880" y="212140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Agent</a:t>
            </a:r>
            <a:endParaRPr lang="en-US" sz="700" dirty="0"/>
          </a:p>
        </p:txBody>
      </p:sp>
      <p:sp>
        <p:nvSpPr>
          <p:cNvPr id="80" name="Text 58"/>
          <p:cNvSpPr/>
          <p:nvPr/>
        </p:nvSpPr>
        <p:spPr>
          <a:xfrm>
            <a:off x="8138160" y="21214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Misclassification</a:t>
            </a:r>
            <a:endParaRPr lang="en-US" sz="700" dirty="0"/>
          </a:p>
        </p:txBody>
      </p:sp>
      <p:sp>
        <p:nvSpPr>
          <p:cNvPr id="81" name="Text 59"/>
          <p:cNvSpPr/>
          <p:nvPr/>
        </p:nvSpPr>
        <p:spPr>
          <a:xfrm>
            <a:off x="9281160" y="212140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financial query to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 instead of SQL</a:t>
            </a:r>
            <a:endParaRPr lang="en-US" sz="650" dirty="0"/>
          </a:p>
        </p:txBody>
      </p:sp>
      <p:sp>
        <p:nvSpPr>
          <p:cNvPr id="82" name="Shape 60"/>
          <p:cNvSpPr/>
          <p:nvPr/>
        </p:nvSpPr>
        <p:spPr>
          <a:xfrm>
            <a:off x="10927080" y="2176272"/>
            <a:ext cx="658368" cy="201168"/>
          </a:xfrm>
          <a:prstGeom prst="roundRect">
            <a:avLst>
              <a:gd name="adj" fmla="val 22727"/>
            </a:avLst>
          </a:prstGeom>
          <a:solidFill>
            <a:srgbClr val="D97706">
              <a:alpha val="15000"/>
            </a:srgbClr>
          </a:solidFill>
          <a:ln w="63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Text 61"/>
          <p:cNvSpPr/>
          <p:nvPr/>
        </p:nvSpPr>
        <p:spPr>
          <a:xfrm>
            <a:off x="10927080" y="21762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50" dirty="0"/>
          </a:p>
        </p:txBody>
      </p:sp>
      <p:sp>
        <p:nvSpPr>
          <p:cNvPr id="84" name="Text 62"/>
          <p:cNvSpPr/>
          <p:nvPr/>
        </p:nvSpPr>
        <p:spPr>
          <a:xfrm>
            <a:off x="7040880" y="246888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Agent</a:t>
            </a:r>
            <a:endParaRPr lang="en-US" sz="700" dirty="0"/>
          </a:p>
        </p:txBody>
      </p:sp>
      <p:sp>
        <p:nvSpPr>
          <p:cNvPr id="85" name="Text 63"/>
          <p:cNvSpPr/>
          <p:nvPr/>
        </p:nvSpPr>
        <p:spPr>
          <a:xfrm>
            <a:off x="8138160" y="24688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700" dirty="0"/>
          </a:p>
        </p:txBody>
      </p:sp>
      <p:sp>
        <p:nvSpPr>
          <p:cNvPr id="86" name="Text 64"/>
          <p:cNvSpPr/>
          <p:nvPr/>
        </p:nvSpPr>
        <p:spPr>
          <a:xfrm>
            <a:off x="9281160" y="24688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Fabricates revenue figures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the 10-K filing</a:t>
            </a:r>
            <a:endParaRPr lang="en-US" sz="650" dirty="0"/>
          </a:p>
        </p:txBody>
      </p:sp>
      <p:sp>
        <p:nvSpPr>
          <p:cNvPr id="87" name="Shape 65"/>
          <p:cNvSpPr/>
          <p:nvPr/>
        </p:nvSpPr>
        <p:spPr>
          <a:xfrm>
            <a:off x="10927080" y="2523744"/>
            <a:ext cx="658368" cy="201168"/>
          </a:xfrm>
          <a:prstGeom prst="roundRect">
            <a:avLst>
              <a:gd name="adj" fmla="val 22727"/>
            </a:avLst>
          </a:prstGeom>
          <a:solidFill>
            <a:srgbClr val="DC2626">
              <a:alpha val="15000"/>
            </a:srgbClr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66"/>
          <p:cNvSpPr/>
          <p:nvPr/>
        </p:nvSpPr>
        <p:spPr>
          <a:xfrm>
            <a:off x="10927080" y="252374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50" dirty="0"/>
          </a:p>
        </p:txBody>
      </p:sp>
      <p:sp>
        <p:nvSpPr>
          <p:cNvPr id="89" name="Shape 67"/>
          <p:cNvSpPr/>
          <p:nvPr/>
        </p:nvSpPr>
        <p:spPr>
          <a:xfrm>
            <a:off x="6976872" y="2798064"/>
            <a:ext cx="4791456" cy="347472"/>
          </a:xfrm>
          <a:prstGeom prst="rect">
            <a:avLst/>
          </a:prstGeom>
          <a:solidFill>
            <a:srgbClr val="F1F4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Text 68"/>
          <p:cNvSpPr/>
          <p:nvPr/>
        </p:nvSpPr>
        <p:spPr>
          <a:xfrm>
            <a:off x="7040880" y="281635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Text-to-SQL</a:t>
            </a:r>
            <a:endParaRPr lang="en-US" sz="700" dirty="0"/>
          </a:p>
        </p:txBody>
      </p:sp>
      <p:sp>
        <p:nvSpPr>
          <p:cNvPr id="91" name="Text 69"/>
          <p:cNvSpPr/>
          <p:nvPr/>
        </p:nvSpPr>
        <p:spPr>
          <a:xfrm>
            <a:off x="8138160" y="281635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Prompt</a:t>
            </a:r>
            <a:endParaRPr lang="en-US" sz="700" dirty="0"/>
          </a:p>
        </p:txBody>
      </p:sp>
      <p:sp>
        <p:nvSpPr>
          <p:cNvPr id="92" name="Text 70"/>
          <p:cNvSpPr/>
          <p:nvPr/>
        </p:nvSpPr>
        <p:spPr>
          <a:xfrm>
            <a:off x="9281160" y="281635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query executes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financial database</a:t>
            </a:r>
            <a:endParaRPr lang="en-US" sz="650" dirty="0"/>
          </a:p>
        </p:txBody>
      </p:sp>
      <p:sp>
        <p:nvSpPr>
          <p:cNvPr id="93" name="Shape 71"/>
          <p:cNvSpPr/>
          <p:nvPr/>
        </p:nvSpPr>
        <p:spPr>
          <a:xfrm>
            <a:off x="10927080" y="2871216"/>
            <a:ext cx="658368" cy="201168"/>
          </a:xfrm>
          <a:prstGeom prst="roundRect">
            <a:avLst>
              <a:gd name="adj" fmla="val 22727"/>
            </a:avLst>
          </a:prstGeom>
          <a:solidFill>
            <a:srgbClr val="DC2626">
              <a:alpha val="15000"/>
            </a:srgbClr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4" name="Text 72"/>
          <p:cNvSpPr/>
          <p:nvPr/>
        </p:nvSpPr>
        <p:spPr>
          <a:xfrm>
            <a:off x="10927080" y="287121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50" dirty="0"/>
          </a:p>
        </p:txBody>
      </p:sp>
      <p:sp>
        <p:nvSpPr>
          <p:cNvPr id="95" name="Text 73"/>
          <p:cNvSpPr/>
          <p:nvPr/>
        </p:nvSpPr>
        <p:spPr>
          <a:xfrm>
            <a:off x="7040880" y="316382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</a:t>
            </a:r>
            <a:endParaRPr lang="en-US" sz="700" dirty="0"/>
          </a:p>
        </p:txBody>
      </p:sp>
      <p:sp>
        <p:nvSpPr>
          <p:cNvPr id="96" name="Text 74"/>
          <p:cNvSpPr/>
          <p:nvPr/>
        </p:nvSpPr>
        <p:spPr>
          <a:xfrm>
            <a:off x="8138160" y="316382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/ Conflicting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700" dirty="0"/>
          </a:p>
        </p:txBody>
      </p:sp>
      <p:sp>
        <p:nvSpPr>
          <p:cNvPr id="97" name="Text 75"/>
          <p:cNvSpPr/>
          <p:nvPr/>
        </p:nvSpPr>
        <p:spPr>
          <a:xfrm>
            <a:off x="9281160" y="316382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market data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contradicts SEC filing</a:t>
            </a:r>
            <a:endParaRPr lang="en-US" sz="650" dirty="0"/>
          </a:p>
        </p:txBody>
      </p:sp>
      <p:sp>
        <p:nvSpPr>
          <p:cNvPr id="98" name="Shape 76"/>
          <p:cNvSpPr/>
          <p:nvPr/>
        </p:nvSpPr>
        <p:spPr>
          <a:xfrm>
            <a:off x="10927080" y="3218688"/>
            <a:ext cx="658368" cy="201168"/>
          </a:xfrm>
          <a:prstGeom prst="roundRect">
            <a:avLst>
              <a:gd name="adj" fmla="val 22727"/>
            </a:avLst>
          </a:prstGeom>
          <a:solidFill>
            <a:srgbClr val="D97706">
              <a:alpha val="15000"/>
            </a:srgbClr>
          </a:solidFill>
          <a:ln w="63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Text 77"/>
          <p:cNvSpPr/>
          <p:nvPr/>
        </p:nvSpPr>
        <p:spPr>
          <a:xfrm>
            <a:off x="10927080" y="321868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50" dirty="0"/>
          </a:p>
        </p:txBody>
      </p:sp>
      <p:sp>
        <p:nvSpPr>
          <p:cNvPr id="100" name="Shape 78"/>
          <p:cNvSpPr/>
          <p:nvPr/>
        </p:nvSpPr>
        <p:spPr>
          <a:xfrm>
            <a:off x="6976872" y="3493008"/>
            <a:ext cx="4791456" cy="347472"/>
          </a:xfrm>
          <a:prstGeom prst="rect">
            <a:avLst/>
          </a:prstGeom>
          <a:solidFill>
            <a:srgbClr val="F1F4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79"/>
          <p:cNvSpPr/>
          <p:nvPr/>
        </p:nvSpPr>
        <p:spPr>
          <a:xfrm>
            <a:off x="7040880" y="351129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MCP</a:t>
            </a:r>
            <a:endParaRPr lang="en-US" sz="700" dirty="0"/>
          </a:p>
        </p:txBody>
      </p:sp>
      <p:sp>
        <p:nvSpPr>
          <p:cNvPr id="102" name="Text 80"/>
          <p:cNvSpPr/>
          <p:nvPr/>
        </p:nvSpPr>
        <p:spPr>
          <a:xfrm>
            <a:off x="8138160" y="351129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Timeout</a:t>
            </a:r>
            <a:endParaRPr lang="en-US" sz="700" dirty="0"/>
          </a:p>
        </p:txBody>
      </p:sp>
      <p:sp>
        <p:nvSpPr>
          <p:cNvPr id="103" name="Text 81"/>
          <p:cNvSpPr/>
          <p:nvPr/>
        </p:nvSpPr>
        <p:spPr>
          <a:xfrm>
            <a:off x="9281160" y="351129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retries exhaust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budget silently</a:t>
            </a:r>
            <a:endParaRPr lang="en-US" sz="650" dirty="0"/>
          </a:p>
        </p:txBody>
      </p:sp>
      <p:sp>
        <p:nvSpPr>
          <p:cNvPr id="104" name="Shape 82"/>
          <p:cNvSpPr/>
          <p:nvPr/>
        </p:nvSpPr>
        <p:spPr>
          <a:xfrm>
            <a:off x="10927080" y="3566160"/>
            <a:ext cx="658368" cy="201168"/>
          </a:xfrm>
          <a:prstGeom prst="roundRect">
            <a:avLst>
              <a:gd name="adj" fmla="val 22727"/>
            </a:avLst>
          </a:prstGeom>
          <a:solidFill>
            <a:srgbClr val="D97706">
              <a:alpha val="15000"/>
            </a:srgbClr>
          </a:solidFill>
          <a:ln w="63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Text 83"/>
          <p:cNvSpPr/>
          <p:nvPr/>
        </p:nvSpPr>
        <p:spPr>
          <a:xfrm>
            <a:off x="10927080" y="356616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650" dirty="0"/>
          </a:p>
        </p:txBody>
      </p:sp>
      <p:sp>
        <p:nvSpPr>
          <p:cNvPr id="106" name="Text 84"/>
          <p:cNvSpPr/>
          <p:nvPr/>
        </p:nvSpPr>
        <p:spPr>
          <a:xfrm>
            <a:off x="7040880" y="385876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MCP</a:t>
            </a:r>
            <a:endParaRPr lang="en-US" sz="700" dirty="0"/>
          </a:p>
        </p:txBody>
      </p:sp>
      <p:sp>
        <p:nvSpPr>
          <p:cNvPr id="107" name="Text 85"/>
          <p:cNvSpPr/>
          <p:nvPr/>
        </p:nvSpPr>
        <p:spPr>
          <a:xfrm>
            <a:off x="8138160" y="385876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Drift</a:t>
            </a:r>
            <a:endParaRPr lang="en-US" sz="700" dirty="0"/>
          </a:p>
        </p:txBody>
      </p:sp>
      <p:sp>
        <p:nvSpPr>
          <p:cNvPr id="108" name="Text 86"/>
          <p:cNvSpPr/>
          <p:nvPr/>
        </p:nvSpPr>
        <p:spPr>
          <a:xfrm>
            <a:off x="9281160" y="38587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fails silently,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empty result set</a:t>
            </a:r>
            <a:endParaRPr lang="en-US" sz="650" dirty="0"/>
          </a:p>
        </p:txBody>
      </p:sp>
      <p:sp>
        <p:nvSpPr>
          <p:cNvPr id="109" name="Shape 87"/>
          <p:cNvSpPr/>
          <p:nvPr/>
        </p:nvSpPr>
        <p:spPr>
          <a:xfrm>
            <a:off x="10927080" y="3913632"/>
            <a:ext cx="658368" cy="201168"/>
          </a:xfrm>
          <a:prstGeom prst="roundRect">
            <a:avLst>
              <a:gd name="adj" fmla="val 22727"/>
            </a:avLst>
          </a:prstGeom>
          <a:solidFill>
            <a:srgbClr val="D97706">
              <a:alpha val="15000"/>
            </a:srgbClr>
          </a:solidFill>
          <a:ln w="63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0" name="Text 88"/>
          <p:cNvSpPr/>
          <p:nvPr/>
        </p:nvSpPr>
        <p:spPr>
          <a:xfrm>
            <a:off x="10927080" y="391363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50" dirty="0"/>
          </a:p>
        </p:txBody>
      </p:sp>
      <p:sp>
        <p:nvSpPr>
          <p:cNvPr id="111" name="Shape 89"/>
          <p:cNvSpPr/>
          <p:nvPr/>
        </p:nvSpPr>
        <p:spPr>
          <a:xfrm>
            <a:off x="6976872" y="4187952"/>
            <a:ext cx="4791456" cy="347472"/>
          </a:xfrm>
          <a:prstGeom prst="rect">
            <a:avLst/>
          </a:prstGeom>
          <a:solidFill>
            <a:srgbClr val="F1F4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2" name="Text 90"/>
          <p:cNvSpPr/>
          <p:nvPr/>
        </p:nvSpPr>
        <p:spPr>
          <a:xfrm>
            <a:off x="7040880" y="420624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(all agents)</a:t>
            </a:r>
            <a:endParaRPr lang="en-US" sz="700" dirty="0"/>
          </a:p>
        </p:txBody>
      </p:sp>
      <p:sp>
        <p:nvSpPr>
          <p:cNvPr id="113" name="Text 91"/>
          <p:cNvSpPr/>
          <p:nvPr/>
        </p:nvSpPr>
        <p:spPr>
          <a:xfrm>
            <a:off x="8138160" y="42062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Overflow</a:t>
            </a:r>
            <a:endParaRPr lang="en-US" sz="700" dirty="0"/>
          </a:p>
        </p:txBody>
      </p:sp>
      <p:sp>
        <p:nvSpPr>
          <p:cNvPr id="114" name="Text 92"/>
          <p:cNvSpPr/>
          <p:nvPr/>
        </p:nvSpPr>
        <p:spPr>
          <a:xfrm>
            <a:off x="9281160" y="420624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Truncated 10-K sections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incomplete analysis</a:t>
            </a:r>
            <a:endParaRPr lang="en-US" sz="650" dirty="0"/>
          </a:p>
        </p:txBody>
      </p:sp>
      <p:sp>
        <p:nvSpPr>
          <p:cNvPr id="115" name="Shape 93"/>
          <p:cNvSpPr/>
          <p:nvPr/>
        </p:nvSpPr>
        <p:spPr>
          <a:xfrm>
            <a:off x="10927080" y="4261104"/>
            <a:ext cx="658368" cy="201168"/>
          </a:xfrm>
          <a:prstGeom prst="roundRect">
            <a:avLst>
              <a:gd name="adj" fmla="val 22727"/>
            </a:avLst>
          </a:prstGeom>
          <a:solidFill>
            <a:srgbClr val="DC2626">
              <a:alpha val="15000"/>
            </a:srgbClr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6" name="Text 94"/>
          <p:cNvSpPr/>
          <p:nvPr/>
        </p:nvSpPr>
        <p:spPr>
          <a:xfrm>
            <a:off x="10927080" y="426110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50" dirty="0"/>
          </a:p>
        </p:txBody>
      </p:sp>
      <p:sp>
        <p:nvSpPr>
          <p:cNvPr id="117" name="Text 95"/>
          <p:cNvSpPr/>
          <p:nvPr/>
        </p:nvSpPr>
        <p:spPr>
          <a:xfrm>
            <a:off x="7040880" y="455371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(all agents)</a:t>
            </a:r>
            <a:endParaRPr lang="en-US" sz="700" dirty="0"/>
          </a:p>
        </p:txBody>
      </p:sp>
      <p:sp>
        <p:nvSpPr>
          <p:cNvPr id="118" name="Text 96"/>
          <p:cNvSpPr/>
          <p:nvPr/>
        </p:nvSpPr>
        <p:spPr>
          <a:xfrm>
            <a:off x="8138160" y="455371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Downgrade</a:t>
            </a:r>
            <a:endParaRPr lang="en-US" sz="700" dirty="0"/>
          </a:p>
        </p:txBody>
      </p:sp>
      <p:sp>
        <p:nvSpPr>
          <p:cNvPr id="119" name="Text 97"/>
          <p:cNvSpPr/>
          <p:nvPr/>
        </p:nvSpPr>
        <p:spPr>
          <a:xfrm>
            <a:off x="9281160" y="455371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model reduces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quality undetected</a:t>
            </a:r>
            <a:endParaRPr lang="en-US" sz="650" dirty="0"/>
          </a:p>
        </p:txBody>
      </p:sp>
      <p:sp>
        <p:nvSpPr>
          <p:cNvPr id="120" name="Shape 98"/>
          <p:cNvSpPr/>
          <p:nvPr/>
        </p:nvSpPr>
        <p:spPr>
          <a:xfrm>
            <a:off x="10927080" y="4608576"/>
            <a:ext cx="658368" cy="201168"/>
          </a:xfrm>
          <a:prstGeom prst="roundRect">
            <a:avLst>
              <a:gd name="adj" fmla="val 22727"/>
            </a:avLst>
          </a:prstGeom>
          <a:solidFill>
            <a:srgbClr val="D97706">
              <a:alpha val="15000"/>
            </a:srgbClr>
          </a:solidFill>
          <a:ln w="63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1" name="Text 99"/>
          <p:cNvSpPr/>
          <p:nvPr/>
        </p:nvSpPr>
        <p:spPr>
          <a:xfrm>
            <a:off x="10927080" y="460857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50" dirty="0"/>
          </a:p>
        </p:txBody>
      </p:sp>
      <p:sp>
        <p:nvSpPr>
          <p:cNvPr id="122" name="Shape 100"/>
          <p:cNvSpPr/>
          <p:nvPr/>
        </p:nvSpPr>
        <p:spPr>
          <a:xfrm>
            <a:off x="6976872" y="4882896"/>
            <a:ext cx="4791456" cy="347472"/>
          </a:xfrm>
          <a:prstGeom prst="rect">
            <a:avLst/>
          </a:prstGeom>
          <a:solidFill>
            <a:srgbClr val="F1F4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01"/>
          <p:cNvSpPr/>
          <p:nvPr/>
        </p:nvSpPr>
        <p:spPr>
          <a:xfrm>
            <a:off x="7040880" y="490118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700" dirty="0"/>
          </a:p>
        </p:txBody>
      </p:sp>
      <p:sp>
        <p:nvSpPr>
          <p:cNvPr id="124" name="Text 102"/>
          <p:cNvSpPr/>
          <p:nvPr/>
        </p:nvSpPr>
        <p:spPr>
          <a:xfrm>
            <a:off x="8138160" y="490118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Failure</a:t>
            </a:r>
            <a:endParaRPr lang="en-US" sz="700" dirty="0"/>
          </a:p>
        </p:txBody>
      </p:sp>
      <p:sp>
        <p:nvSpPr>
          <p:cNvPr id="125" name="Text 103"/>
          <p:cNvSpPr/>
          <p:nvPr/>
        </p:nvSpPr>
        <p:spPr>
          <a:xfrm>
            <a:off x="9281160" y="490118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failure triggers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Web retry storm</a:t>
            </a:r>
            <a:endParaRPr lang="en-US" sz="650" dirty="0"/>
          </a:p>
        </p:txBody>
      </p:sp>
      <p:sp>
        <p:nvSpPr>
          <p:cNvPr id="126" name="Shape 104"/>
          <p:cNvSpPr/>
          <p:nvPr/>
        </p:nvSpPr>
        <p:spPr>
          <a:xfrm>
            <a:off x="10927080" y="4956048"/>
            <a:ext cx="658368" cy="201168"/>
          </a:xfrm>
          <a:prstGeom prst="roundRect">
            <a:avLst>
              <a:gd name="adj" fmla="val 22727"/>
            </a:avLst>
          </a:prstGeom>
          <a:solidFill>
            <a:srgbClr val="DC2626">
              <a:alpha val="15000"/>
            </a:srgbClr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05"/>
          <p:cNvSpPr/>
          <p:nvPr/>
        </p:nvSpPr>
        <p:spPr>
          <a:xfrm>
            <a:off x="10927080" y="495604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50" dirty="0"/>
          </a:p>
        </p:txBody>
      </p:sp>
      <p:sp>
        <p:nvSpPr>
          <p:cNvPr id="128" name="Shape 106"/>
          <p:cNvSpPr/>
          <p:nvPr/>
        </p:nvSpPr>
        <p:spPr>
          <a:xfrm>
            <a:off x="502920" y="5577840"/>
            <a:ext cx="11155680" cy="0"/>
          </a:xfrm>
          <a:prstGeom prst="line">
            <a:avLst/>
          </a:prstGeom>
          <a:noFill/>
          <a:ln w="762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9" name="Text 107"/>
          <p:cNvSpPr/>
          <p:nvPr/>
        </p:nvSpPr>
        <p:spPr>
          <a:xfrm>
            <a:off x="457200" y="57150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arrow is a failure surface. Traditional unit tests can't cover non-deterministic, multi-agent, LLM-powered execution paths.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82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Chaos Studio — Controlled Fault Injection for Agentic AI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02920" y="7132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for multi-agent workflows. Inspired by Gremlin. Extended for Behavior, MCP, LLM, and Orchestration faults. Mapped to FMEA for regulated environments.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016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02920" y="12801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INJECTION CATEGORIES  ×  10-K ANALYZER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1664208"/>
            <a:ext cx="5989320" cy="777240"/>
          </a:xfrm>
          <a:prstGeom prst="roundRect">
            <a:avLst>
              <a:gd name="adj" fmla="val 7059"/>
            </a:avLst>
          </a:prstGeom>
          <a:solidFill>
            <a:srgbClr val="F5F3FF"/>
          </a:solidFill>
          <a:ln w="10160">
            <a:solidFill>
              <a:srgbClr val="7C3AED"/>
            </a:solidFill>
            <a:prstDash val="solid"/>
          </a:ln>
          <a:effectLst>
            <a:outerShdw blurRad="50800" dist="25400" dir="8100000" algn="bl" rotWithShape="0">
              <a:srgbClr val="94A3B8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365760" y="1664208"/>
            <a:ext cx="54864" cy="7772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77393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50976" y="17190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Faults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950976" y="193852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Agent / RAG Agent / Text-to-SQL Agent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950976" y="213969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drift injection  •  Hallucination seeding  •  Reasoning corruption  •  Persona shift  •  Forced misrouting</a:t>
            </a:r>
            <a:endParaRPr lang="en-US" sz="700" dirty="0"/>
          </a:p>
        </p:txBody>
      </p:sp>
      <p:sp>
        <p:nvSpPr>
          <p:cNvPr id="14" name="Shape 10"/>
          <p:cNvSpPr/>
          <p:nvPr/>
        </p:nvSpPr>
        <p:spPr>
          <a:xfrm>
            <a:off x="365760" y="2532888"/>
            <a:ext cx="5989320" cy="777240"/>
          </a:xfrm>
          <a:prstGeom prst="roundRect">
            <a:avLst>
              <a:gd name="adj" fmla="val 7059"/>
            </a:avLst>
          </a:prstGeom>
          <a:solidFill>
            <a:srgbClr val="FDF2F8"/>
          </a:solidFill>
          <a:ln w="10160">
            <a:solidFill>
              <a:srgbClr val="DB2777"/>
            </a:solidFill>
            <a:prstDash val="solid"/>
          </a:ln>
          <a:effectLst>
            <a:outerShdw blurRad="50800" dist="25400" dir="8100000" algn="bl" rotWithShape="0">
              <a:srgbClr val="94A3B8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365760" y="2532888"/>
            <a:ext cx="54864" cy="777240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64261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50976" y="258775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Faults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950976" y="280720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MCP / SQL MCP / Search MCP</a:t>
            </a:r>
            <a:endParaRPr lang="en-US" sz="750" dirty="0"/>
          </a:p>
        </p:txBody>
      </p:sp>
      <p:sp>
        <p:nvSpPr>
          <p:cNvPr id="19" name="Text 14"/>
          <p:cNvSpPr/>
          <p:nvPr/>
        </p:nvSpPr>
        <p:spPr>
          <a:xfrm>
            <a:off x="950976" y="300837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unavailability  •  Auth token expiry  •  Tool schema mutation  •  Response delay injection  •  Partial result return</a:t>
            </a:r>
            <a:endParaRPr lang="en-US" sz="700" dirty="0"/>
          </a:p>
        </p:txBody>
      </p:sp>
      <p:sp>
        <p:nvSpPr>
          <p:cNvPr id="20" name="Shape 15"/>
          <p:cNvSpPr/>
          <p:nvPr/>
        </p:nvSpPr>
        <p:spPr>
          <a:xfrm>
            <a:off x="365760" y="3401568"/>
            <a:ext cx="5989320" cy="777240"/>
          </a:xfrm>
          <a:prstGeom prst="roundRect">
            <a:avLst>
              <a:gd name="adj" fmla="val 7059"/>
            </a:avLst>
          </a:prstGeom>
          <a:solidFill>
            <a:srgbClr val="FFFBEB"/>
          </a:solidFill>
          <a:ln w="10160">
            <a:solidFill>
              <a:srgbClr val="D97706"/>
            </a:solidFill>
            <a:prstDash val="solid"/>
          </a:ln>
          <a:effectLst>
            <a:outerShdw blurRad="50800" dist="25400" dir="8100000" algn="bl" rotWithShape="0">
              <a:srgbClr val="94A3B8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365760" y="3401568"/>
            <a:ext cx="54864" cy="7772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511296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50976" y="345643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Faults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950976" y="367588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LLM calls (routing + sub-agents)</a:t>
            </a:r>
            <a:endParaRPr lang="en-US" sz="750" dirty="0"/>
          </a:p>
        </p:txBody>
      </p:sp>
      <p:sp>
        <p:nvSpPr>
          <p:cNvPr id="25" name="Text 19"/>
          <p:cNvSpPr/>
          <p:nvPr/>
        </p:nvSpPr>
        <p:spPr>
          <a:xfrm>
            <a:off x="950976" y="387705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spikes  •  Token limit exhaustion  •  Model downgrade  •  Rate limiting  •  Gibberish response injection</a:t>
            </a:r>
            <a:endParaRPr lang="en-US" sz="700" dirty="0"/>
          </a:p>
        </p:txBody>
      </p:sp>
      <p:sp>
        <p:nvSpPr>
          <p:cNvPr id="26" name="Shape 20"/>
          <p:cNvSpPr/>
          <p:nvPr/>
        </p:nvSpPr>
        <p:spPr>
          <a:xfrm>
            <a:off x="365760" y="4270248"/>
            <a:ext cx="5989320" cy="777240"/>
          </a:xfrm>
          <a:prstGeom prst="roundRect">
            <a:avLst>
              <a:gd name="adj" fmla="val 7059"/>
            </a:avLst>
          </a:prstGeom>
          <a:solidFill>
            <a:srgbClr val="ECFEFF"/>
          </a:solidFill>
          <a:ln w="10160">
            <a:solidFill>
              <a:srgbClr val="0891B2"/>
            </a:solidFill>
            <a:prstDash val="solid"/>
          </a:ln>
          <a:effectLst>
            <a:outerShdw blurRad="50800" dist="25400" dir="8100000" algn="bl" rotWithShape="0">
              <a:srgbClr val="94A3B8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1"/>
          <p:cNvSpPr/>
          <p:nvPr/>
        </p:nvSpPr>
        <p:spPr>
          <a:xfrm>
            <a:off x="365760" y="4270248"/>
            <a:ext cx="54864" cy="7772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379976"/>
            <a:ext cx="310896" cy="31089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50976" y="432511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Faults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950976" y="454456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↔ Sub-agent communication paths</a:t>
            </a:r>
            <a:endParaRPr lang="en-US" sz="750" dirty="0"/>
          </a:p>
        </p:txBody>
      </p:sp>
      <p:sp>
        <p:nvSpPr>
          <p:cNvPr id="31" name="Text 24"/>
          <p:cNvSpPr/>
          <p:nvPr/>
        </p:nvSpPr>
        <p:spPr>
          <a:xfrm>
            <a:off x="950976" y="474573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 injection  •  Cascade trigger  •  Step budget overrun  •  Deadlock between agents  •  Fan-out explosion</a:t>
            </a:r>
            <a:endParaRPr lang="en-US" sz="700" dirty="0"/>
          </a:p>
        </p:txBody>
      </p:sp>
      <p:sp>
        <p:nvSpPr>
          <p:cNvPr id="32" name="Shape 25"/>
          <p:cNvSpPr/>
          <p:nvPr/>
        </p:nvSpPr>
        <p:spPr>
          <a:xfrm>
            <a:off x="365760" y="5138928"/>
            <a:ext cx="5989320" cy="777240"/>
          </a:xfrm>
          <a:prstGeom prst="roundRect">
            <a:avLst>
              <a:gd name="adj" fmla="val 7059"/>
            </a:avLst>
          </a:prstGeom>
          <a:solidFill>
            <a:srgbClr val="F1F4F9"/>
          </a:solidFill>
          <a:ln w="10160">
            <a:solidFill>
              <a:srgbClr val="64748B"/>
            </a:solidFill>
            <a:prstDash val="solid"/>
          </a:ln>
          <a:effectLst>
            <a:outerShdw blurRad="50800" dist="25400" dir="8100000" algn="bl" rotWithShape="0">
              <a:srgbClr val="94A3B8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26"/>
          <p:cNvSpPr/>
          <p:nvPr/>
        </p:nvSpPr>
        <p:spPr>
          <a:xfrm>
            <a:off x="365760" y="5138928"/>
            <a:ext cx="54864" cy="77724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5248656"/>
            <a:ext cx="310896" cy="31089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50976" y="519379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Infrastructure Faults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950976" y="541324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/ SQL DB / Context Window</a:t>
            </a:r>
            <a:endParaRPr lang="en-US" sz="750" dirty="0"/>
          </a:p>
        </p:txBody>
      </p:sp>
      <p:sp>
        <p:nvSpPr>
          <p:cNvPr id="37" name="Text 29"/>
          <p:cNvSpPr/>
          <p:nvPr/>
        </p:nvSpPr>
        <p:spPr>
          <a:xfrm>
            <a:off x="950976" y="561441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corruption  •  Index staleness  •  Context window truncation  •  Cache poisoning  •  Memory wipe</a:t>
            </a:r>
            <a:endParaRPr lang="en-US" sz="700" dirty="0"/>
          </a:p>
        </p:txBody>
      </p:sp>
      <p:sp>
        <p:nvSpPr>
          <p:cNvPr id="38" name="Shape 30"/>
          <p:cNvSpPr/>
          <p:nvPr/>
        </p:nvSpPr>
        <p:spPr>
          <a:xfrm>
            <a:off x="6629400" y="1280160"/>
            <a:ext cx="0" cy="4572000"/>
          </a:xfrm>
          <a:prstGeom prst="line">
            <a:avLst/>
          </a:prstGeom>
          <a:noFill/>
          <a:ln w="10160">
            <a:solidFill>
              <a:srgbClr val="D1D9E6"/>
            </a:solidFill>
            <a:prstDash val="dot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1"/>
          <p:cNvSpPr/>
          <p:nvPr/>
        </p:nvSpPr>
        <p:spPr>
          <a:xfrm>
            <a:off x="6903720" y="1280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EXPERIMENT LIFECYCLE</a:t>
            </a:r>
            <a:endParaRPr lang="en-US" sz="1000" dirty="0"/>
          </a:p>
        </p:txBody>
      </p:sp>
      <p:sp>
        <p:nvSpPr>
          <p:cNvPr id="40" name="Shape 32"/>
          <p:cNvSpPr/>
          <p:nvPr/>
        </p:nvSpPr>
        <p:spPr>
          <a:xfrm>
            <a:off x="6903720" y="1664208"/>
            <a:ext cx="4937760" cy="4160520"/>
          </a:xfrm>
          <a:prstGeom prst="roundRect">
            <a:avLst>
              <a:gd name="adj" fmla="val 1758"/>
            </a:avLst>
          </a:prstGeom>
          <a:solidFill>
            <a:srgbClr val="F7F8FB"/>
          </a:solidFill>
          <a:ln w="1270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94A3B8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3"/>
          <p:cNvSpPr/>
          <p:nvPr/>
        </p:nvSpPr>
        <p:spPr>
          <a:xfrm>
            <a:off x="7132320" y="1874520"/>
            <a:ext cx="347472" cy="347472"/>
          </a:xfrm>
          <a:prstGeom prst="ellipse">
            <a:avLst/>
          </a:prstGeom>
          <a:solidFill>
            <a:srgbClr val="0891B2"/>
          </a:solidFill>
          <a:ln/>
          <a:effectLst>
            <a:outerShdw blurRad="38100" dist="12700" dir="8100000" algn="bl" rotWithShape="0">
              <a:srgbClr val="94A3B8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Text 34"/>
          <p:cNvSpPr/>
          <p:nvPr/>
        </p:nvSpPr>
        <p:spPr>
          <a:xfrm>
            <a:off x="7132320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43" name="Shape 35"/>
          <p:cNvSpPr/>
          <p:nvPr/>
        </p:nvSpPr>
        <p:spPr>
          <a:xfrm>
            <a:off x="7306056" y="2240280"/>
            <a:ext cx="0" cy="164592"/>
          </a:xfrm>
          <a:prstGeom prst="line">
            <a:avLst/>
          </a:prstGeom>
          <a:noFill/>
          <a:ln w="15240">
            <a:solidFill>
              <a:srgbClr val="D1D9E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36"/>
          <p:cNvSpPr/>
          <p:nvPr/>
        </p:nvSpPr>
        <p:spPr>
          <a:xfrm>
            <a:off x="7635240" y="18196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Steady State</a:t>
            </a:r>
            <a:endParaRPr lang="en-US" sz="1100" dirty="0"/>
          </a:p>
        </p:txBody>
      </p:sp>
      <p:sp>
        <p:nvSpPr>
          <p:cNvPr id="45" name="Text 37"/>
          <p:cNvSpPr/>
          <p:nvPr/>
        </p:nvSpPr>
        <p:spPr>
          <a:xfrm>
            <a:off x="7635240" y="205740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10-K Analyzer returns accurate revenue, net income,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risk factors matching SEC filing within 5% tolerance</a:t>
            </a:r>
            <a:endParaRPr lang="en-US" sz="750" dirty="0"/>
          </a:p>
        </p:txBody>
      </p:sp>
      <p:sp>
        <p:nvSpPr>
          <p:cNvPr id="46" name="Shape 38"/>
          <p:cNvSpPr/>
          <p:nvPr/>
        </p:nvSpPr>
        <p:spPr>
          <a:xfrm>
            <a:off x="7132320" y="2496312"/>
            <a:ext cx="347472" cy="347472"/>
          </a:xfrm>
          <a:prstGeom prst="ellipse">
            <a:avLst/>
          </a:prstGeom>
          <a:solidFill>
            <a:srgbClr val="D97706"/>
          </a:solidFill>
          <a:ln/>
          <a:effectLst>
            <a:outerShdw blurRad="38100" dist="12700" dir="8100000" algn="bl" rotWithShape="0">
              <a:srgbClr val="94A3B8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Text 39"/>
          <p:cNvSpPr/>
          <p:nvPr/>
        </p:nvSpPr>
        <p:spPr>
          <a:xfrm>
            <a:off x="7132320" y="2496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48" name="Shape 40"/>
          <p:cNvSpPr/>
          <p:nvPr/>
        </p:nvSpPr>
        <p:spPr>
          <a:xfrm>
            <a:off x="7306056" y="2862072"/>
            <a:ext cx="0" cy="164592"/>
          </a:xfrm>
          <a:prstGeom prst="line">
            <a:avLst/>
          </a:prstGeom>
          <a:noFill/>
          <a:ln w="15240">
            <a:solidFill>
              <a:srgbClr val="D1D9E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1"/>
          <p:cNvSpPr/>
          <p:nvPr/>
        </p:nvSpPr>
        <p:spPr>
          <a:xfrm>
            <a:off x="7635240" y="244144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Hypothesize Failure</a:t>
            </a:r>
            <a:endParaRPr lang="en-US" sz="1100" dirty="0"/>
          </a:p>
        </p:txBody>
      </p:sp>
      <p:sp>
        <p:nvSpPr>
          <p:cNvPr id="50" name="Text 42"/>
          <p:cNvSpPr/>
          <p:nvPr/>
        </p:nvSpPr>
        <p:spPr>
          <a:xfrm>
            <a:off x="7635240" y="267919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RAG MCP returns stale embeddings, the RAG Agent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hallucinate revenue figures from a prior quarter"</a:t>
            </a:r>
            <a:endParaRPr lang="en-US" sz="750" dirty="0"/>
          </a:p>
        </p:txBody>
      </p:sp>
      <p:sp>
        <p:nvSpPr>
          <p:cNvPr id="51" name="Shape 43"/>
          <p:cNvSpPr/>
          <p:nvPr/>
        </p:nvSpPr>
        <p:spPr>
          <a:xfrm>
            <a:off x="7132320" y="3118104"/>
            <a:ext cx="347472" cy="347472"/>
          </a:xfrm>
          <a:prstGeom prst="ellipse">
            <a:avLst/>
          </a:prstGeom>
          <a:solidFill>
            <a:srgbClr val="DC2626"/>
          </a:solidFill>
          <a:ln/>
          <a:effectLst>
            <a:outerShdw blurRad="38100" dist="12700" dir="8100000" algn="bl" rotWithShape="0">
              <a:srgbClr val="94A3B8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Text 44"/>
          <p:cNvSpPr/>
          <p:nvPr/>
        </p:nvSpPr>
        <p:spPr>
          <a:xfrm>
            <a:off x="7132320" y="3118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53" name="Shape 45"/>
          <p:cNvSpPr/>
          <p:nvPr/>
        </p:nvSpPr>
        <p:spPr>
          <a:xfrm>
            <a:off x="7306056" y="3483864"/>
            <a:ext cx="0" cy="164592"/>
          </a:xfrm>
          <a:prstGeom prst="line">
            <a:avLst/>
          </a:prstGeom>
          <a:noFill/>
          <a:ln w="15240">
            <a:solidFill>
              <a:srgbClr val="D1D9E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46"/>
          <p:cNvSpPr/>
          <p:nvPr/>
        </p:nvSpPr>
        <p:spPr>
          <a:xfrm>
            <a:off x="7635240" y="30632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Controlled Fault</a:t>
            </a:r>
            <a:endParaRPr lang="en-US" sz="1100" dirty="0"/>
          </a:p>
        </p:txBody>
      </p:sp>
      <p:sp>
        <p:nvSpPr>
          <p:cNvPr id="55" name="Text 47"/>
          <p:cNvSpPr/>
          <p:nvPr/>
        </p:nvSpPr>
        <p:spPr>
          <a:xfrm>
            <a:off x="7635240" y="33009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Studio intercepts RAG MCP → injects 30s delay,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schema mutation, or returns partial chunk data</a:t>
            </a:r>
            <a:endParaRPr lang="en-US" sz="750" dirty="0"/>
          </a:p>
        </p:txBody>
      </p:sp>
      <p:sp>
        <p:nvSpPr>
          <p:cNvPr id="56" name="Shape 48"/>
          <p:cNvSpPr/>
          <p:nvPr/>
        </p:nvSpPr>
        <p:spPr>
          <a:xfrm>
            <a:off x="7132320" y="3739896"/>
            <a:ext cx="347472" cy="347472"/>
          </a:xfrm>
          <a:prstGeom prst="ellipse">
            <a:avLst/>
          </a:prstGeom>
          <a:solidFill>
            <a:srgbClr val="7C3AED"/>
          </a:solidFill>
          <a:ln/>
          <a:effectLst>
            <a:outerShdw blurRad="38100" dist="12700" dir="8100000" algn="bl" rotWithShape="0">
              <a:srgbClr val="94A3B8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7" name="Text 49"/>
          <p:cNvSpPr/>
          <p:nvPr/>
        </p:nvSpPr>
        <p:spPr>
          <a:xfrm>
            <a:off x="7132320" y="37398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58" name="Shape 50"/>
          <p:cNvSpPr/>
          <p:nvPr/>
        </p:nvSpPr>
        <p:spPr>
          <a:xfrm>
            <a:off x="7306056" y="4105656"/>
            <a:ext cx="0" cy="164592"/>
          </a:xfrm>
          <a:prstGeom prst="line">
            <a:avLst/>
          </a:prstGeom>
          <a:noFill/>
          <a:ln w="15240">
            <a:solidFill>
              <a:srgbClr val="D1D9E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1"/>
          <p:cNvSpPr/>
          <p:nvPr/>
        </p:nvSpPr>
        <p:spPr>
          <a:xfrm>
            <a:off x="7635240" y="368503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&amp; Measure</a:t>
            </a:r>
            <a:endParaRPr lang="en-US" sz="1100" dirty="0"/>
          </a:p>
        </p:txBody>
      </p:sp>
      <p:sp>
        <p:nvSpPr>
          <p:cNvPr id="60" name="Text 52"/>
          <p:cNvSpPr/>
          <p:nvPr/>
        </p:nvSpPr>
        <p:spPr>
          <a:xfrm>
            <a:off x="7635240" y="392277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Arize.ai traces capture agent behavior: drift score,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delta, factual accuracy vs. ground truth</a:t>
            </a:r>
            <a:endParaRPr lang="en-US" sz="750" dirty="0"/>
          </a:p>
        </p:txBody>
      </p:sp>
      <p:sp>
        <p:nvSpPr>
          <p:cNvPr id="61" name="Shape 53"/>
          <p:cNvSpPr/>
          <p:nvPr/>
        </p:nvSpPr>
        <p:spPr>
          <a:xfrm>
            <a:off x="7132320" y="4361688"/>
            <a:ext cx="347472" cy="347472"/>
          </a:xfrm>
          <a:prstGeom prst="ellipse">
            <a:avLst/>
          </a:prstGeom>
          <a:solidFill>
            <a:srgbClr val="059669"/>
          </a:solidFill>
          <a:ln/>
          <a:effectLst>
            <a:outerShdw blurRad="38100" dist="12700" dir="8100000" algn="bl" rotWithShape="0">
              <a:srgbClr val="94A3B8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2" name="Text 54"/>
          <p:cNvSpPr/>
          <p:nvPr/>
        </p:nvSpPr>
        <p:spPr>
          <a:xfrm>
            <a:off x="7132320" y="4361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63" name="Shape 55"/>
          <p:cNvSpPr/>
          <p:nvPr/>
        </p:nvSpPr>
        <p:spPr>
          <a:xfrm>
            <a:off x="7306056" y="4727448"/>
            <a:ext cx="0" cy="164592"/>
          </a:xfrm>
          <a:prstGeom prst="line">
            <a:avLst/>
          </a:prstGeom>
          <a:noFill/>
          <a:ln w="15240">
            <a:solidFill>
              <a:srgbClr val="D1D9E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56"/>
          <p:cNvSpPr/>
          <p:nvPr/>
        </p:nvSpPr>
        <p:spPr>
          <a:xfrm>
            <a:off x="7635240" y="430682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Guardrails</a:t>
            </a:r>
            <a:endParaRPr lang="en-US" sz="1100" dirty="0"/>
          </a:p>
        </p:txBody>
      </p:sp>
      <p:sp>
        <p:nvSpPr>
          <p:cNvPr id="65" name="Text 57"/>
          <p:cNvSpPr/>
          <p:nvPr/>
        </p:nvSpPr>
        <p:spPr>
          <a:xfrm>
            <a:off x="7635240" y="45445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guardrails pre-execution checks fire: goal drift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detection, loop breaker, tool misuse prevention</a:t>
            </a:r>
            <a:endParaRPr lang="en-US" sz="750" dirty="0"/>
          </a:p>
        </p:txBody>
      </p:sp>
      <p:sp>
        <p:nvSpPr>
          <p:cNvPr id="66" name="Shape 58"/>
          <p:cNvSpPr/>
          <p:nvPr/>
        </p:nvSpPr>
        <p:spPr>
          <a:xfrm>
            <a:off x="7132320" y="4983480"/>
            <a:ext cx="347472" cy="347472"/>
          </a:xfrm>
          <a:prstGeom prst="ellipse">
            <a:avLst/>
          </a:prstGeom>
          <a:solidFill>
            <a:srgbClr val="2563EB"/>
          </a:solidFill>
          <a:ln/>
          <a:effectLst>
            <a:outerShdw blurRad="38100" dist="12700" dir="8100000" algn="bl" rotWithShape="0">
              <a:srgbClr val="94A3B8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7" name="Text 59"/>
          <p:cNvSpPr/>
          <p:nvPr/>
        </p:nvSpPr>
        <p:spPr>
          <a:xfrm>
            <a:off x="7132320" y="4983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68" name="Text 60"/>
          <p:cNvSpPr/>
          <p:nvPr/>
        </p:nvSpPr>
        <p:spPr>
          <a:xfrm>
            <a:off x="7635240" y="49286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FMEA Resilience Report</a:t>
            </a:r>
            <a:endParaRPr lang="en-US" sz="1100" dirty="0"/>
          </a:p>
        </p:txBody>
      </p:sp>
      <p:sp>
        <p:nvSpPr>
          <p:cNvPr id="69" name="Text 61"/>
          <p:cNvSpPr/>
          <p:nvPr/>
        </p:nvSpPr>
        <p:spPr>
          <a:xfrm>
            <a:off x="7635240" y="516636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updated FMEA scorecard with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rating and remediation recommendations</a:t>
            </a:r>
            <a:endParaRPr lang="en-US" sz="750" dirty="0"/>
          </a:p>
        </p:txBody>
      </p:sp>
      <p:sp>
        <p:nvSpPr>
          <p:cNvPr id="70" name="Shape 62"/>
          <p:cNvSpPr/>
          <p:nvPr/>
        </p:nvSpPr>
        <p:spPr>
          <a:xfrm>
            <a:off x="502920" y="5989320"/>
            <a:ext cx="11155680" cy="0"/>
          </a:xfrm>
          <a:prstGeom prst="line">
            <a:avLst/>
          </a:prstGeom>
          <a:noFill/>
          <a:ln w="762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3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Studio   |   Hypothesize. Inject. Observe. Harden.   |   Built for Agentic Workflows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75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24C7BEC-D8AF-4F97-9626-5041B1FBC316}">
  <we:reference id="wa200010001" version="1.0.0.1" store="en-US" storeType="OMEX"/>
  <we:alternateReferences>
    <we:reference id="wa200010001" version="1.0.0.1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437</TotalTime>
  <Words>572</Words>
  <Application>Microsoft Office PowerPoint</Application>
  <PresentationFormat>Widescreen</PresentationFormat>
  <Paragraphs>129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Trebuchet MS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Behavior Chaos Engineering — 10-K Analyzer</dc:title>
  <dc:subject>PptxGenJS Presentation</dc:subject>
  <dc:creator>Bindu</dc:creator>
  <cp:lastModifiedBy>bindu priya</cp:lastModifiedBy>
  <cp:revision>3</cp:revision>
  <dcterms:created xsi:type="dcterms:W3CDTF">2026-03-29T11:52:50Z</dcterms:created>
  <dcterms:modified xsi:type="dcterms:W3CDTF">2026-03-29T19:11:14Z</dcterms:modified>
</cp:coreProperties>
</file>