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d21e5702dd48a1" /><Relationship Type="http://schemas.openxmlformats.org/officeDocument/2006/relationships/extended-properties" Target="/docProps/app.xml" Id="R9cba0f8db22c404f" /><Relationship Type="http://schemas.openxmlformats.org/officeDocument/2006/relationships/officeDocument" Target="/ppt/presentation.xml" Id="Rf05b2d16b98641f3" /></Relationships>
</file>

<file path=ppt/presentation.xml><?xml version="1.0" encoding="utf-8"?>
<p:presentation xmlns:p="http://schemas.openxmlformats.org/presentationml/2006/main">
  <p:sldMasterIdLst>
    <p:sldMasterId xmlns:r="http://schemas.openxmlformats.org/officeDocument/2006/relationships" id="2147483648" r:id="R0b51f057c9a74493"/>
  </p:sldMasterIdLst>
  <p:notesMasterIdLst>
    <p:notesMasterId xmlns:r="http://schemas.openxmlformats.org/officeDocument/2006/relationships" r:id="R8f4431752c364e68"/>
  </p:notesMasterIdLst>
  <p:sldIdLst>
    <p:sldId xmlns:r="http://schemas.openxmlformats.org/officeDocument/2006/relationships" id="256" r:id="Rbc2bb294d7554591"/>
    <p:sldId xmlns:r="http://schemas.openxmlformats.org/officeDocument/2006/relationships" id="257" r:id="R7f7c71ab131244f5"/>
    <p:sldId xmlns:r="http://schemas.openxmlformats.org/officeDocument/2006/relationships" id="258" r:id="R7d10d6ca15994ab5"/>
    <p:sldId xmlns:r="http://schemas.openxmlformats.org/officeDocument/2006/relationships" id="259" r:id="R5e781c89fd964bee"/>
    <p:sldId xmlns:r="http://schemas.openxmlformats.org/officeDocument/2006/relationships" id="260" r:id="R2ef58a2d4cb14789"/>
    <p:sldId xmlns:r="http://schemas.openxmlformats.org/officeDocument/2006/relationships" id="261" r:id="R721b1e2d1cb940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c00de501e5480c" /><Relationship Type="http://schemas.openxmlformats.org/officeDocument/2006/relationships/slideMaster" Target="/ppt/slideMasters/slideMaster1.xml" Id="R0b51f057c9a74493" /><Relationship Type="http://schemas.openxmlformats.org/officeDocument/2006/relationships/notesMaster" Target="/ppt/notesMasters/notesMaster1.xml" Id="R8f4431752c364e68" /><Relationship Type="http://schemas.openxmlformats.org/officeDocument/2006/relationships/presProps" Target="/ppt/presProps.xml" Id="Rf6f63c9dcb6441b8" /><Relationship Type="http://schemas.openxmlformats.org/officeDocument/2006/relationships/tableStyles" Target="/ppt/tableStyles.xml" Id="Raddc5b91956346a8" /><Relationship Type="http://schemas.openxmlformats.org/officeDocument/2006/relationships/slide" Target="/ppt/slides/slide1.xml" Id="Rbc2bb294d7554591" /><Relationship Type="http://schemas.openxmlformats.org/officeDocument/2006/relationships/slide" Target="/ppt/slides/slide2.xml" Id="R7f7c71ab131244f5" /><Relationship Type="http://schemas.openxmlformats.org/officeDocument/2006/relationships/slide" Target="/ppt/slides/slide3.xml" Id="R7d10d6ca15994ab5" /><Relationship Type="http://schemas.openxmlformats.org/officeDocument/2006/relationships/slide" Target="/ppt/slides/slide4.xml" Id="R5e781c89fd964bee" /><Relationship Type="http://schemas.openxmlformats.org/officeDocument/2006/relationships/slide" Target="/ppt/slides/slide5.xml" Id="R2ef58a2d4cb14789" /><Relationship Type="http://schemas.openxmlformats.org/officeDocument/2006/relationships/slide" Target="/ppt/slides/slide6.xml" Id="R721b1e2d1cb940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5b357c08f64a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8073bf6c484a06" /><Relationship Type="http://schemas.openxmlformats.org/officeDocument/2006/relationships/notesMaster" Target="/ppt/notesMasters/notesMaster1.xml" Id="R8ed09377c8b449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ccc88ccde3468e" /><Relationship Type="http://schemas.openxmlformats.org/officeDocument/2006/relationships/notesMaster" Target="/ppt/notesMasters/notesMaster1.xml" Id="R6b9af53af71a44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bc84c8fec14949" /><Relationship Type="http://schemas.openxmlformats.org/officeDocument/2006/relationships/notesMaster" Target="/ppt/notesMasters/notesMaster1.xml" Id="R5bb2ea9bdded41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c8ceedab0f4198" /><Relationship Type="http://schemas.openxmlformats.org/officeDocument/2006/relationships/notesMaster" Target="/ppt/notesMasters/notesMaster1.xml" Id="R2939692accd645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cf8c3330794eba" /><Relationship Type="http://schemas.openxmlformats.org/officeDocument/2006/relationships/notesMaster" Target="/ppt/notesMasters/notesMaster1.xml" Id="Rbfbacd904eb54c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f07241fed040b1" /><Relationship Type="http://schemas.openxmlformats.org/officeDocument/2006/relationships/notesMaster" Target="/ppt/notesMasters/notesMaster1.xml" Id="R39da2099aea643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class totals 60 minutes. Use the employee FAQ assistant as the running example.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class totals 60 minutes. Use the employee FAQ assistant as the running example.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class totals 60 minutes. Use the employee FAQ assistant as the running example.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class totals 60 minutes. Use the employee FAQ assistant as the running example. Confirm current Tachyon capabilities and access paths before delivery. Include available usage and evaluation capabilities in the platform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62fa91cb9447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7a1ab8ddcc450e" /><Relationship Type="http://schemas.openxmlformats.org/officeDocument/2006/relationships/slideLayout" Target="/ppt/slideLayouts/slideLayout1.xml" Id="Rea034e5d42724f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034e5d42724f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eb19ff7d02f450a" /><Relationship Type="http://schemas.openxmlformats.org/officeDocument/2006/relationships/notesSlide" Target="/ppt/notesSlides/notesSlide1.xml" Id="R85bcb39a7fb742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65d355a7d349e4" /><Relationship Type="http://schemas.openxmlformats.org/officeDocument/2006/relationships/notesSlide" Target="/ppt/notesSlides/notesSlide2.xml" Id="R3b07c85df37543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23314338da6408c" /><Relationship Type="http://schemas.openxmlformats.org/officeDocument/2006/relationships/notesSlide" Target="/ppt/notesSlides/notesSlide3.xml" Id="Rb2686d7af1004e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9e71a3a63fd471a" /><Relationship Type="http://schemas.openxmlformats.org/officeDocument/2006/relationships/notesSlide" Target="/ppt/notesSlides/notesSlide4.xml" Id="Rab094f2f116841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a57030edef14b2a" /><Relationship Type="http://schemas.openxmlformats.org/officeDocument/2006/relationships/notesSlide" Target="/ppt/notesSlides/notesSlide5.xml" Id="R668dc93e02d340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0a3d61a9cec4755" /><Relationship Type="http://schemas.openxmlformats.org/officeDocument/2006/relationships/notesSlide" Target="/ppt/notesSlides/notesSlide6.xml" Id="R1bab80bf5fdb403e"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4187949-9E5A-494E-AF3B-C7E7A2121220}"/>
              </a:ext>
            </a:extLst>
          </p:cNvPr>
          <p:cNvSpPr>
            <a:spLocks xmlns:a="http://schemas.openxmlformats.org/drawingml/2006/main" noGrp="1"/>
          </p:cNvSpPr>
          <p:nvPr/>
        </p:nvSpPr>
        <p:spPr>
          <a:xfrm xmlns:a="http://schemas.openxmlformats.org/drawingml/2006/main">
            <a:off x="552450" y="419100"/>
            <a:ext cx="11087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0253F"/>
                </a:solidFill>
                <a:latin typeface="Bitstream Charter"/>
                <a:ea typeface="Bitstream Charter"/>
                <a:cs typeface="Bitstream Charter"/>
              </a:defRPr>
            </a:pPr>
            <a:r>
              <a:rPr sz="3150" b="1">
                <a:solidFill>
                  <a:srgbClr val="10253F"/>
                </a:solidFill>
                <a:latin typeface="Bitstream Charter"/>
                <a:ea typeface="Bitstream Charter"/>
                <a:cs typeface="Bitstream Charter"/>
              </a:rPr>
              <a:t>GenAI Masterclass</a:t>
            </a:r>
          </a:p>
        </p:txBody>
      </p:sp>
      <p:sp>
        <p:nvSpPr>
          <p:cNvPr id="2" name="">
            <a:extLst xmlns:a="http://schemas.openxmlformats.org/drawingml/2006/main">
              <a:ext uri="{FF2B5EF4-FFF2-40B4-BE49-F238E27FC236}">
                <a16:creationId xmlns:a16="http://schemas.microsoft.com/office/drawing/2014/main" id="{915B1DF6-9EDD-43AF-A29D-AEC645975D0C}"/>
              </a:ext>
            </a:extLst>
          </p:cNvPr>
          <p:cNvSpPr>
            <a:spLocks xmlns:a="http://schemas.openxmlformats.org/drawingml/2006/main" noGrp="1"/>
          </p:cNvSpPr>
          <p:nvPr/>
        </p:nvSpPr>
        <p:spPr>
          <a:xfrm xmlns:a="http://schemas.openxmlformats.org/drawingml/2006/main">
            <a:off x="552450" y="112395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176"/>
                </a:solidFill>
                <a:latin typeface="Bitstream Charter"/>
                <a:ea typeface="Bitstream Charter"/>
                <a:cs typeface="Bitstream Charter"/>
              </a:defRPr>
            </a:pPr>
            <a:r>
              <a:rPr sz="1725" b="0">
                <a:solidFill>
                  <a:srgbClr val="526176"/>
                </a:solidFill>
                <a:latin typeface="Bitstream Charter"/>
                <a:ea typeface="Bitstream Charter"/>
                <a:cs typeface="Bitstream Charter"/>
              </a:rPr>
              <a:t>A practical learning series for fresh graduates joining the organization</a:t>
            </a:r>
          </a:p>
        </p:txBody>
      </p:sp>
      <p:sp>
        <p:nvSpPr>
          <p:cNvPr id="3" name="">
            <a:extLst xmlns:a="http://schemas.openxmlformats.org/drawingml/2006/main">
              <a:ext uri="{FF2B5EF4-FFF2-40B4-BE49-F238E27FC236}">
                <a16:creationId xmlns:a16="http://schemas.microsoft.com/office/drawing/2014/main" id="{A27E0A9A-9539-4AAC-889C-071C98B4BE22}"/>
              </a:ext>
            </a:extLst>
          </p:cNvPr>
          <p:cNvSpPr>
            <a:spLocks xmlns:a="http://schemas.openxmlformats.org/drawingml/2006/main" noGrp="1"/>
          </p:cNvSpPr>
          <p:nvPr/>
        </p:nvSpPr>
        <p:spPr>
          <a:xfrm xmlns:a="http://schemas.openxmlformats.org/drawingml/2006/main">
            <a:off x="552450" y="20002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087F8C"/>
                </a:solidFill>
                <a:latin typeface="Bitstream Charter"/>
                <a:ea typeface="Bitstream Charter"/>
                <a:cs typeface="Bitstream Charter"/>
              </a:defRPr>
            </a:pPr>
            <a:r>
              <a:rPr sz="3450" b="1">
                <a:solidFill>
                  <a:srgbClr val="087F8C"/>
                </a:solidFill>
                <a:latin typeface="Bitstream Charter"/>
                <a:ea typeface="Bitstream Charter"/>
                <a:cs typeface="Bitstream Charter"/>
              </a:rPr>
              <a:t>4 classes × 60 minutes</a:t>
            </a:r>
          </a:p>
        </p:txBody>
      </p:sp>
      <p:sp>
        <p:nvSpPr>
          <p:cNvPr id="4" name="">
            <a:extLst xmlns:a="http://schemas.openxmlformats.org/drawingml/2006/main">
              <a:ext uri="{FF2B5EF4-FFF2-40B4-BE49-F238E27FC236}">
                <a16:creationId xmlns:a16="http://schemas.microsoft.com/office/drawing/2014/main" id="{0E4D30FF-35AF-408D-BAEB-2DC8272A09D1}"/>
              </a:ext>
            </a:extLst>
          </p:cNvPr>
          <p:cNvSpPr>
            <a:spLocks xmlns:a="http://schemas.openxmlformats.org/drawingml/2006/main" noGrp="1"/>
          </p:cNvSpPr>
          <p:nvPr/>
        </p:nvSpPr>
        <p:spPr>
          <a:xfrm xmlns:a="http://schemas.openxmlformats.org/drawingml/2006/main">
            <a:off x="571500" y="2905125"/>
            <a:ext cx="685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C"/>
                </a:solidFill>
                <a:latin typeface="Bitstream Charter"/>
                <a:ea typeface="Bitstream Charter"/>
                <a:cs typeface="Bitstream Charter"/>
              </a:defRPr>
            </a:pPr>
            <a:r>
              <a:rPr sz="2250" b="1">
                <a:solidFill>
                  <a:srgbClr val="087F8C"/>
                </a:solidFill>
                <a:latin typeface="Bitstream Charter"/>
                <a:ea typeface="Bitstream Charter"/>
                <a:cs typeface="Bitstream Charter"/>
              </a:rPr>
              <a:t>01</a:t>
            </a:r>
          </a:p>
        </p:txBody>
      </p:sp>
      <p:sp>
        <p:nvSpPr>
          <p:cNvPr id="5" name="">
            <a:extLst xmlns:a="http://schemas.openxmlformats.org/drawingml/2006/main">
              <a:ext uri="{FF2B5EF4-FFF2-40B4-BE49-F238E27FC236}">
                <a16:creationId xmlns:a16="http://schemas.microsoft.com/office/drawing/2014/main" id="{4361DEA9-B4E6-4B19-8E28-0A82D575EE6B}"/>
              </a:ext>
            </a:extLst>
          </p:cNvPr>
          <p:cNvSpPr>
            <a:spLocks xmlns:a="http://schemas.openxmlformats.org/drawingml/2006/main" noGrp="1"/>
          </p:cNvSpPr>
          <p:nvPr/>
        </p:nvSpPr>
        <p:spPr>
          <a:xfrm xmlns:a="http://schemas.openxmlformats.org/drawingml/2006/main">
            <a:off x="1381125" y="29051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0253F"/>
                </a:solidFill>
                <a:latin typeface="Bitstream Charter"/>
                <a:ea typeface="Bitstream Charter"/>
                <a:cs typeface="Bitstream Charter"/>
              </a:defRPr>
            </a:pPr>
            <a:r>
              <a:rPr sz="2250" b="0">
                <a:solidFill>
                  <a:srgbClr val="10253F"/>
                </a:solidFill>
                <a:latin typeface="Bitstream Charter"/>
                <a:ea typeface="Bitstream Charter"/>
                <a:cs typeface="Bitstream Charter"/>
              </a:rPr>
              <a:t>GenAI foundations &amp; prompt engineering</a:t>
            </a:r>
          </a:p>
        </p:txBody>
      </p:sp>
      <p:sp>
        <p:nvSpPr>
          <p:cNvPr id="6" name="">
            <a:extLst xmlns:a="http://schemas.openxmlformats.org/drawingml/2006/main">
              <a:ext uri="{FF2B5EF4-FFF2-40B4-BE49-F238E27FC236}">
                <a16:creationId xmlns:a16="http://schemas.microsoft.com/office/drawing/2014/main" id="{05ABC8FE-31FD-444D-8190-DB3206599862}"/>
              </a:ext>
            </a:extLst>
          </p:cNvPr>
          <p:cNvSpPr>
            <a:spLocks xmlns:a="http://schemas.openxmlformats.org/drawingml/2006/main" noGrp="1"/>
          </p:cNvSpPr>
          <p:nvPr/>
        </p:nvSpPr>
        <p:spPr>
          <a:xfrm xmlns:a="http://schemas.openxmlformats.org/drawingml/2006/main">
            <a:off x="571500" y="3533775"/>
            <a:ext cx="685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C"/>
                </a:solidFill>
                <a:latin typeface="Bitstream Charter"/>
                <a:ea typeface="Bitstream Charter"/>
                <a:cs typeface="Bitstream Charter"/>
              </a:defRPr>
            </a:pPr>
            <a:r>
              <a:rPr sz="2250" b="1">
                <a:solidFill>
                  <a:srgbClr val="087F8C"/>
                </a:solidFill>
                <a:latin typeface="Bitstream Charter"/>
                <a:ea typeface="Bitstream Charter"/>
                <a:cs typeface="Bitstream Charter"/>
              </a:rPr>
              <a:t>02</a:t>
            </a:r>
          </a:p>
        </p:txBody>
      </p:sp>
      <p:sp>
        <p:nvSpPr>
          <p:cNvPr id="7" name="">
            <a:extLst xmlns:a="http://schemas.openxmlformats.org/drawingml/2006/main">
              <a:ext uri="{FF2B5EF4-FFF2-40B4-BE49-F238E27FC236}">
                <a16:creationId xmlns:a16="http://schemas.microsoft.com/office/drawing/2014/main" id="{486C8F51-54B5-4EB7-A886-5E398E9FE2D9}"/>
              </a:ext>
            </a:extLst>
          </p:cNvPr>
          <p:cNvSpPr>
            <a:spLocks xmlns:a="http://schemas.openxmlformats.org/drawingml/2006/main" noGrp="1"/>
          </p:cNvSpPr>
          <p:nvPr/>
        </p:nvSpPr>
        <p:spPr>
          <a:xfrm xmlns:a="http://schemas.openxmlformats.org/drawingml/2006/main">
            <a:off x="1381125" y="353377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0253F"/>
                </a:solidFill>
                <a:latin typeface="Bitstream Charter"/>
                <a:ea typeface="Bitstream Charter"/>
                <a:cs typeface="Bitstream Charter"/>
              </a:defRPr>
            </a:pPr>
            <a:r>
              <a:rPr sz="2250" b="0">
                <a:solidFill>
                  <a:srgbClr val="10253F"/>
                </a:solidFill>
                <a:latin typeface="Bitstream Charter"/>
                <a:ea typeface="Bitstream Charter"/>
                <a:cs typeface="Bitstream Charter"/>
              </a:rPr>
              <a:t>AI-assisted coding</a:t>
            </a:r>
          </a:p>
        </p:txBody>
      </p:sp>
      <p:sp>
        <p:nvSpPr>
          <p:cNvPr id="8" name="">
            <a:extLst xmlns:a="http://schemas.openxmlformats.org/drawingml/2006/main">
              <a:ext uri="{FF2B5EF4-FFF2-40B4-BE49-F238E27FC236}">
                <a16:creationId xmlns:a16="http://schemas.microsoft.com/office/drawing/2014/main" id="{C7FA94E5-641F-4E8C-92D7-16FCA3DEC43A}"/>
              </a:ext>
            </a:extLst>
          </p:cNvPr>
          <p:cNvSpPr>
            <a:spLocks xmlns:a="http://schemas.openxmlformats.org/drawingml/2006/main" noGrp="1"/>
          </p:cNvSpPr>
          <p:nvPr/>
        </p:nvSpPr>
        <p:spPr>
          <a:xfrm xmlns:a="http://schemas.openxmlformats.org/drawingml/2006/main">
            <a:off x="571500" y="4162425"/>
            <a:ext cx="685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C"/>
                </a:solidFill>
                <a:latin typeface="Bitstream Charter"/>
                <a:ea typeface="Bitstream Charter"/>
                <a:cs typeface="Bitstream Charter"/>
              </a:defRPr>
            </a:pPr>
            <a:r>
              <a:rPr sz="2250" b="1">
                <a:solidFill>
                  <a:srgbClr val="087F8C"/>
                </a:solidFill>
                <a:latin typeface="Bitstream Charter"/>
                <a:ea typeface="Bitstream Charter"/>
                <a:cs typeface="Bitstream Charter"/>
              </a:rPr>
              <a:t>03</a:t>
            </a:r>
          </a:p>
        </p:txBody>
      </p:sp>
      <p:sp>
        <p:nvSpPr>
          <p:cNvPr id="9" name="">
            <a:extLst xmlns:a="http://schemas.openxmlformats.org/drawingml/2006/main">
              <a:ext uri="{FF2B5EF4-FFF2-40B4-BE49-F238E27FC236}">
                <a16:creationId xmlns:a16="http://schemas.microsoft.com/office/drawing/2014/main" id="{DC2911FA-EBE0-4D38-BCD5-251F70699E2A}"/>
              </a:ext>
            </a:extLst>
          </p:cNvPr>
          <p:cNvSpPr>
            <a:spLocks xmlns:a="http://schemas.openxmlformats.org/drawingml/2006/main" noGrp="1"/>
          </p:cNvSpPr>
          <p:nvPr/>
        </p:nvSpPr>
        <p:spPr>
          <a:xfrm xmlns:a="http://schemas.openxmlformats.org/drawingml/2006/main">
            <a:off x="1381125" y="41624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0253F"/>
                </a:solidFill>
                <a:latin typeface="Bitstream Charter"/>
                <a:ea typeface="Bitstream Charter"/>
                <a:cs typeface="Bitstream Charter"/>
              </a:defRPr>
            </a:pPr>
            <a:r>
              <a:rPr sz="2250" b="0">
                <a:solidFill>
                  <a:srgbClr val="10253F"/>
                </a:solidFill>
                <a:latin typeface="Bitstream Charter"/>
                <a:ea typeface="Bitstream Charter"/>
                <a:cs typeface="Bitstream Charter"/>
              </a:rPr>
              <a:t>Context engineering &amp; token economics</a:t>
            </a:r>
          </a:p>
        </p:txBody>
      </p:sp>
      <p:sp>
        <p:nvSpPr>
          <p:cNvPr id="10" name="">
            <a:extLst xmlns:a="http://schemas.openxmlformats.org/drawingml/2006/main">
              <a:ext uri="{FF2B5EF4-FFF2-40B4-BE49-F238E27FC236}">
                <a16:creationId xmlns:a16="http://schemas.microsoft.com/office/drawing/2014/main" id="{2AAD3D2D-7F20-431A-A748-7316A4CEDA4B}"/>
              </a:ext>
            </a:extLst>
          </p:cNvPr>
          <p:cNvSpPr>
            <a:spLocks xmlns:a="http://schemas.openxmlformats.org/drawingml/2006/main" noGrp="1"/>
          </p:cNvSpPr>
          <p:nvPr/>
        </p:nvSpPr>
        <p:spPr>
          <a:xfrm xmlns:a="http://schemas.openxmlformats.org/drawingml/2006/main">
            <a:off x="571500" y="4791075"/>
            <a:ext cx="685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C"/>
                </a:solidFill>
                <a:latin typeface="Bitstream Charter"/>
                <a:ea typeface="Bitstream Charter"/>
                <a:cs typeface="Bitstream Charter"/>
              </a:defRPr>
            </a:pPr>
            <a:r>
              <a:rPr sz="2250" b="1">
                <a:solidFill>
                  <a:srgbClr val="087F8C"/>
                </a:solidFill>
                <a:latin typeface="Bitstream Charter"/>
                <a:ea typeface="Bitstream Charter"/>
                <a:cs typeface="Bitstream Charter"/>
              </a:rPr>
              <a:t>04</a:t>
            </a:r>
          </a:p>
        </p:txBody>
      </p:sp>
      <p:sp>
        <p:nvSpPr>
          <p:cNvPr id="11" name="">
            <a:extLst xmlns:a="http://schemas.openxmlformats.org/drawingml/2006/main">
              <a:ext uri="{FF2B5EF4-FFF2-40B4-BE49-F238E27FC236}">
                <a16:creationId xmlns:a16="http://schemas.microsoft.com/office/drawing/2014/main" id="{8FDCB441-B2CE-4915-B0F5-1F97CE7109D6}"/>
              </a:ext>
            </a:extLst>
          </p:cNvPr>
          <p:cNvSpPr>
            <a:spLocks xmlns:a="http://schemas.openxmlformats.org/drawingml/2006/main" noGrp="1"/>
          </p:cNvSpPr>
          <p:nvPr/>
        </p:nvSpPr>
        <p:spPr>
          <a:xfrm xmlns:a="http://schemas.openxmlformats.org/drawingml/2006/main">
            <a:off x="1381125" y="479107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53F"/>
                </a:solidFill>
                <a:latin typeface="Bitstream Charter"/>
                <a:ea typeface="Bitstream Charter"/>
                <a:cs typeface="Bitstream Charter"/>
              </a:defRPr>
            </a:pPr>
            <a:r>
              <a:rPr sz="2250" b="1">
                <a:solidFill>
                  <a:srgbClr val="10253F"/>
                </a:solidFill>
                <a:latin typeface="Bitstream Charter"/>
                <a:ea typeface="Bitstream Charter"/>
                <a:cs typeface="Bitstream Charter"/>
              </a:rPr>
              <a:t>Responsible AI &amp; Tachyon offerings</a:t>
            </a:r>
          </a:p>
        </p:txBody>
      </p:sp>
      <p:sp>
        <p:nvSpPr>
          <p:cNvPr id="12" name="">
            <a:extLst xmlns:a="http://schemas.openxmlformats.org/drawingml/2006/main">
              <a:ext uri="{FF2B5EF4-FFF2-40B4-BE49-F238E27FC236}">
                <a16:creationId xmlns:a16="http://schemas.microsoft.com/office/drawing/2014/main" id="{339291AE-EFC7-4BFF-B6B5-15ECCCD7F14F}"/>
              </a:ext>
            </a:extLst>
          </p:cNvPr>
          <p:cNvSpPr>
            <a:spLocks xmlns:a="http://schemas.openxmlformats.org/drawingml/2006/main" noGrp="1"/>
          </p:cNvSpPr>
          <p:nvPr/>
        </p:nvSpPr>
        <p:spPr>
          <a:xfrm xmlns:a="http://schemas.openxmlformats.org/drawingml/2006/main">
            <a:off x="55245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176"/>
                </a:solidFill>
                <a:latin typeface="Bitstream Charter"/>
                <a:ea typeface="Bitstream Charter"/>
                <a:cs typeface="Bitstream Charter"/>
              </a:defRPr>
            </a:pPr>
            <a:r>
              <a:rPr sz="1800" b="0">
                <a:solidFill>
                  <a:srgbClr val="526176"/>
                </a:solidFill>
                <a:latin typeface="Bitstream Charter"/>
                <a:ea typeface="Bitstream Charter"/>
                <a:cs typeface="Bitstream Charter"/>
              </a:rPr>
              <a:t>Running example: an employee FAQ assistant</a:t>
            </a:r>
          </a:p>
        </p:txBody>
      </p:sp>
    </p:spTree>
    <p:extLst>
      <p:ext uri="{BB962C8B-B14F-4D97-AF65-F5344CB8AC3E}">
        <p14:creationId xmlns:p14="http://schemas.microsoft.com/office/powerpoint/2010/main" val="1275855343"/>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A50FA4-FE3C-45FB-A3A2-C17487CB1860}"/>
              </a:ext>
            </a:extLst>
          </p:cNvPr>
          <p:cNvSpPr>
            <a:spLocks xmlns:a="http://schemas.openxmlformats.org/drawingml/2006/main" noGrp="1"/>
          </p:cNvSpPr>
          <p:nvPr/>
        </p:nvSpPr>
        <p:spPr>
          <a:xfrm xmlns:a="http://schemas.openxmlformats.org/drawingml/2006/main">
            <a:off x="552450" y="419100"/>
            <a:ext cx="11087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0253F"/>
                </a:solidFill>
                <a:latin typeface="Bitstream Charter"/>
                <a:ea typeface="Bitstream Charter"/>
                <a:cs typeface="Bitstream Charter"/>
              </a:defRPr>
            </a:pPr>
            <a:r>
              <a:rPr sz="3150" b="1">
                <a:solidFill>
                  <a:srgbClr val="10253F"/>
                </a:solidFill>
                <a:latin typeface="Bitstream Charter"/>
                <a:ea typeface="Bitstream Charter"/>
                <a:cs typeface="Bitstream Charter"/>
              </a:rPr>
              <a:t>GenAI foundations &amp; prompt engineering</a:t>
            </a:r>
          </a:p>
        </p:txBody>
      </p:sp>
      <p:sp>
        <p:nvSpPr>
          <p:cNvPr id="2" name="">
            <a:extLst xmlns:a="http://schemas.openxmlformats.org/drawingml/2006/main">
              <a:ext uri="{FF2B5EF4-FFF2-40B4-BE49-F238E27FC236}">
                <a16:creationId xmlns:a16="http://schemas.microsoft.com/office/drawing/2014/main" id="{250F9A8C-D7F6-4CF9-A5F7-A3EF8590E2E9}"/>
              </a:ext>
            </a:extLst>
          </p:cNvPr>
          <p:cNvSpPr>
            <a:spLocks xmlns:a="http://schemas.openxmlformats.org/drawingml/2006/main" noGrp="1"/>
          </p:cNvSpPr>
          <p:nvPr/>
        </p:nvSpPr>
        <p:spPr>
          <a:xfrm xmlns:a="http://schemas.openxmlformats.org/drawingml/2006/main">
            <a:off x="552450" y="112395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176"/>
                </a:solidFill>
                <a:latin typeface="Bitstream Charter"/>
                <a:ea typeface="Bitstream Charter"/>
                <a:cs typeface="Bitstream Charter"/>
              </a:defRPr>
            </a:pPr>
            <a:r>
              <a:rPr sz="1725" b="0">
                <a:solidFill>
                  <a:srgbClr val="526176"/>
                </a:solidFill>
                <a:latin typeface="Bitstream Charter"/>
                <a:ea typeface="Bitstream Charter"/>
                <a:cs typeface="Bitstream Charter"/>
              </a:rPr>
              <a:t>Outcome: write clear prompts and recognize when an answer needs verification.</a:t>
            </a:r>
          </a:p>
        </p:txBody>
      </p:sp>
      <p:sp>
        <p:nvSpPr>
          <p:cNvPr id="3" name="">
            <a:extLst xmlns:a="http://schemas.openxmlformats.org/drawingml/2006/main">
              <a:ext uri="{FF2B5EF4-FFF2-40B4-BE49-F238E27FC236}">
                <a16:creationId xmlns:a16="http://schemas.microsoft.com/office/drawing/2014/main" id="{F64B0F87-1069-4A2E-815F-1813E76A2A72}"/>
              </a:ext>
            </a:extLst>
          </p:cNvPr>
          <p:cNvSpPr>
            <a:spLocks xmlns:a="http://schemas.openxmlformats.org/drawingml/2006/main" noGrp="1"/>
          </p:cNvSpPr>
          <p:nvPr/>
        </p:nvSpPr>
        <p:spPr>
          <a:xfrm xmlns:a="http://schemas.openxmlformats.org/drawingml/2006/main">
            <a:off x="552450" y="17716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F8C"/>
                </a:solidFill>
                <a:latin typeface="Bitstream Charter"/>
                <a:ea typeface="Bitstream Charter"/>
                <a:cs typeface="Bitstream Charter"/>
              </a:defRPr>
            </a:pPr>
            <a:r>
              <a:rPr sz="1575" b="1">
                <a:solidFill>
                  <a:srgbClr val="087F8C"/>
                </a:solidFill>
                <a:latin typeface="Bitstream Charter"/>
                <a:ea typeface="Bitstream Charter"/>
                <a:cs typeface="Bitstream Charter"/>
              </a:rPr>
              <a:t>CLASS 1     60 MINUTES</a:t>
            </a:r>
          </a:p>
        </p:txBody>
      </p:sp>
      <p:graphicFrame>
        <p:nvGraphicFramePr>
          <p:cNvPr id="9" name=""/>
          <p:cNvGraphicFramePr/>
          <p:nvPr/>
        </p:nvGraphicFramePr>
        <p:xfrm>
          <a:off xmlns:a="http://schemas.openxmlformats.org/drawingml/2006/main" x="552450" y="2238375"/>
          <a:ext xmlns:a="http://schemas.openxmlformats.org/drawingml/2006/main" cx="11087100" cy="3600450"/>
        </p:xfrm>
        <a:graphic xmlns:a="http://schemas.openxmlformats.org/drawingml/2006/main">
          <a:graphicData uri="http://schemas.openxmlformats.org/drawingml/2006/table">
            <a:tbl>
              <a:tblPr/>
              <a:tblGrid>
                <a:gridCol w="1123950"/>
                <a:gridCol w="3352800"/>
                <a:gridCol w="6610350"/>
              </a:tblGrid>
              <a:tr h="361950">
                <a:tc>
                  <a:txBody>
                    <a:bodyPr/>
                    <a:lstStyle/>
                    <a:p>
                      <a:r>
                        <a:rPr sz="1350" b="1">
                          <a:solidFill>
                            <a:srgbClr val="FFFFFF"/>
                          </a:solidFill>
                          <a:latin typeface="Bitstream Charter"/>
                          <a:ea typeface="Bitstream Charter"/>
                          <a:cs typeface="Bitstream Charter"/>
                        </a:rPr>
                        <a:t>MINUTES</a:t>
                      </a:r>
                    </a:p>
                  </a:txBody>
                  <a:tcPr marL="114300" marR="114300" marT="76200" marB="76200">
                    <a:solidFill>
                      <a:srgbClr val="10253F"/>
                    </a:solidFill>
                  </a:tcPr>
                </a:tc>
                <a:tc>
                  <a:txBody>
                    <a:bodyPr/>
                    <a:lstStyle/>
                    <a:p>
                      <a:r>
                        <a:rPr sz="1350" b="1">
                          <a:solidFill>
                            <a:srgbClr val="FFFFFF"/>
                          </a:solidFill>
                          <a:latin typeface="Bitstream Charter"/>
                          <a:ea typeface="Bitstream Charter"/>
                          <a:cs typeface="Bitstream Charter"/>
                        </a:rPr>
                        <a:t>TOPIC</a:t>
                      </a:r>
                    </a:p>
                  </a:txBody>
                  <a:tcPr marL="114300" marR="114300" marT="76200" marB="76200">
                    <a:solidFill>
                      <a:srgbClr val="10253F"/>
                    </a:solidFill>
                  </a:tcPr>
                </a:tc>
                <a:tc>
                  <a:txBody>
                    <a:bodyPr/>
                    <a:lstStyle/>
                    <a:p>
                      <a:r>
                        <a:rPr sz="1350" b="1">
                          <a:solidFill>
                            <a:srgbClr val="FFFFFF"/>
                          </a:solidFill>
                          <a:latin typeface="Bitstream Charter"/>
                          <a:ea typeface="Bitstream Charter"/>
                          <a:cs typeface="Bitstream Charter"/>
                        </a:rPr>
                        <a:t>COVERAGE / ACTIVITY</a:t>
                      </a:r>
                    </a:p>
                  </a:txBody>
                  <a:tcPr marL="114300" marR="114300" marT="76200" marB="76200">
                    <a:solidFill>
                      <a:srgbClr val="10253F"/>
                    </a:solidFill>
                  </a:tcPr>
                </a:tc>
              </a:tr>
              <a:tr h="533400">
                <a:tc>
                  <a:txBody>
                    <a:bodyPr/>
                    <a:lstStyle/>
                    <a:p>
                      <a:r>
                        <a:rPr sz="1650" b="1">
                          <a:solidFill>
                            <a:srgbClr val="10253F"/>
                          </a:solidFill>
                          <a:latin typeface="Bitstream Charter"/>
                          <a:ea typeface="Bitstream Charter"/>
                          <a:cs typeface="Bitstream Charter"/>
                        </a:rPr>
                        <a:t>0–10</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GenAI fundamentals</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AI, ML and GenAI. LLMs, prompts, tokens and outputs.</a:t>
                      </a:r>
                    </a:p>
                  </a:txBody>
                  <a:tcPr marL="114300" marR="114300" marT="76200" marB="76200">
                    <a:solidFill>
                      <a:srgbClr val="FFFFFF"/>
                    </a:solidFill>
                  </a:tcPr>
                </a:tc>
              </a:tr>
              <a:tr h="533400">
                <a:tc>
                  <a:txBody>
                    <a:bodyPr/>
                    <a:lstStyle/>
                    <a:p>
                      <a:r>
                        <a:rPr sz="1650" b="1">
                          <a:solidFill>
                            <a:srgbClr val="10253F"/>
                          </a:solidFill>
                          <a:latin typeface="Bitstream Charter"/>
                          <a:ea typeface="Bitstream Charter"/>
                          <a:cs typeface="Bitstream Charter"/>
                        </a:rPr>
                        <a:t>10–20</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Model behavior</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Probabilistic answers, hallucinations and knowledge limits.</a:t>
                      </a:r>
                    </a:p>
                  </a:txBody>
                  <a:tcPr marL="114300" marR="114300" marT="76200" marB="76200">
                    <a:solidFill>
                      <a:srgbClr val="EDF2F7"/>
                    </a:solidFill>
                  </a:tcPr>
                </a:tc>
              </a:tr>
              <a:tr h="533400">
                <a:tc>
                  <a:txBody>
                    <a:bodyPr/>
                    <a:lstStyle/>
                    <a:p>
                      <a:r>
                        <a:rPr sz="1650" b="1">
                          <a:solidFill>
                            <a:srgbClr val="10253F"/>
                          </a:solidFill>
                          <a:latin typeface="Bitstream Charter"/>
                          <a:ea typeface="Bitstream Charter"/>
                          <a:cs typeface="Bitstream Charter"/>
                        </a:rPr>
                        <a:t>20–35</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Effective prompt structure</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Task, context, constraints, examples and output format.</a:t>
                      </a:r>
                    </a:p>
                  </a:txBody>
                  <a:tcPr marL="114300" marR="114300" marT="76200" marB="76200">
                    <a:solidFill>
                      <a:srgbClr val="FFFFFF"/>
                    </a:solidFill>
                  </a:tcPr>
                </a:tc>
              </a:tr>
              <a:tr h="533400">
                <a:tc>
                  <a:txBody>
                    <a:bodyPr/>
                    <a:lstStyle/>
                    <a:p>
                      <a:r>
                        <a:rPr sz="1650" b="1">
                          <a:solidFill>
                            <a:srgbClr val="10253F"/>
                          </a:solidFill>
                          <a:latin typeface="Bitstream Charter"/>
                          <a:ea typeface="Bitstream Charter"/>
                          <a:cs typeface="Bitstream Charter"/>
                        </a:rPr>
                        <a:t>35–45</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Prompting techniques</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Zero-shot, few-shot, task decomposition and clarifying questions.</a:t>
                      </a:r>
                    </a:p>
                  </a:txBody>
                  <a:tcPr marL="114300" marR="114300" marT="76200" marB="76200">
                    <a:solidFill>
                      <a:srgbClr val="EDF2F7"/>
                    </a:solidFill>
                  </a:tcPr>
                </a:tc>
              </a:tr>
              <a:tr h="533400">
                <a:tc>
                  <a:txBody>
                    <a:bodyPr/>
                    <a:lstStyle/>
                    <a:p>
                      <a:r>
                        <a:rPr sz="1650" b="1">
                          <a:solidFill>
                            <a:srgbClr val="10253F"/>
                          </a:solidFill>
                          <a:latin typeface="Bitstream Charter"/>
                          <a:ea typeface="Bitstream Charter"/>
                          <a:cs typeface="Bitstream Charter"/>
                        </a:rPr>
                        <a:t>45–55</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Hands-on prompt exercise</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Ground FAQ answers in supplied policy text. Handle missing facts.</a:t>
                      </a:r>
                    </a:p>
                  </a:txBody>
                  <a:tcPr marL="114300" marR="114300" marT="76200" marB="76200">
                    <a:solidFill>
                      <a:srgbClr val="FFFFFF"/>
                    </a:solidFill>
                  </a:tcPr>
                </a:tc>
              </a:tr>
              <a:tr h="533400">
                <a:tc>
                  <a:txBody>
                    <a:bodyPr/>
                    <a:lstStyle/>
                    <a:p>
                      <a:r>
                        <a:rPr sz="1650" b="1">
                          <a:solidFill>
                            <a:srgbClr val="10253F"/>
                          </a:solidFill>
                          <a:latin typeface="Bitstream Charter"/>
                          <a:ea typeface="Bitstream Charter"/>
                          <a:cs typeface="Bitstream Charter"/>
                        </a:rPr>
                        <a:t>55–60</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Recap and Q&amp;A</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Prompt checklist, common mistakes and learner questions.</a:t>
                      </a:r>
                    </a:p>
                  </a:txBody>
                  <a:tcPr marL="114300" marR="114300" marT="76200" marB="76200">
                    <a:solidFill>
                      <a:srgbClr val="EDF2F7"/>
                    </a:solidFill>
                  </a:tcPr>
                </a:tc>
              </a:tr>
            </a:tbl>
          </a:graphicData>
        </a:graphic>
      </p:graphicFrame>
      <p:sp>
        <p:nvSpPr>
          <p:cNvPr id="5" name="">
            <a:extLst xmlns:a="http://schemas.openxmlformats.org/drawingml/2006/main">
              <a:ext uri="{FF2B5EF4-FFF2-40B4-BE49-F238E27FC236}">
                <a16:creationId xmlns:a16="http://schemas.microsoft.com/office/drawing/2014/main" id="{3D14A3B9-07C5-4BFE-9752-FD83F9868C10}"/>
              </a:ext>
            </a:extLst>
          </p:cNvPr>
          <p:cNvSpPr>
            <a:spLocks xmlns:a="http://schemas.openxmlformats.org/drawingml/2006/main" noGrp="1"/>
          </p:cNvSpPr>
          <p:nvPr/>
        </p:nvSpPr>
        <p:spPr>
          <a:xfrm xmlns:a="http://schemas.openxmlformats.org/drawingml/2006/main">
            <a:off x="552450" y="6067425"/>
            <a:ext cx="11087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C"/>
                </a:solidFill>
                <a:latin typeface="Bitstream Charter"/>
                <a:ea typeface="Bitstream Charter"/>
                <a:cs typeface="Bitstream Charter"/>
              </a:defRPr>
            </a:pPr>
            <a:r>
              <a:rPr sz="1725" b="1">
                <a:solidFill>
                  <a:srgbClr val="087F8C"/>
                </a:solidFill>
                <a:latin typeface="Bitstream Charter"/>
                <a:ea typeface="Bitstream Charter"/>
                <a:cs typeface="Bitstream Charter"/>
              </a:rPr>
              <a:t>Deliverable: a reusable prompt for the employee FAQ assistant.</a:t>
            </a:r>
          </a:p>
        </p:txBody>
      </p:sp>
    </p:spTree>
    <p:extLst>
      <p:ext uri="{BB962C8B-B14F-4D97-AF65-F5344CB8AC3E}">
        <p14:creationId xmlns:p14="http://schemas.microsoft.com/office/powerpoint/2010/main" val="1573534900"/>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E128E8-EF54-4ACC-B4D6-70EB87F46A6B}"/>
              </a:ext>
            </a:extLst>
          </p:cNvPr>
          <p:cNvSpPr>
            <a:spLocks xmlns:a="http://schemas.openxmlformats.org/drawingml/2006/main" noGrp="1"/>
          </p:cNvSpPr>
          <p:nvPr/>
        </p:nvSpPr>
        <p:spPr>
          <a:xfrm xmlns:a="http://schemas.openxmlformats.org/drawingml/2006/main">
            <a:off x="552450" y="419100"/>
            <a:ext cx="11087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0253F"/>
                </a:solidFill>
                <a:latin typeface="Bitstream Charter"/>
                <a:ea typeface="Bitstream Charter"/>
                <a:cs typeface="Bitstream Charter"/>
              </a:defRPr>
            </a:pPr>
            <a:r>
              <a:rPr sz="3150" b="1">
                <a:solidFill>
                  <a:srgbClr val="10253F"/>
                </a:solidFill>
                <a:latin typeface="Bitstream Charter"/>
                <a:ea typeface="Bitstream Charter"/>
                <a:cs typeface="Bitstream Charter"/>
              </a:rPr>
              <a:t>AI-assisted coding</a:t>
            </a:r>
          </a:p>
        </p:txBody>
      </p:sp>
      <p:sp>
        <p:nvSpPr>
          <p:cNvPr id="2" name="">
            <a:extLst xmlns:a="http://schemas.openxmlformats.org/drawingml/2006/main">
              <a:ext uri="{FF2B5EF4-FFF2-40B4-BE49-F238E27FC236}">
                <a16:creationId xmlns:a16="http://schemas.microsoft.com/office/drawing/2014/main" id="{3B1DB471-80D6-482C-9111-F22073159FD6}"/>
              </a:ext>
            </a:extLst>
          </p:cNvPr>
          <p:cNvSpPr>
            <a:spLocks xmlns:a="http://schemas.openxmlformats.org/drawingml/2006/main" noGrp="1"/>
          </p:cNvSpPr>
          <p:nvPr/>
        </p:nvSpPr>
        <p:spPr>
          <a:xfrm xmlns:a="http://schemas.openxmlformats.org/drawingml/2006/main">
            <a:off x="552450" y="112395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176"/>
                </a:solidFill>
                <a:latin typeface="Bitstream Charter"/>
                <a:ea typeface="Bitstream Charter"/>
                <a:cs typeface="Bitstream Charter"/>
              </a:defRPr>
            </a:pPr>
            <a:r>
              <a:rPr sz="1725" b="0">
                <a:solidFill>
                  <a:srgbClr val="526176"/>
                </a:solidFill>
                <a:latin typeface="Bitstream Charter"/>
                <a:ea typeface="Bitstream Charter"/>
                <a:cs typeface="Bitstream Charter"/>
              </a:rPr>
              <a:t>Outcome: use AI across development and verify the code you accept.</a:t>
            </a:r>
          </a:p>
        </p:txBody>
      </p:sp>
      <p:sp>
        <p:nvSpPr>
          <p:cNvPr id="3" name="">
            <a:extLst xmlns:a="http://schemas.openxmlformats.org/drawingml/2006/main">
              <a:ext uri="{FF2B5EF4-FFF2-40B4-BE49-F238E27FC236}">
                <a16:creationId xmlns:a16="http://schemas.microsoft.com/office/drawing/2014/main" id="{613C3ADE-15EE-442F-93CF-81B683985139}"/>
              </a:ext>
            </a:extLst>
          </p:cNvPr>
          <p:cNvSpPr>
            <a:spLocks xmlns:a="http://schemas.openxmlformats.org/drawingml/2006/main" noGrp="1"/>
          </p:cNvSpPr>
          <p:nvPr/>
        </p:nvSpPr>
        <p:spPr>
          <a:xfrm xmlns:a="http://schemas.openxmlformats.org/drawingml/2006/main">
            <a:off x="552450" y="17716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F8C"/>
                </a:solidFill>
                <a:latin typeface="Bitstream Charter"/>
                <a:ea typeface="Bitstream Charter"/>
                <a:cs typeface="Bitstream Charter"/>
              </a:defRPr>
            </a:pPr>
            <a:r>
              <a:rPr sz="1575" b="1">
                <a:solidFill>
                  <a:srgbClr val="087F8C"/>
                </a:solidFill>
                <a:latin typeface="Bitstream Charter"/>
                <a:ea typeface="Bitstream Charter"/>
                <a:cs typeface="Bitstream Charter"/>
              </a:rPr>
              <a:t>CLASS 2     60 MINUTES</a:t>
            </a:r>
          </a:p>
        </p:txBody>
      </p:sp>
      <p:graphicFrame>
        <p:nvGraphicFramePr>
          <p:cNvPr id="9" name=""/>
          <p:cNvGraphicFramePr/>
          <p:nvPr/>
        </p:nvGraphicFramePr>
        <p:xfrm>
          <a:off xmlns:a="http://schemas.openxmlformats.org/drawingml/2006/main" x="552450" y="2238375"/>
          <a:ext xmlns:a="http://schemas.openxmlformats.org/drawingml/2006/main" cx="11087100" cy="3600450"/>
        </p:xfrm>
        <a:graphic xmlns:a="http://schemas.openxmlformats.org/drawingml/2006/main">
          <a:graphicData uri="http://schemas.openxmlformats.org/drawingml/2006/table">
            <a:tbl>
              <a:tblPr/>
              <a:tblGrid>
                <a:gridCol w="1123950"/>
                <a:gridCol w="3352800"/>
                <a:gridCol w="6610350"/>
              </a:tblGrid>
              <a:tr h="361950">
                <a:tc>
                  <a:txBody>
                    <a:bodyPr/>
                    <a:lstStyle/>
                    <a:p>
                      <a:r>
                        <a:rPr sz="1350" b="1">
                          <a:solidFill>
                            <a:srgbClr val="FFFFFF"/>
                          </a:solidFill>
                          <a:latin typeface="Bitstream Charter"/>
                          <a:ea typeface="Bitstream Charter"/>
                          <a:cs typeface="Bitstream Charter"/>
                        </a:rPr>
                        <a:t>MINUTES</a:t>
                      </a:r>
                    </a:p>
                  </a:txBody>
                  <a:tcPr marL="114300" marR="114300" marT="76200" marB="76200">
                    <a:solidFill>
                      <a:srgbClr val="10253F"/>
                    </a:solidFill>
                  </a:tcPr>
                </a:tc>
                <a:tc>
                  <a:txBody>
                    <a:bodyPr/>
                    <a:lstStyle/>
                    <a:p>
                      <a:r>
                        <a:rPr sz="1350" b="1">
                          <a:solidFill>
                            <a:srgbClr val="FFFFFF"/>
                          </a:solidFill>
                          <a:latin typeface="Bitstream Charter"/>
                          <a:ea typeface="Bitstream Charter"/>
                          <a:cs typeface="Bitstream Charter"/>
                        </a:rPr>
                        <a:t>TOPIC</a:t>
                      </a:r>
                    </a:p>
                  </a:txBody>
                  <a:tcPr marL="114300" marR="114300" marT="76200" marB="76200">
                    <a:solidFill>
                      <a:srgbClr val="10253F"/>
                    </a:solidFill>
                  </a:tcPr>
                </a:tc>
                <a:tc>
                  <a:txBody>
                    <a:bodyPr/>
                    <a:lstStyle/>
                    <a:p>
                      <a:r>
                        <a:rPr sz="1350" b="1">
                          <a:solidFill>
                            <a:srgbClr val="FFFFFF"/>
                          </a:solidFill>
                          <a:latin typeface="Bitstream Charter"/>
                          <a:ea typeface="Bitstream Charter"/>
                          <a:cs typeface="Bitstream Charter"/>
                        </a:rPr>
                        <a:t>COVERAGE / ACTIVITY</a:t>
                      </a:r>
                    </a:p>
                  </a:txBody>
                  <a:tcPr marL="114300" marR="114300" marT="76200" marB="76200">
                    <a:solidFill>
                      <a:srgbClr val="10253F"/>
                    </a:solidFill>
                  </a:tcPr>
                </a:tc>
              </a:tr>
              <a:tr h="533400">
                <a:tc>
                  <a:txBody>
                    <a:bodyPr/>
                    <a:lstStyle/>
                    <a:p>
                      <a:r>
                        <a:rPr sz="1650" b="1">
                          <a:solidFill>
                            <a:srgbClr val="10253F"/>
                          </a:solidFill>
                          <a:latin typeface="Bitstream Charter"/>
                          <a:ea typeface="Bitstream Charter"/>
                          <a:cs typeface="Bitstream Charter"/>
                        </a:rPr>
                        <a:t>0–10</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AI in the development lifecycle</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Code explanation, planning, generation, debugging and refactoring.</a:t>
                      </a:r>
                    </a:p>
                  </a:txBody>
                  <a:tcPr marL="114300" marR="114300" marT="76200" marB="76200">
                    <a:solidFill>
                      <a:srgbClr val="FFFFFF"/>
                    </a:solidFill>
                  </a:tcPr>
                </a:tc>
              </a:tr>
              <a:tr h="533400">
                <a:tc>
                  <a:txBody>
                    <a:bodyPr/>
                    <a:lstStyle/>
                    <a:p>
                      <a:r>
                        <a:rPr sz="1650" b="1">
                          <a:solidFill>
                            <a:srgbClr val="10253F"/>
                          </a:solidFill>
                          <a:latin typeface="Bitstream Charter"/>
                          <a:ea typeface="Bitstream Charter"/>
                          <a:cs typeface="Bitstream Charter"/>
                        </a:rPr>
                        <a:t>10–20</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Briefing a coding assistant</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Requirements, acceptance criteria, stack and repository context.</a:t>
                      </a:r>
                    </a:p>
                  </a:txBody>
                  <a:tcPr marL="114300" marR="114300" marT="76200" marB="76200">
                    <a:solidFill>
                      <a:srgbClr val="EDF2F7"/>
                    </a:solidFill>
                  </a:tcPr>
                </a:tc>
              </a:tr>
              <a:tr h="533400">
                <a:tc>
                  <a:txBody>
                    <a:bodyPr/>
                    <a:lstStyle/>
                    <a:p>
                      <a:r>
                        <a:rPr sz="1650" b="1">
                          <a:solidFill>
                            <a:srgbClr val="10253F"/>
                          </a:solidFill>
                          <a:latin typeface="Bitstream Charter"/>
                          <a:ea typeface="Bitstream Charter"/>
                          <a:cs typeface="Bitstream Charter"/>
                        </a:rPr>
                        <a:t>20–35</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Live feature-building demo</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Build an FAQ API from a starter project, then run the code.</a:t>
                      </a:r>
                    </a:p>
                  </a:txBody>
                  <a:tcPr marL="114300" marR="114300" marT="76200" marB="76200">
                    <a:solidFill>
                      <a:srgbClr val="FFFFFF"/>
                    </a:solidFill>
                  </a:tcPr>
                </a:tc>
              </a:tr>
              <a:tr h="533400">
                <a:tc>
                  <a:txBody>
                    <a:bodyPr/>
                    <a:lstStyle/>
                    <a:p>
                      <a:r>
                        <a:rPr sz="1650" b="1">
                          <a:solidFill>
                            <a:srgbClr val="10253F"/>
                          </a:solidFill>
                          <a:latin typeface="Bitstream Charter"/>
                          <a:ea typeface="Bitstream Charter"/>
                          <a:cs typeface="Bitstream Charter"/>
                        </a:rPr>
                        <a:t>35–45</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Debugging and testing</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Use logs, test edge cases and validate requirements.</a:t>
                      </a:r>
                    </a:p>
                  </a:txBody>
                  <a:tcPr marL="114300" marR="114300" marT="76200" marB="76200">
                    <a:solidFill>
                      <a:srgbClr val="EDF2F7"/>
                    </a:solidFill>
                  </a:tcPr>
                </a:tc>
              </a:tr>
              <a:tr h="533400">
                <a:tc>
                  <a:txBody>
                    <a:bodyPr/>
                    <a:lstStyle/>
                    <a:p>
                      <a:r>
                        <a:rPr sz="1650" b="1">
                          <a:solidFill>
                            <a:srgbClr val="10253F"/>
                          </a:solidFill>
                          <a:latin typeface="Bitstream Charter"/>
                          <a:ea typeface="Bitstream Charter"/>
                          <a:cs typeface="Bitstream Charter"/>
                        </a:rPr>
                        <a:t>45–55</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Hands-on code review</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Find a planted bug or unsafe pattern, fix it and verify the diff.</a:t>
                      </a:r>
                    </a:p>
                  </a:txBody>
                  <a:tcPr marL="114300" marR="114300" marT="76200" marB="76200">
                    <a:solidFill>
                      <a:srgbClr val="FFFFFF"/>
                    </a:solidFill>
                  </a:tcPr>
                </a:tc>
              </a:tr>
              <a:tr h="533400">
                <a:tc>
                  <a:txBody>
                    <a:bodyPr/>
                    <a:lstStyle/>
                    <a:p>
                      <a:r>
                        <a:rPr sz="1650" b="1">
                          <a:solidFill>
                            <a:srgbClr val="10253F"/>
                          </a:solidFill>
                          <a:latin typeface="Bitstream Charter"/>
                          <a:ea typeface="Bitstream Charter"/>
                          <a:cs typeface="Bitstream Charter"/>
                        </a:rPr>
                        <a:t>55–60</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Accountability and Q&amp;A</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Review code, check dependencies, protect secrets and follow release gates.</a:t>
                      </a:r>
                    </a:p>
                  </a:txBody>
                  <a:tcPr marL="114300" marR="114300" marT="76200" marB="76200">
                    <a:solidFill>
                      <a:srgbClr val="EDF2F7"/>
                    </a:solidFill>
                  </a:tcPr>
                </a:tc>
              </a:tr>
            </a:tbl>
          </a:graphicData>
        </a:graphic>
      </p:graphicFrame>
      <p:sp>
        <p:nvSpPr>
          <p:cNvPr id="5" name="">
            <a:extLst xmlns:a="http://schemas.openxmlformats.org/drawingml/2006/main">
              <a:ext uri="{FF2B5EF4-FFF2-40B4-BE49-F238E27FC236}">
                <a16:creationId xmlns:a16="http://schemas.microsoft.com/office/drawing/2014/main" id="{7EB97513-736A-4435-92A0-B0F99CB7858B}"/>
              </a:ext>
            </a:extLst>
          </p:cNvPr>
          <p:cNvSpPr>
            <a:spLocks xmlns:a="http://schemas.openxmlformats.org/drawingml/2006/main" noGrp="1"/>
          </p:cNvSpPr>
          <p:nvPr/>
        </p:nvSpPr>
        <p:spPr>
          <a:xfrm xmlns:a="http://schemas.openxmlformats.org/drawingml/2006/main">
            <a:off x="552450" y="6067425"/>
            <a:ext cx="11087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C"/>
                </a:solidFill>
                <a:latin typeface="Bitstream Charter"/>
                <a:ea typeface="Bitstream Charter"/>
                <a:cs typeface="Bitstream Charter"/>
              </a:defRPr>
            </a:pPr>
            <a:r>
              <a:rPr sz="1725" b="1">
                <a:solidFill>
                  <a:srgbClr val="087F8C"/>
                </a:solidFill>
                <a:latin typeface="Bitstream Charter"/>
                <a:ea typeface="Bitstream Charter"/>
                <a:cs typeface="Bitstream Charter"/>
              </a:rPr>
              <a:t>Deliverable: a reviewed FAQ API change with meaningful tests.</a:t>
            </a:r>
          </a:p>
        </p:txBody>
      </p:sp>
    </p:spTree>
    <p:extLst>
      <p:ext uri="{BB962C8B-B14F-4D97-AF65-F5344CB8AC3E}">
        <p14:creationId xmlns:p14="http://schemas.microsoft.com/office/powerpoint/2010/main" val="1565304216"/>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8EAF65-5DA3-450F-A4BE-D1ECD147F96D}"/>
              </a:ext>
            </a:extLst>
          </p:cNvPr>
          <p:cNvSpPr>
            <a:spLocks xmlns:a="http://schemas.openxmlformats.org/drawingml/2006/main" noGrp="1"/>
          </p:cNvSpPr>
          <p:nvPr/>
        </p:nvSpPr>
        <p:spPr>
          <a:xfrm xmlns:a="http://schemas.openxmlformats.org/drawingml/2006/main">
            <a:off x="552450" y="419100"/>
            <a:ext cx="11087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0253F"/>
                </a:solidFill>
                <a:latin typeface="Bitstream Charter"/>
                <a:ea typeface="Bitstream Charter"/>
                <a:cs typeface="Bitstream Charter"/>
              </a:defRPr>
            </a:pPr>
            <a:r>
              <a:rPr sz="3150" b="1">
                <a:solidFill>
                  <a:srgbClr val="10253F"/>
                </a:solidFill>
                <a:latin typeface="Bitstream Charter"/>
                <a:ea typeface="Bitstream Charter"/>
                <a:cs typeface="Bitstream Charter"/>
              </a:rPr>
              <a:t>Context engineering &amp; token economics</a:t>
            </a:r>
          </a:p>
        </p:txBody>
      </p:sp>
      <p:sp>
        <p:nvSpPr>
          <p:cNvPr id="2" name="">
            <a:extLst xmlns:a="http://schemas.openxmlformats.org/drawingml/2006/main">
              <a:ext uri="{FF2B5EF4-FFF2-40B4-BE49-F238E27FC236}">
                <a16:creationId xmlns:a16="http://schemas.microsoft.com/office/drawing/2014/main" id="{55E61D61-3448-4C03-8B28-6C7DD848F828}"/>
              </a:ext>
            </a:extLst>
          </p:cNvPr>
          <p:cNvSpPr>
            <a:spLocks xmlns:a="http://schemas.openxmlformats.org/drawingml/2006/main" noGrp="1"/>
          </p:cNvSpPr>
          <p:nvPr/>
        </p:nvSpPr>
        <p:spPr>
          <a:xfrm xmlns:a="http://schemas.openxmlformats.org/drawingml/2006/main">
            <a:off x="552450" y="112395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176"/>
                </a:solidFill>
                <a:latin typeface="Bitstream Charter"/>
                <a:ea typeface="Bitstream Charter"/>
                <a:cs typeface="Bitstream Charter"/>
              </a:defRPr>
            </a:pPr>
            <a:r>
              <a:rPr sz="1725" b="0">
                <a:solidFill>
                  <a:srgbClr val="526176"/>
                </a:solidFill>
                <a:latin typeface="Bitstream Charter"/>
                <a:ea typeface="Bitstream Charter"/>
                <a:cs typeface="Bitstream Charter"/>
              </a:rPr>
              <a:t>Outcome: improve grounding while balancing answer quality, cost and latency.</a:t>
            </a:r>
          </a:p>
        </p:txBody>
      </p:sp>
      <p:sp>
        <p:nvSpPr>
          <p:cNvPr id="3" name="">
            <a:extLst xmlns:a="http://schemas.openxmlformats.org/drawingml/2006/main">
              <a:ext uri="{FF2B5EF4-FFF2-40B4-BE49-F238E27FC236}">
                <a16:creationId xmlns:a16="http://schemas.microsoft.com/office/drawing/2014/main" id="{2780506F-F8CA-493B-A3E1-273226DFFF4E}"/>
              </a:ext>
            </a:extLst>
          </p:cNvPr>
          <p:cNvSpPr>
            <a:spLocks xmlns:a="http://schemas.openxmlformats.org/drawingml/2006/main" noGrp="1"/>
          </p:cNvSpPr>
          <p:nvPr/>
        </p:nvSpPr>
        <p:spPr>
          <a:xfrm xmlns:a="http://schemas.openxmlformats.org/drawingml/2006/main">
            <a:off x="552450" y="17716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F8C"/>
                </a:solidFill>
                <a:latin typeface="Bitstream Charter"/>
                <a:ea typeface="Bitstream Charter"/>
                <a:cs typeface="Bitstream Charter"/>
              </a:defRPr>
            </a:pPr>
            <a:r>
              <a:rPr sz="1575" b="1">
                <a:solidFill>
                  <a:srgbClr val="087F8C"/>
                </a:solidFill>
                <a:latin typeface="Bitstream Charter"/>
                <a:ea typeface="Bitstream Charter"/>
                <a:cs typeface="Bitstream Charter"/>
              </a:rPr>
              <a:t>CLASS 3     60 MINUTES</a:t>
            </a:r>
          </a:p>
        </p:txBody>
      </p:sp>
      <p:graphicFrame>
        <p:nvGraphicFramePr>
          <p:cNvPr id="9" name=""/>
          <p:cNvGraphicFramePr/>
          <p:nvPr/>
        </p:nvGraphicFramePr>
        <p:xfrm>
          <a:off xmlns:a="http://schemas.openxmlformats.org/drawingml/2006/main" x="552450" y="2238375"/>
          <a:ext xmlns:a="http://schemas.openxmlformats.org/drawingml/2006/main" cx="11087100" cy="3600450"/>
        </p:xfrm>
        <a:graphic xmlns:a="http://schemas.openxmlformats.org/drawingml/2006/main">
          <a:graphicData uri="http://schemas.openxmlformats.org/drawingml/2006/table">
            <a:tbl>
              <a:tblPr/>
              <a:tblGrid>
                <a:gridCol w="1123950"/>
                <a:gridCol w="3352800"/>
                <a:gridCol w="6610350"/>
              </a:tblGrid>
              <a:tr h="361950">
                <a:tc>
                  <a:txBody>
                    <a:bodyPr/>
                    <a:lstStyle/>
                    <a:p>
                      <a:r>
                        <a:rPr sz="1350" b="1">
                          <a:solidFill>
                            <a:srgbClr val="FFFFFF"/>
                          </a:solidFill>
                          <a:latin typeface="Bitstream Charter"/>
                          <a:ea typeface="Bitstream Charter"/>
                          <a:cs typeface="Bitstream Charter"/>
                        </a:rPr>
                        <a:t>MINUTES</a:t>
                      </a:r>
                    </a:p>
                  </a:txBody>
                  <a:tcPr marL="114300" marR="114300" marT="76200" marB="76200">
                    <a:solidFill>
                      <a:srgbClr val="10253F"/>
                    </a:solidFill>
                  </a:tcPr>
                </a:tc>
                <a:tc>
                  <a:txBody>
                    <a:bodyPr/>
                    <a:lstStyle/>
                    <a:p>
                      <a:r>
                        <a:rPr sz="1350" b="1">
                          <a:solidFill>
                            <a:srgbClr val="FFFFFF"/>
                          </a:solidFill>
                          <a:latin typeface="Bitstream Charter"/>
                          <a:ea typeface="Bitstream Charter"/>
                          <a:cs typeface="Bitstream Charter"/>
                        </a:rPr>
                        <a:t>TOPIC</a:t>
                      </a:r>
                    </a:p>
                  </a:txBody>
                  <a:tcPr marL="114300" marR="114300" marT="76200" marB="76200">
                    <a:solidFill>
                      <a:srgbClr val="10253F"/>
                    </a:solidFill>
                  </a:tcPr>
                </a:tc>
                <a:tc>
                  <a:txBody>
                    <a:bodyPr/>
                    <a:lstStyle/>
                    <a:p>
                      <a:r>
                        <a:rPr sz="1350" b="1">
                          <a:solidFill>
                            <a:srgbClr val="FFFFFF"/>
                          </a:solidFill>
                          <a:latin typeface="Bitstream Charter"/>
                          <a:ea typeface="Bitstream Charter"/>
                          <a:cs typeface="Bitstream Charter"/>
                        </a:rPr>
                        <a:t>COVERAGE / ACTIVITY</a:t>
                      </a:r>
                    </a:p>
                  </a:txBody>
                  <a:tcPr marL="114300" marR="114300" marT="76200" marB="76200">
                    <a:solidFill>
                      <a:srgbClr val="10253F"/>
                    </a:solidFill>
                  </a:tcPr>
                </a:tc>
              </a:tr>
              <a:tr h="533400">
                <a:tc>
                  <a:txBody>
                    <a:bodyPr/>
                    <a:lstStyle/>
                    <a:p>
                      <a:r>
                        <a:rPr sz="1650" b="1">
                          <a:solidFill>
                            <a:srgbClr val="10253F"/>
                          </a:solidFill>
                          <a:latin typeface="Bitstream Charter"/>
                          <a:ea typeface="Bitstream Charter"/>
                          <a:cs typeface="Bitstream Charter"/>
                        </a:rPr>
                        <a:t>0–10</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Prompts and context</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Instructions versus the information available to the model.</a:t>
                      </a:r>
                    </a:p>
                  </a:txBody>
                  <a:tcPr marL="114300" marR="114300" marT="76200" marB="76200">
                    <a:solidFill>
                      <a:srgbClr val="FFFFFF"/>
                    </a:solidFill>
                  </a:tcPr>
                </a:tc>
              </a:tr>
              <a:tr h="533400">
                <a:tc>
                  <a:txBody>
                    <a:bodyPr/>
                    <a:lstStyle/>
                    <a:p>
                      <a:r>
                        <a:rPr sz="1650" b="1">
                          <a:solidFill>
                            <a:srgbClr val="10253F"/>
                          </a:solidFill>
                          <a:latin typeface="Bitstream Charter"/>
                          <a:ea typeface="Bitstream Charter"/>
                          <a:cs typeface="Bitstream Charter"/>
                        </a:rPr>
                        <a:t>10–25</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Designing model context</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System instructions, history, documents, tools, memory and limits.</a:t>
                      </a:r>
                    </a:p>
                  </a:txBody>
                  <a:tcPr marL="114300" marR="114300" marT="76200" marB="76200">
                    <a:solidFill>
                      <a:srgbClr val="EDF2F7"/>
                    </a:solidFill>
                  </a:tcPr>
                </a:tc>
              </a:tr>
              <a:tr h="533400">
                <a:tc>
                  <a:txBody>
                    <a:bodyPr/>
                    <a:lstStyle/>
                    <a:p>
                      <a:r>
                        <a:rPr sz="1650" b="1">
                          <a:solidFill>
                            <a:srgbClr val="10253F"/>
                          </a:solidFill>
                          <a:latin typeface="Bitstream Charter"/>
                          <a:ea typeface="Bitstream Charter"/>
                          <a:cs typeface="Bitstream Charter"/>
                        </a:rPr>
                        <a:t>25–35</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Enterprise grounding with RAG</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Retrieval, citations, freshness, permissions and missing evidence.</a:t>
                      </a:r>
                    </a:p>
                  </a:txBody>
                  <a:tcPr marL="114300" marR="114300" marT="76200" marB="76200">
                    <a:solidFill>
                      <a:srgbClr val="FFFFFF"/>
                    </a:solidFill>
                  </a:tcPr>
                </a:tc>
              </a:tr>
              <a:tr h="533400">
                <a:tc>
                  <a:txBody>
                    <a:bodyPr/>
                    <a:lstStyle/>
                    <a:p>
                      <a:r>
                        <a:rPr sz="1650" b="1">
                          <a:solidFill>
                            <a:srgbClr val="10253F"/>
                          </a:solidFill>
                          <a:latin typeface="Bitstream Charter"/>
                          <a:ea typeface="Bitstream Charter"/>
                          <a:cs typeface="Bitstream Charter"/>
                        </a:rPr>
                        <a:t>35–45</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Understanding token cost</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Input/output tokens, repeated history, tool calls and retries.</a:t>
                      </a:r>
                    </a:p>
                  </a:txBody>
                  <a:tcPr marL="114300" marR="114300" marT="76200" marB="76200">
                    <a:solidFill>
                      <a:srgbClr val="EDF2F7"/>
                    </a:solidFill>
                  </a:tcPr>
                </a:tc>
              </a:tr>
              <a:tr h="533400">
                <a:tc>
                  <a:txBody>
                    <a:bodyPr/>
                    <a:lstStyle/>
                    <a:p>
                      <a:r>
                        <a:rPr sz="1650" b="1">
                          <a:solidFill>
                            <a:srgbClr val="10253F"/>
                          </a:solidFill>
                          <a:latin typeface="Bitstream Charter"/>
                          <a:ea typeface="Bitstream Charter"/>
                          <a:cs typeface="Bitstream Charter"/>
                        </a:rPr>
                        <a:t>45–55</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Hands-on optimization</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Use relevant excerpts. Compare quality, tokens and latency.</a:t>
                      </a:r>
                    </a:p>
                  </a:txBody>
                  <a:tcPr marL="114300" marR="114300" marT="76200" marB="76200">
                    <a:solidFill>
                      <a:srgbClr val="FFFFFF"/>
                    </a:solidFill>
                  </a:tcPr>
                </a:tc>
              </a:tr>
              <a:tr h="533400">
                <a:tc>
                  <a:txBody>
                    <a:bodyPr/>
                    <a:lstStyle/>
                    <a:p>
                      <a:r>
                        <a:rPr sz="1650" b="1">
                          <a:solidFill>
                            <a:srgbClr val="10253F"/>
                          </a:solidFill>
                          <a:latin typeface="Bitstream Charter"/>
                          <a:ea typeface="Bitstream Charter"/>
                          <a:cs typeface="Bitstream Charter"/>
                        </a:rPr>
                        <a:t>55–60</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Trade-offs and Q&amp;A</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Model selection, caching, summarization and context budgets.</a:t>
                      </a:r>
                    </a:p>
                  </a:txBody>
                  <a:tcPr marL="114300" marR="114300" marT="76200" marB="76200">
                    <a:solidFill>
                      <a:srgbClr val="EDF2F7"/>
                    </a:solidFill>
                  </a:tcPr>
                </a:tc>
              </a:tr>
            </a:tbl>
          </a:graphicData>
        </a:graphic>
      </p:graphicFrame>
      <p:sp>
        <p:nvSpPr>
          <p:cNvPr id="5" name="">
            <a:extLst xmlns:a="http://schemas.openxmlformats.org/drawingml/2006/main">
              <a:ext uri="{FF2B5EF4-FFF2-40B4-BE49-F238E27FC236}">
                <a16:creationId xmlns:a16="http://schemas.microsoft.com/office/drawing/2014/main" id="{D8906183-38D3-4D3D-8702-F87F049686C3}"/>
              </a:ext>
            </a:extLst>
          </p:cNvPr>
          <p:cNvSpPr>
            <a:spLocks xmlns:a="http://schemas.openxmlformats.org/drawingml/2006/main" noGrp="1"/>
          </p:cNvSpPr>
          <p:nvPr/>
        </p:nvSpPr>
        <p:spPr>
          <a:xfrm xmlns:a="http://schemas.openxmlformats.org/drawingml/2006/main">
            <a:off x="552450" y="6067425"/>
            <a:ext cx="11087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C"/>
                </a:solidFill>
                <a:latin typeface="Bitstream Charter"/>
                <a:ea typeface="Bitstream Charter"/>
                <a:cs typeface="Bitstream Charter"/>
              </a:defRPr>
            </a:pPr>
            <a:r>
              <a:rPr sz="1725" b="1">
                <a:solidFill>
                  <a:srgbClr val="087F8C"/>
                </a:solidFill>
                <a:latin typeface="Bitstream Charter"/>
                <a:ea typeface="Bitstream Charter"/>
                <a:cs typeface="Bitstream Charter"/>
              </a:rPr>
              <a:t>Deliverable: a smaller, grounded context and an illustrative request-cost estimate.</a:t>
            </a:r>
          </a:p>
        </p:txBody>
      </p:sp>
    </p:spTree>
    <p:extLst>
      <p:ext uri="{BB962C8B-B14F-4D97-AF65-F5344CB8AC3E}">
        <p14:creationId xmlns:p14="http://schemas.microsoft.com/office/powerpoint/2010/main" val="1751908049"/>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2AD5F7-009C-46EC-AE81-58412199E5DE}"/>
              </a:ext>
            </a:extLst>
          </p:cNvPr>
          <p:cNvSpPr>
            <a:spLocks xmlns:a="http://schemas.openxmlformats.org/drawingml/2006/main" noGrp="1"/>
          </p:cNvSpPr>
          <p:nvPr/>
        </p:nvSpPr>
        <p:spPr>
          <a:xfrm xmlns:a="http://schemas.openxmlformats.org/drawingml/2006/main">
            <a:off x="552450" y="419100"/>
            <a:ext cx="11087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0253F"/>
                </a:solidFill>
                <a:latin typeface="Bitstream Charter"/>
                <a:ea typeface="Bitstream Charter"/>
                <a:cs typeface="Bitstream Charter"/>
              </a:defRPr>
            </a:pPr>
            <a:r>
              <a:rPr sz="3150" b="1">
                <a:solidFill>
                  <a:srgbClr val="10253F"/>
                </a:solidFill>
                <a:latin typeface="Bitstream Charter"/>
                <a:ea typeface="Bitstream Charter"/>
                <a:cs typeface="Bitstream Charter"/>
              </a:rPr>
              <a:t>Responsible AI &amp; Tachyon offerings</a:t>
            </a:r>
          </a:p>
        </p:txBody>
      </p:sp>
      <p:sp>
        <p:nvSpPr>
          <p:cNvPr id="2" name="">
            <a:extLst xmlns:a="http://schemas.openxmlformats.org/drawingml/2006/main">
              <a:ext uri="{FF2B5EF4-FFF2-40B4-BE49-F238E27FC236}">
                <a16:creationId xmlns:a16="http://schemas.microsoft.com/office/drawing/2014/main" id="{E384954F-CA8A-498D-BCC6-3634DD9DC53F}"/>
              </a:ext>
            </a:extLst>
          </p:cNvPr>
          <p:cNvSpPr>
            <a:spLocks xmlns:a="http://schemas.openxmlformats.org/drawingml/2006/main" noGrp="1"/>
          </p:cNvSpPr>
          <p:nvPr/>
        </p:nvSpPr>
        <p:spPr>
          <a:xfrm xmlns:a="http://schemas.openxmlformats.org/drawingml/2006/main">
            <a:off x="552450" y="112395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176"/>
                </a:solidFill>
                <a:latin typeface="Bitstream Charter"/>
                <a:ea typeface="Bitstream Charter"/>
                <a:cs typeface="Bitstream Charter"/>
              </a:defRPr>
            </a:pPr>
            <a:r>
              <a:rPr sz="1725" b="0">
                <a:solidFill>
                  <a:srgbClr val="526176"/>
                </a:solidFill>
                <a:latin typeface="Bitstream Charter"/>
                <a:ea typeface="Bitstream Charter"/>
                <a:cs typeface="Bitstream Charter"/>
              </a:rPr>
              <a:t>Outcome: apply responsible-use principles and start with the enterprise platform.</a:t>
            </a:r>
          </a:p>
        </p:txBody>
      </p:sp>
      <p:sp>
        <p:nvSpPr>
          <p:cNvPr id="3" name="">
            <a:extLst xmlns:a="http://schemas.openxmlformats.org/drawingml/2006/main">
              <a:ext uri="{FF2B5EF4-FFF2-40B4-BE49-F238E27FC236}">
                <a16:creationId xmlns:a16="http://schemas.microsoft.com/office/drawing/2014/main" id="{569EB3C0-968E-4F0B-808B-18C3962F0CD6}"/>
              </a:ext>
            </a:extLst>
          </p:cNvPr>
          <p:cNvSpPr>
            <a:spLocks xmlns:a="http://schemas.openxmlformats.org/drawingml/2006/main" noGrp="1"/>
          </p:cNvSpPr>
          <p:nvPr/>
        </p:nvSpPr>
        <p:spPr>
          <a:xfrm xmlns:a="http://schemas.openxmlformats.org/drawingml/2006/main">
            <a:off x="552450" y="17716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F8C"/>
                </a:solidFill>
                <a:latin typeface="Bitstream Charter"/>
                <a:ea typeface="Bitstream Charter"/>
                <a:cs typeface="Bitstream Charter"/>
              </a:defRPr>
            </a:pPr>
            <a:r>
              <a:rPr sz="1575" b="1">
                <a:solidFill>
                  <a:srgbClr val="087F8C"/>
                </a:solidFill>
                <a:latin typeface="Bitstream Charter"/>
                <a:ea typeface="Bitstream Charter"/>
                <a:cs typeface="Bitstream Charter"/>
              </a:rPr>
              <a:t>CLASS 4     60 MINUTES</a:t>
            </a:r>
          </a:p>
        </p:txBody>
      </p:sp>
      <p:graphicFrame>
        <p:nvGraphicFramePr>
          <p:cNvPr id="9" name=""/>
          <p:cNvGraphicFramePr/>
          <p:nvPr/>
        </p:nvGraphicFramePr>
        <p:xfrm>
          <a:off xmlns:a="http://schemas.openxmlformats.org/drawingml/2006/main" x="552450" y="2238375"/>
          <a:ext xmlns:a="http://schemas.openxmlformats.org/drawingml/2006/main" cx="11087100" cy="3600450"/>
        </p:xfrm>
        <a:graphic xmlns:a="http://schemas.openxmlformats.org/drawingml/2006/main">
          <a:graphicData uri="http://schemas.openxmlformats.org/drawingml/2006/table">
            <a:tbl>
              <a:tblPr/>
              <a:tblGrid>
                <a:gridCol w="1123950"/>
                <a:gridCol w="3352800"/>
                <a:gridCol w="6610350"/>
              </a:tblGrid>
              <a:tr h="361950">
                <a:tc>
                  <a:txBody>
                    <a:bodyPr/>
                    <a:lstStyle/>
                    <a:p>
                      <a:r>
                        <a:rPr sz="1350" b="1">
                          <a:solidFill>
                            <a:srgbClr val="FFFFFF"/>
                          </a:solidFill>
                          <a:latin typeface="Bitstream Charter"/>
                          <a:ea typeface="Bitstream Charter"/>
                          <a:cs typeface="Bitstream Charter"/>
                        </a:rPr>
                        <a:t>MINUTES</a:t>
                      </a:r>
                    </a:p>
                  </a:txBody>
                  <a:tcPr marL="114300" marR="114300" marT="76200" marB="76200">
                    <a:solidFill>
                      <a:srgbClr val="10253F"/>
                    </a:solidFill>
                  </a:tcPr>
                </a:tc>
                <a:tc>
                  <a:txBody>
                    <a:bodyPr/>
                    <a:lstStyle/>
                    <a:p>
                      <a:r>
                        <a:rPr sz="1350" b="1">
                          <a:solidFill>
                            <a:srgbClr val="FFFFFF"/>
                          </a:solidFill>
                          <a:latin typeface="Bitstream Charter"/>
                          <a:ea typeface="Bitstream Charter"/>
                          <a:cs typeface="Bitstream Charter"/>
                        </a:rPr>
                        <a:t>TOPIC</a:t>
                      </a:r>
                    </a:p>
                  </a:txBody>
                  <a:tcPr marL="114300" marR="114300" marT="76200" marB="76200">
                    <a:solidFill>
                      <a:srgbClr val="10253F"/>
                    </a:solidFill>
                  </a:tcPr>
                </a:tc>
                <a:tc>
                  <a:txBody>
                    <a:bodyPr/>
                    <a:lstStyle/>
                    <a:p>
                      <a:r>
                        <a:rPr sz="1350" b="1">
                          <a:solidFill>
                            <a:srgbClr val="FFFFFF"/>
                          </a:solidFill>
                          <a:latin typeface="Bitstream Charter"/>
                          <a:ea typeface="Bitstream Charter"/>
                          <a:cs typeface="Bitstream Charter"/>
                        </a:rPr>
                        <a:t>COVERAGE / ACTIVITY</a:t>
                      </a:r>
                    </a:p>
                  </a:txBody>
                  <a:tcPr marL="114300" marR="114300" marT="76200" marB="76200">
                    <a:solidFill>
                      <a:srgbClr val="10253F"/>
                    </a:solidFill>
                  </a:tcPr>
                </a:tc>
              </a:tr>
              <a:tr h="533400">
                <a:tc>
                  <a:txBody>
                    <a:bodyPr/>
                    <a:lstStyle/>
                    <a:p>
                      <a:r>
                        <a:rPr sz="1650" b="1">
                          <a:solidFill>
                            <a:srgbClr val="10253F"/>
                          </a:solidFill>
                          <a:latin typeface="Bitstream Charter"/>
                          <a:ea typeface="Bitstream Charter"/>
                          <a:cs typeface="Bitstream Charter"/>
                        </a:rPr>
                        <a:t>0–10</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AI ethics and accountability</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Bias, fairness, transparency, IP, accessibility and human responsibility.</a:t>
                      </a:r>
                    </a:p>
                  </a:txBody>
                  <a:tcPr marL="114300" marR="114300" marT="76200" marB="76200">
                    <a:solidFill>
                      <a:srgbClr val="FFFFFF"/>
                    </a:solidFill>
                  </a:tcPr>
                </a:tc>
              </a:tr>
              <a:tr h="533400">
                <a:tc>
                  <a:txBody>
                    <a:bodyPr/>
                    <a:lstStyle/>
                    <a:p>
                      <a:r>
                        <a:rPr sz="1650" b="1">
                          <a:solidFill>
                            <a:srgbClr val="10253F"/>
                          </a:solidFill>
                          <a:latin typeface="Bitstream Charter"/>
                          <a:ea typeface="Bitstream Charter"/>
                          <a:cs typeface="Bitstream Charter"/>
                        </a:rPr>
                        <a:t>10–20</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Safe enterprise use</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Sensitive data, approved tools, injection risks and output validation.</a:t>
                      </a:r>
                    </a:p>
                  </a:txBody>
                  <a:tcPr marL="114300" marR="114300" marT="76200" marB="76200">
                    <a:solidFill>
                      <a:srgbClr val="EDF2F7"/>
                    </a:solidFill>
                  </a:tcPr>
                </a:tc>
              </a:tr>
              <a:tr h="533400">
                <a:tc>
                  <a:txBody>
                    <a:bodyPr/>
                    <a:lstStyle/>
                    <a:p>
                      <a:r>
                        <a:rPr sz="1650" b="1">
                          <a:solidFill>
                            <a:srgbClr val="10253F"/>
                          </a:solidFill>
                          <a:latin typeface="Bitstream Charter"/>
                          <a:ea typeface="Bitstream Charter"/>
                          <a:cs typeface="Bitstream Charter"/>
                        </a:rPr>
                        <a:t>20–30</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Scenario discussion</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Customer logs, unverified answers and actions needing approval.</a:t>
                      </a:r>
                    </a:p>
                  </a:txBody>
                  <a:tcPr marL="114300" marR="114300" marT="76200" marB="76200">
                    <a:solidFill>
                      <a:srgbClr val="FFFFFF"/>
                    </a:solidFill>
                  </a:tcPr>
                </a:tc>
              </a:tr>
              <a:tr h="533400">
                <a:tc>
                  <a:txBody>
                    <a:bodyPr/>
                    <a:lstStyle/>
                    <a:p>
                      <a:r>
                        <a:rPr sz="1650" b="1">
                          <a:solidFill>
                            <a:srgbClr val="10253F"/>
                          </a:solidFill>
                          <a:latin typeface="Bitstream Charter"/>
                          <a:ea typeface="Bitstream Charter"/>
                          <a:cs typeface="Bitstream Charter"/>
                        </a:rPr>
                        <a:t>30–40</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Tachyon platform tour</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Higgs.ai, AI Bridge, Prompt Studio/chat, APIs, collections and access.</a:t>
                      </a:r>
                    </a:p>
                  </a:txBody>
                  <a:tcPr marL="114300" marR="114300" marT="76200" marB="76200">
                    <a:solidFill>
                      <a:srgbClr val="EDF2F7"/>
                    </a:solidFill>
                  </a:tcPr>
                </a:tc>
              </a:tr>
              <a:tr h="533400">
                <a:tc>
                  <a:txBody>
                    <a:bodyPr/>
                    <a:lstStyle/>
                    <a:p>
                      <a:r>
                        <a:rPr sz="1650" b="1">
                          <a:solidFill>
                            <a:srgbClr val="10253F"/>
                          </a:solidFill>
                          <a:latin typeface="Bitstream Charter"/>
                          <a:ea typeface="Bitstream Charter"/>
                          <a:cs typeface="Bitstream Charter"/>
                        </a:rPr>
                        <a:t>40–55</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End-to-end platform demo</a:t>
                      </a:r>
                    </a:p>
                  </a:txBody>
                  <a:tcPr marL="114300" marR="114300" marT="76200" marB="76200">
                    <a:solidFill>
                      <a:srgbClr val="FFFFFF"/>
                    </a:solidFill>
                  </a:tcPr>
                </a:tc>
                <a:tc>
                  <a:txBody>
                    <a:bodyPr/>
                    <a:lstStyle/>
                    <a:p>
                      <a:r>
                        <a:rPr sz="1650" b="0">
                          <a:solidFill>
                            <a:srgbClr val="10253F"/>
                          </a:solidFill>
                          <a:latin typeface="Bitstream Charter"/>
                          <a:ea typeface="Bitstream Charter"/>
                          <a:cs typeface="Bitstream Charter"/>
                        </a:rPr>
                        <a:t>Onboard a use case, try a model and connect the FAQ assistant.</a:t>
                      </a:r>
                    </a:p>
                  </a:txBody>
                  <a:tcPr marL="114300" marR="114300" marT="76200" marB="76200">
                    <a:solidFill>
                      <a:srgbClr val="FFFFFF"/>
                    </a:solidFill>
                  </a:tcPr>
                </a:tc>
              </a:tr>
              <a:tr h="533400">
                <a:tc>
                  <a:txBody>
                    <a:bodyPr/>
                    <a:lstStyle/>
                    <a:p>
                      <a:r>
                        <a:rPr sz="1650" b="1">
                          <a:solidFill>
                            <a:srgbClr val="10253F"/>
                          </a:solidFill>
                          <a:latin typeface="Bitstream Charter"/>
                          <a:ea typeface="Bitstream Charter"/>
                          <a:cs typeface="Bitstream Charter"/>
                        </a:rPr>
                        <a:t>55–60</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Getting started and Q&amp;A</a:t>
                      </a:r>
                    </a:p>
                  </a:txBody>
                  <a:tcPr marL="114300" marR="114300" marT="76200" marB="76200">
                    <a:solidFill>
                      <a:srgbClr val="EDF2F7"/>
                    </a:solidFill>
                  </a:tcPr>
                </a:tc>
                <a:tc>
                  <a:txBody>
                    <a:bodyPr/>
                    <a:lstStyle/>
                    <a:p>
                      <a:r>
                        <a:rPr sz="1650" b="0">
                          <a:solidFill>
                            <a:srgbClr val="10253F"/>
                          </a:solidFill>
                          <a:latin typeface="Bitstream Charter"/>
                          <a:ea typeface="Bitstream Charter"/>
                          <a:cs typeface="Bitstream Charter"/>
                        </a:rPr>
                        <a:t>Internal docs, starter examples, support and the next exercise.</a:t>
                      </a:r>
                    </a:p>
                  </a:txBody>
                  <a:tcPr marL="114300" marR="114300" marT="76200" marB="76200">
                    <a:solidFill>
                      <a:srgbClr val="EDF2F7"/>
                    </a:solidFill>
                  </a:tcPr>
                </a:tc>
              </a:tr>
            </a:tbl>
          </a:graphicData>
        </a:graphic>
      </p:graphicFrame>
      <p:sp>
        <p:nvSpPr>
          <p:cNvPr id="5" name="">
            <a:extLst xmlns:a="http://schemas.openxmlformats.org/drawingml/2006/main">
              <a:ext uri="{FF2B5EF4-FFF2-40B4-BE49-F238E27FC236}">
                <a16:creationId xmlns:a16="http://schemas.microsoft.com/office/drawing/2014/main" id="{48632F8A-D95C-4CD2-86C8-AC066B76E4CE}"/>
              </a:ext>
            </a:extLst>
          </p:cNvPr>
          <p:cNvSpPr>
            <a:spLocks xmlns:a="http://schemas.openxmlformats.org/drawingml/2006/main" noGrp="1"/>
          </p:cNvSpPr>
          <p:nvPr/>
        </p:nvSpPr>
        <p:spPr>
          <a:xfrm xmlns:a="http://schemas.openxmlformats.org/drawingml/2006/main">
            <a:off x="552450" y="6067425"/>
            <a:ext cx="11087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8C"/>
                </a:solidFill>
                <a:latin typeface="Bitstream Charter"/>
                <a:ea typeface="Bitstream Charter"/>
                <a:cs typeface="Bitstream Charter"/>
              </a:defRPr>
            </a:pPr>
            <a:r>
              <a:rPr sz="1725" b="1">
                <a:solidFill>
                  <a:srgbClr val="087F8C"/>
                </a:solidFill>
                <a:latin typeface="Bitstream Charter"/>
                <a:ea typeface="Bitstream Charter"/>
                <a:cs typeface="Bitstream Charter"/>
              </a:rPr>
              <a:t>Deliverable: a responsible-use checklist and a clear Tachyon onboarding path.</a:t>
            </a:r>
          </a:p>
        </p:txBody>
      </p:sp>
    </p:spTree>
    <p:extLst>
      <p:ext uri="{BB962C8B-B14F-4D97-AF65-F5344CB8AC3E}">
        <p14:creationId xmlns:p14="http://schemas.microsoft.com/office/powerpoint/2010/main" val="1496455639"/>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682D92-3AAB-4CD6-AA96-954D8561FC6A}"/>
              </a:ext>
            </a:extLst>
          </p:cNvPr>
          <p:cNvSpPr>
            <a:spLocks xmlns:a="http://schemas.openxmlformats.org/drawingml/2006/main" noGrp="1"/>
          </p:cNvSpPr>
          <p:nvPr/>
        </p:nvSpPr>
        <p:spPr>
          <a:xfrm xmlns:a="http://schemas.openxmlformats.org/drawingml/2006/main">
            <a:off x="552450" y="419100"/>
            <a:ext cx="11087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0253F"/>
                </a:solidFill>
                <a:latin typeface="Bitstream Charter"/>
                <a:ea typeface="Bitstream Charter"/>
                <a:cs typeface="Bitstream Charter"/>
              </a:defRPr>
            </a:pPr>
            <a:r>
              <a:rPr sz="3150" b="1">
                <a:solidFill>
                  <a:srgbClr val="10253F"/>
                </a:solidFill>
                <a:latin typeface="Bitstream Charter"/>
                <a:ea typeface="Bitstream Charter"/>
                <a:cs typeface="Bitstream Charter"/>
              </a:rPr>
              <a:t>Delivery setup &amp; learning outcomes</a:t>
            </a:r>
          </a:p>
        </p:txBody>
      </p:sp>
      <p:sp>
        <p:nvSpPr>
          <p:cNvPr id="2" name="">
            <a:extLst xmlns:a="http://schemas.openxmlformats.org/drawingml/2006/main">
              <a:ext uri="{FF2B5EF4-FFF2-40B4-BE49-F238E27FC236}">
                <a16:creationId xmlns:a16="http://schemas.microsoft.com/office/drawing/2014/main" id="{AA6EE61B-356E-4DB3-8FF2-DAA467AAEF0E}"/>
              </a:ext>
            </a:extLst>
          </p:cNvPr>
          <p:cNvSpPr>
            <a:spLocks xmlns:a="http://schemas.openxmlformats.org/drawingml/2006/main" noGrp="1"/>
          </p:cNvSpPr>
          <p:nvPr/>
        </p:nvSpPr>
        <p:spPr>
          <a:xfrm xmlns:a="http://schemas.openxmlformats.org/drawingml/2006/main">
            <a:off x="552450" y="112395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176"/>
                </a:solidFill>
                <a:latin typeface="Bitstream Charter"/>
                <a:ea typeface="Bitstream Charter"/>
                <a:cs typeface="Bitstream Charter"/>
              </a:defRPr>
            </a:pPr>
            <a:r>
              <a:rPr sz="1725" b="0">
                <a:solidFill>
                  <a:srgbClr val="526176"/>
                </a:solidFill>
                <a:latin typeface="Bitstream Charter"/>
                <a:ea typeface="Bitstream Charter"/>
                <a:cs typeface="Bitstream Charter"/>
              </a:rPr>
              <a:t>One running example connects every class: an employee FAQ assistant.</a:t>
            </a:r>
          </a:p>
        </p:txBody>
      </p:sp>
      <p:sp>
        <p:nvSpPr>
          <p:cNvPr id="3" name="">
            <a:extLst xmlns:a="http://schemas.openxmlformats.org/drawingml/2006/main">
              <a:ext uri="{FF2B5EF4-FFF2-40B4-BE49-F238E27FC236}">
                <a16:creationId xmlns:a16="http://schemas.microsoft.com/office/drawing/2014/main" id="{5F16B9C1-60E5-4AE1-854E-DA11D6653DD9}"/>
              </a:ext>
            </a:extLst>
          </p:cNvPr>
          <p:cNvSpPr>
            <a:spLocks xmlns:a="http://schemas.openxmlformats.org/drawingml/2006/main" noGrp="1"/>
          </p:cNvSpPr>
          <p:nvPr/>
        </p:nvSpPr>
        <p:spPr>
          <a:xfrm xmlns:a="http://schemas.openxmlformats.org/drawingml/2006/main">
            <a:off x="552450" y="20955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C"/>
                </a:solidFill>
                <a:latin typeface="Bitstream Charter"/>
                <a:ea typeface="Bitstream Charter"/>
                <a:cs typeface="Bitstream Charter"/>
              </a:defRPr>
            </a:pPr>
            <a:r>
              <a:rPr sz="2325" b="1">
                <a:solidFill>
                  <a:srgbClr val="087F8C"/>
                </a:solidFill>
                <a:latin typeface="Bitstream Charter"/>
                <a:ea typeface="Bitstream Charter"/>
                <a:cs typeface="Bitstream Charter"/>
              </a:rPr>
              <a:t>Before the first class</a:t>
            </a:r>
          </a:p>
        </p:txBody>
      </p:sp>
      <p:sp>
        <p:nvSpPr>
          <p:cNvPr id="4" name="">
            <a:extLst xmlns:a="http://schemas.openxmlformats.org/drawingml/2006/main">
              <a:ext uri="{FF2B5EF4-FFF2-40B4-BE49-F238E27FC236}">
                <a16:creationId xmlns:a16="http://schemas.microsoft.com/office/drawing/2014/main" id="{9E18A221-E980-4F26-8280-0D487BBB6FC6}"/>
              </a:ext>
            </a:extLst>
          </p:cNvPr>
          <p:cNvSpPr>
            <a:spLocks xmlns:a="http://schemas.openxmlformats.org/drawingml/2006/main" noGrp="1"/>
          </p:cNvSpPr>
          <p:nvPr/>
        </p:nvSpPr>
        <p:spPr>
          <a:xfrm xmlns:a="http://schemas.openxmlformats.org/drawingml/2006/main">
            <a:off x="552450" y="2733675"/>
            <a:ext cx="5238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53F"/>
                </a:solidFill>
                <a:latin typeface="Bitstream Charter"/>
                <a:ea typeface="Bitstream Charter"/>
                <a:cs typeface="Bitstream Charter"/>
              </a:defRPr>
            </a:pPr>
            <a:r>
              <a:rPr sz="1950" b="0">
                <a:solidFill>
                  <a:srgbClr val="10253F"/>
                </a:solidFill>
                <a:latin typeface="Bitstream Charter"/>
                <a:ea typeface="Bitstream Charter"/>
                <a:cs typeface="Bitstream Charter"/>
              </a:rPr>
              <a:t>Approved AI coding-tool access</a:t>
            </a:r>
          </a:p>
          <a:p xmlns:a="http://schemas.openxmlformats.org/drawingml/2006/main">
            <a:pPr>
              <a:defRPr sz="1950" b="0">
                <a:solidFill>
                  <a:srgbClr val="10253F"/>
                </a:solidFill>
                <a:latin typeface="Bitstream Charter"/>
                <a:ea typeface="Bitstream Charter"/>
                <a:cs typeface="Bitstream Charter"/>
              </a:defRPr>
            </a:pPr>
            <a:r>
              <a:rPr sz="1950" b="0">
                <a:solidFill>
                  <a:srgbClr val="10253F"/>
                </a:solidFill>
                <a:latin typeface="Bitstream Charter"/>
                <a:ea typeface="Bitstream Charter"/>
                <a:cs typeface="Bitstream Charter"/>
              </a:rPr>
              <a:t>A working Tachyon demo environment</a:t>
            </a:r>
          </a:p>
          <a:p xmlns:a="http://schemas.openxmlformats.org/drawingml/2006/main">
            <a:pPr>
              <a:defRPr sz="1950" b="0">
                <a:solidFill>
                  <a:srgbClr val="10253F"/>
                </a:solidFill>
                <a:latin typeface="Bitstream Charter"/>
                <a:ea typeface="Bitstream Charter"/>
                <a:cs typeface="Bitstream Charter"/>
              </a:defRPr>
            </a:pPr>
            <a:r>
              <a:rPr sz="1950" b="0">
                <a:solidFill>
                  <a:srgbClr val="10253F"/>
                </a:solidFill>
                <a:latin typeface="Bitstream Charter"/>
                <a:ea typeface="Bitstream Charter"/>
                <a:cs typeface="Bitstream Charter"/>
              </a:rPr>
              <a:t>A starter repository and synthetic policies</a:t>
            </a:r>
          </a:p>
          <a:p xmlns:a="http://schemas.openxmlformats.org/drawingml/2006/main">
            <a:pPr>
              <a:defRPr sz="1950" b="0">
                <a:solidFill>
                  <a:srgbClr val="10253F"/>
                </a:solidFill>
                <a:latin typeface="Bitstream Charter"/>
                <a:ea typeface="Bitstream Charter"/>
                <a:cs typeface="Bitstream Charter"/>
              </a:defRPr>
            </a:pPr>
            <a:r>
              <a:rPr sz="1950" b="0">
                <a:solidFill>
                  <a:srgbClr val="10253F"/>
                </a:solidFill>
                <a:latin typeface="Bitstream Charter"/>
                <a:ea typeface="Bitstream Charter"/>
                <a:cs typeface="Bitstream Charter"/>
              </a:rPr>
              <a:t>Basic familiarity with one programming language</a:t>
            </a:r>
          </a:p>
        </p:txBody>
      </p:sp>
      <p:sp>
        <p:nvSpPr>
          <p:cNvPr id="5" name="">
            <a:extLst xmlns:a="http://schemas.openxmlformats.org/drawingml/2006/main">
              <a:ext uri="{FF2B5EF4-FFF2-40B4-BE49-F238E27FC236}">
                <a16:creationId xmlns:a16="http://schemas.microsoft.com/office/drawing/2014/main" id="{7A03EC21-5012-45C0-B991-539DBFCBB1AC}"/>
              </a:ext>
            </a:extLst>
          </p:cNvPr>
          <p:cNvSpPr>
            <a:spLocks xmlns:a="http://schemas.openxmlformats.org/drawingml/2006/main" noGrp="1"/>
          </p:cNvSpPr>
          <p:nvPr/>
        </p:nvSpPr>
        <p:spPr>
          <a:xfrm xmlns:a="http://schemas.openxmlformats.org/drawingml/2006/main">
            <a:off x="6477000" y="2095500"/>
            <a:ext cx="5162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C"/>
                </a:solidFill>
                <a:latin typeface="Bitstream Charter"/>
                <a:ea typeface="Bitstream Charter"/>
                <a:cs typeface="Bitstream Charter"/>
              </a:defRPr>
            </a:pPr>
            <a:r>
              <a:rPr sz="2325" b="1">
                <a:solidFill>
                  <a:srgbClr val="087F8C"/>
                </a:solidFill>
                <a:latin typeface="Bitstream Charter"/>
                <a:ea typeface="Bitstream Charter"/>
                <a:cs typeface="Bitstream Charter"/>
              </a:rPr>
              <a:t>By the end of the series</a:t>
            </a:r>
          </a:p>
        </p:txBody>
      </p:sp>
      <p:sp>
        <p:nvSpPr>
          <p:cNvPr id="6" name="">
            <a:extLst xmlns:a="http://schemas.openxmlformats.org/drawingml/2006/main">
              <a:ext uri="{FF2B5EF4-FFF2-40B4-BE49-F238E27FC236}">
                <a16:creationId xmlns:a16="http://schemas.microsoft.com/office/drawing/2014/main" id="{986AAEDC-0818-4124-926A-9FE4247A2DF5}"/>
              </a:ext>
            </a:extLst>
          </p:cNvPr>
          <p:cNvSpPr>
            <a:spLocks xmlns:a="http://schemas.openxmlformats.org/drawingml/2006/main" noGrp="1"/>
          </p:cNvSpPr>
          <p:nvPr/>
        </p:nvSpPr>
        <p:spPr>
          <a:xfrm xmlns:a="http://schemas.openxmlformats.org/drawingml/2006/main">
            <a:off x="6477000" y="2733675"/>
            <a:ext cx="51625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53F"/>
                </a:solidFill>
                <a:latin typeface="Bitstream Charter"/>
                <a:ea typeface="Bitstream Charter"/>
                <a:cs typeface="Bitstream Charter"/>
              </a:defRPr>
            </a:pPr>
            <a:r>
              <a:rPr sz="1950" b="0">
                <a:solidFill>
                  <a:srgbClr val="10253F"/>
                </a:solidFill>
                <a:latin typeface="Bitstream Charter"/>
                <a:ea typeface="Bitstream Charter"/>
                <a:cs typeface="Bitstream Charter"/>
              </a:rPr>
              <a:t>Write and improve a grounded prompt</a:t>
            </a:r>
          </a:p>
          <a:p xmlns:a="http://schemas.openxmlformats.org/drawingml/2006/main">
            <a:pPr>
              <a:defRPr sz="1950" b="0">
                <a:solidFill>
                  <a:srgbClr val="10253F"/>
                </a:solidFill>
                <a:latin typeface="Bitstream Charter"/>
                <a:ea typeface="Bitstream Charter"/>
                <a:cs typeface="Bitstream Charter"/>
              </a:defRPr>
            </a:pPr>
            <a:r>
              <a:rPr sz="1950" b="0">
                <a:solidFill>
                  <a:srgbClr val="10253F"/>
                </a:solidFill>
                <a:latin typeface="Bitstream Charter"/>
                <a:ea typeface="Bitstream Charter"/>
                <a:cs typeface="Bitstream Charter"/>
              </a:rPr>
              <a:t>Implement and review an AI-assisted change</a:t>
            </a:r>
          </a:p>
          <a:p xmlns:a="http://schemas.openxmlformats.org/drawingml/2006/main">
            <a:pPr>
              <a:defRPr sz="1950" b="0">
                <a:solidFill>
                  <a:srgbClr val="10253F"/>
                </a:solidFill>
                <a:latin typeface="Bitstream Charter"/>
                <a:ea typeface="Bitstream Charter"/>
                <a:cs typeface="Bitstream Charter"/>
              </a:defRPr>
            </a:pPr>
            <a:r>
              <a:rPr sz="1950" b="0">
                <a:solidFill>
                  <a:srgbClr val="10253F"/>
                </a:solidFill>
                <a:latin typeface="Bitstream Charter"/>
                <a:ea typeface="Bitstream Charter"/>
                <a:cs typeface="Bitstream Charter"/>
              </a:rPr>
              <a:t>Manage context and estimate token cost</a:t>
            </a:r>
          </a:p>
          <a:p xmlns:a="http://schemas.openxmlformats.org/drawingml/2006/main">
            <a:pPr>
              <a:defRPr sz="1950" b="0">
                <a:solidFill>
                  <a:srgbClr val="10253F"/>
                </a:solidFill>
                <a:latin typeface="Bitstream Charter"/>
                <a:ea typeface="Bitstream Charter"/>
                <a:cs typeface="Bitstream Charter"/>
              </a:defRPr>
            </a:pPr>
            <a:r>
              <a:rPr sz="1950" b="0">
                <a:solidFill>
                  <a:srgbClr val="10253F"/>
                </a:solidFill>
                <a:latin typeface="Bitstream Charter"/>
                <a:ea typeface="Bitstream Charter"/>
                <a:cs typeface="Bitstream Charter"/>
              </a:rPr>
              <a:t>Recognize ethical and security concerns</a:t>
            </a:r>
          </a:p>
          <a:p xmlns:a="http://schemas.openxmlformats.org/drawingml/2006/main">
            <a:pPr>
              <a:defRPr sz="1950" b="0">
                <a:solidFill>
                  <a:srgbClr val="10253F"/>
                </a:solidFill>
                <a:latin typeface="Bitstream Charter"/>
                <a:ea typeface="Bitstream Charter"/>
                <a:cs typeface="Bitstream Charter"/>
              </a:defRPr>
            </a:pPr>
            <a:r>
              <a:rPr sz="1950" b="0">
                <a:solidFill>
                  <a:srgbClr val="10253F"/>
                </a:solidFill>
                <a:latin typeface="Bitstream Charter"/>
                <a:ea typeface="Bitstream Charter"/>
                <a:cs typeface="Bitstream Charter"/>
              </a:rPr>
              <a:t>Navigate Tachyon onboarding</a:t>
            </a:r>
          </a:p>
        </p:txBody>
      </p:sp>
      <p:sp>
        <p:nvSpPr>
          <p:cNvPr id="7" name="">
            <a:extLst xmlns:a="http://schemas.openxmlformats.org/drawingml/2006/main">
              <a:ext uri="{FF2B5EF4-FFF2-40B4-BE49-F238E27FC236}">
                <a16:creationId xmlns:a16="http://schemas.microsoft.com/office/drawing/2014/main" id="{EDA458F5-E970-4ED1-A133-9FC75EF9C04A}"/>
              </a:ext>
            </a:extLst>
          </p:cNvPr>
          <p:cNvSpPr>
            <a:spLocks xmlns:a="http://schemas.openxmlformats.org/drawingml/2006/main" noGrp="1"/>
          </p:cNvSpPr>
          <p:nvPr/>
        </p:nvSpPr>
        <p:spPr>
          <a:xfrm xmlns:a="http://schemas.openxmlformats.org/drawingml/2006/main">
            <a:off x="552450" y="5657850"/>
            <a:ext cx="11087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176"/>
                </a:solidFill>
                <a:latin typeface="Bitstream Charter"/>
                <a:ea typeface="Bitstream Charter"/>
                <a:cs typeface="Bitstream Charter"/>
              </a:defRPr>
            </a:pPr>
            <a:r>
              <a:rPr sz="1725" b="0">
                <a:solidFill>
                  <a:srgbClr val="526176"/>
                </a:solidFill>
                <a:latin typeface="Bitstream Charter"/>
                <a:ea typeface="Bitstream Charter"/>
                <a:cs typeface="Bitstream Charter"/>
              </a:rPr>
              <a:t>Facilitator preparation: align the platform tour with offerings and access paths currently available to new joiners.</a:t>
            </a:r>
          </a:p>
        </p:txBody>
      </p:sp>
    </p:spTree>
    <p:extLst>
      <p:ext uri="{BB962C8B-B14F-4D97-AF65-F5344CB8AC3E}">
        <p14:creationId xmlns:p14="http://schemas.microsoft.com/office/powerpoint/2010/main" val="11624652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2026-09-25T10:40:27.5790000Z</dcterms:created>
  <dcterms:modified xsi:type="dcterms:W3CDTF">2026-09-25T10:40:27.5790000Z</dcterms:modified>
</coreProperties>
</file>