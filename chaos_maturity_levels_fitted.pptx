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09728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Behavioral Chaos Maturity Levels — Agentic AI Workflows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11155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existing infrastructure resilience maturity model to cover agent behavior, MCP tools, LLM reliability, and multi-agent orchestration.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28600" y="749808"/>
            <a:ext cx="566928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49808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795528" y="749808"/>
            <a:ext cx="1426464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749808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Applicability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221992" y="749808"/>
            <a:ext cx="6126480" cy="51206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221992" y="749808"/>
            <a:ext cx="6126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Resiliency Capability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8348472" y="749808"/>
            <a:ext cx="3840480" cy="25603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8348472" y="749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795528" y="1005840"/>
            <a:ext cx="475488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" y="10058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1271016" y="1005840"/>
            <a:ext cx="475488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271016" y="10058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746504" y="1005840"/>
            <a:ext cx="475488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1746504" y="1005840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8348472" y="1005840"/>
            <a:ext cx="96012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8348472" y="1005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9308592" y="1005840"/>
            <a:ext cx="96012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2" name="Text 20"/>
          <p:cNvSpPr/>
          <p:nvPr/>
        </p:nvSpPr>
        <p:spPr>
          <a:xfrm>
            <a:off x="9308592" y="1005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10268712" y="1005840"/>
            <a:ext cx="96012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10268712" y="1005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650" dirty="0"/>
          </a:p>
        </p:txBody>
      </p:sp>
      <p:sp>
        <p:nvSpPr>
          <p:cNvPr id="25" name="Shape 23"/>
          <p:cNvSpPr/>
          <p:nvPr/>
        </p:nvSpPr>
        <p:spPr>
          <a:xfrm>
            <a:off x="11228832" y="1005840"/>
            <a:ext cx="960120" cy="256032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6" name="Text 24"/>
          <p:cNvSpPr/>
          <p:nvPr/>
        </p:nvSpPr>
        <p:spPr>
          <a:xfrm>
            <a:off x="11228832" y="100584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650" dirty="0"/>
          </a:p>
        </p:txBody>
      </p:sp>
      <p:sp>
        <p:nvSpPr>
          <p:cNvPr id="27" name="Shape 25"/>
          <p:cNvSpPr/>
          <p:nvPr/>
        </p:nvSpPr>
        <p:spPr>
          <a:xfrm>
            <a:off x="228600" y="1261872"/>
            <a:ext cx="1196035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8" name="Shape 26"/>
          <p:cNvSpPr/>
          <p:nvPr/>
        </p:nvSpPr>
        <p:spPr>
          <a:xfrm>
            <a:off x="228600" y="1261872"/>
            <a:ext cx="56692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1307592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130759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95528" y="1261872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126187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33" name="Shape 31"/>
          <p:cNvSpPr/>
          <p:nvPr/>
        </p:nvSpPr>
        <p:spPr>
          <a:xfrm>
            <a:off x="1271016" y="1261872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271016" y="126187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1746504" y="1261872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46504" y="126187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37" name="Shape 35"/>
          <p:cNvSpPr/>
          <p:nvPr/>
        </p:nvSpPr>
        <p:spPr>
          <a:xfrm>
            <a:off x="2221992" y="1261872"/>
            <a:ext cx="6126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95144" y="1271016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input validation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sanitize user inputs for injection patterns, enforce length limits, block known adversarial prompt templates</a:t>
            </a:r>
            <a:endParaRPr lang="en-US" sz="650" dirty="0"/>
          </a:p>
        </p:txBody>
      </p:sp>
      <p:sp>
        <p:nvSpPr>
          <p:cNvPr id="39" name="Shape 37"/>
          <p:cNvSpPr/>
          <p:nvPr/>
        </p:nvSpPr>
        <p:spPr>
          <a:xfrm>
            <a:off x="8348472" y="1261872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348472" y="12618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308592" y="1261872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0268712" y="1261872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268712" y="126187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11228832" y="1261872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28600" y="1261872"/>
            <a:ext cx="11960352" cy="182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6" name="Shape 44"/>
          <p:cNvSpPr/>
          <p:nvPr/>
        </p:nvSpPr>
        <p:spPr>
          <a:xfrm>
            <a:off x="228600" y="1572768"/>
            <a:ext cx="1196035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5"/>
          <p:cNvSpPr/>
          <p:nvPr/>
        </p:nvSpPr>
        <p:spPr>
          <a:xfrm>
            <a:off x="228600" y="1572768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5528" y="1572768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" y="157276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271016" y="1572768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71016" y="157276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52" name="Shape 50"/>
          <p:cNvSpPr/>
          <p:nvPr/>
        </p:nvSpPr>
        <p:spPr>
          <a:xfrm>
            <a:off x="1746504" y="1572768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46504" y="157276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54" name="Shape 52"/>
          <p:cNvSpPr/>
          <p:nvPr/>
        </p:nvSpPr>
        <p:spPr>
          <a:xfrm>
            <a:off x="2221992" y="1572768"/>
            <a:ext cx="6126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95144" y="1581912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 guardrails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output content filtering, refusal detection, basic hallucination flag (confidence threshold below 0.7)</a:t>
            </a:r>
            <a:endParaRPr lang="en-US" sz="650" dirty="0"/>
          </a:p>
        </p:txBody>
      </p:sp>
      <p:sp>
        <p:nvSpPr>
          <p:cNvPr id="56" name="Shape 54"/>
          <p:cNvSpPr/>
          <p:nvPr/>
        </p:nvSpPr>
        <p:spPr>
          <a:xfrm>
            <a:off x="8348472" y="1572768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308592" y="1572768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08592" y="15727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0268712" y="1572768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0268712" y="157276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11228832" y="1572768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228600" y="1883664"/>
            <a:ext cx="1196035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Shape 61"/>
          <p:cNvSpPr/>
          <p:nvPr/>
        </p:nvSpPr>
        <p:spPr>
          <a:xfrm>
            <a:off x="228600" y="1883664"/>
            <a:ext cx="56692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95528" y="1883664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95528" y="18836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66" name="Shape 64"/>
          <p:cNvSpPr/>
          <p:nvPr/>
        </p:nvSpPr>
        <p:spPr>
          <a:xfrm>
            <a:off x="1271016" y="1883664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71016" y="18836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68" name="Shape 66"/>
          <p:cNvSpPr/>
          <p:nvPr/>
        </p:nvSpPr>
        <p:spPr>
          <a:xfrm>
            <a:off x="1746504" y="1883664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746504" y="188366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70" name="Shape 68"/>
          <p:cNvSpPr/>
          <p:nvPr/>
        </p:nvSpPr>
        <p:spPr>
          <a:xfrm>
            <a:off x="2221992" y="1883664"/>
            <a:ext cx="6126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295144" y="1892808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goal tracking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log original intent vs. final output; manual review for drift. Not automated, incident-driven RCA only</a:t>
            </a:r>
            <a:endParaRPr lang="en-US" sz="650" dirty="0"/>
          </a:p>
        </p:txBody>
      </p:sp>
      <p:sp>
        <p:nvSpPr>
          <p:cNvPr id="72" name="Shape 70"/>
          <p:cNvSpPr/>
          <p:nvPr/>
        </p:nvSpPr>
        <p:spPr>
          <a:xfrm>
            <a:off x="8348472" y="1883664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308592" y="1883664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308592" y="188366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10268712" y="1883664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228832" y="1883664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228600" y="2194560"/>
            <a:ext cx="1196035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228600" y="2194560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320040" y="2240280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D97706"/>
          </a:solidFill>
          <a:ln/>
        </p:spPr>
      </p:sp>
      <p:sp>
        <p:nvSpPr>
          <p:cNvPr id="80" name="Text 78"/>
          <p:cNvSpPr/>
          <p:nvPr/>
        </p:nvSpPr>
        <p:spPr>
          <a:xfrm>
            <a:off x="320040" y="2240280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795528" y="2194560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95528" y="219456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83" name="Shape 81"/>
          <p:cNvSpPr/>
          <p:nvPr/>
        </p:nvSpPr>
        <p:spPr>
          <a:xfrm>
            <a:off x="1271016" y="2194560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271016" y="219456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85" name="Shape 83"/>
          <p:cNvSpPr/>
          <p:nvPr/>
        </p:nvSpPr>
        <p:spPr>
          <a:xfrm>
            <a:off x="1746504" y="2194560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1746504" y="219456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87" name="Shape 85"/>
          <p:cNvSpPr/>
          <p:nvPr/>
        </p:nvSpPr>
        <p:spPr>
          <a:xfrm>
            <a:off x="2221992" y="2194560"/>
            <a:ext cx="6126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2295144" y="2203704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health check &amp; timeout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verify MCP server availability before dispatch; configurable timeout per tool (default 30s); graceful fallback on failure</a:t>
            </a:r>
            <a:endParaRPr lang="en-US" sz="650" dirty="0"/>
          </a:p>
        </p:txBody>
      </p:sp>
      <p:sp>
        <p:nvSpPr>
          <p:cNvPr id="89" name="Shape 87"/>
          <p:cNvSpPr/>
          <p:nvPr/>
        </p:nvSpPr>
        <p:spPr>
          <a:xfrm>
            <a:off x="8348472" y="2194560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48472" y="219456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9308592" y="2194560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0268712" y="2194560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228832" y="2194560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228600" y="2194560"/>
            <a:ext cx="11960352" cy="18288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5" name="Shape 93"/>
          <p:cNvSpPr/>
          <p:nvPr/>
        </p:nvSpPr>
        <p:spPr>
          <a:xfrm>
            <a:off x="228600" y="2505456"/>
            <a:ext cx="1196035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6" name="Shape 94"/>
          <p:cNvSpPr/>
          <p:nvPr/>
        </p:nvSpPr>
        <p:spPr>
          <a:xfrm>
            <a:off x="228600" y="2505456"/>
            <a:ext cx="56692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795528" y="2505456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95528" y="250545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99" name="Shape 97"/>
          <p:cNvSpPr/>
          <p:nvPr/>
        </p:nvSpPr>
        <p:spPr>
          <a:xfrm>
            <a:off x="1271016" y="2505456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1271016" y="250545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01" name="Shape 99"/>
          <p:cNvSpPr/>
          <p:nvPr/>
        </p:nvSpPr>
        <p:spPr>
          <a:xfrm>
            <a:off x="1746504" y="2505456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1746504" y="250545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103" name="Shape 101"/>
          <p:cNvSpPr/>
          <p:nvPr/>
        </p:nvSpPr>
        <p:spPr>
          <a:xfrm>
            <a:off x="2221992" y="2505456"/>
            <a:ext cx="6126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2295144" y="2514600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schema validation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agents verify MCP response structure (field names, types, nullability) before processing; reject malformed responses</a:t>
            </a:r>
            <a:endParaRPr lang="en-US" sz="650" dirty="0"/>
          </a:p>
        </p:txBody>
      </p:sp>
      <p:sp>
        <p:nvSpPr>
          <p:cNvPr id="105" name="Shape 103"/>
          <p:cNvSpPr/>
          <p:nvPr/>
        </p:nvSpPr>
        <p:spPr>
          <a:xfrm>
            <a:off x="8348472" y="2505456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8348472" y="250545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07" name="Shape 105"/>
          <p:cNvSpPr/>
          <p:nvPr/>
        </p:nvSpPr>
        <p:spPr>
          <a:xfrm>
            <a:off x="9308592" y="2505456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9308592" y="250545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09" name="Shape 107"/>
          <p:cNvSpPr/>
          <p:nvPr/>
        </p:nvSpPr>
        <p:spPr>
          <a:xfrm>
            <a:off x="10268712" y="2505456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11228832" y="2505456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228600" y="2816352"/>
            <a:ext cx="1196035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2" name="Shape 110"/>
          <p:cNvSpPr/>
          <p:nvPr/>
        </p:nvSpPr>
        <p:spPr>
          <a:xfrm>
            <a:off x="228600" y="2816352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795528" y="2816352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95528" y="28163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15" name="Shape 113"/>
          <p:cNvSpPr/>
          <p:nvPr/>
        </p:nvSpPr>
        <p:spPr>
          <a:xfrm>
            <a:off x="1271016" y="2816352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271016" y="28163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1746504" y="2816352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1746504" y="281635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19" name="Shape 117"/>
          <p:cNvSpPr/>
          <p:nvPr/>
        </p:nvSpPr>
        <p:spPr>
          <a:xfrm>
            <a:off x="2221992" y="2816352"/>
            <a:ext cx="6126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2295144" y="2825496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retry with backoff &amp; fallback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exponential backoff on 429/5xx; automatic fallback to secondary model with quality delta logging</a:t>
            </a:r>
            <a:endParaRPr lang="en-US" sz="650" dirty="0"/>
          </a:p>
        </p:txBody>
      </p:sp>
      <p:sp>
        <p:nvSpPr>
          <p:cNvPr id="121" name="Shape 119"/>
          <p:cNvSpPr/>
          <p:nvPr/>
        </p:nvSpPr>
        <p:spPr>
          <a:xfrm>
            <a:off x="8348472" y="2816352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348472" y="281635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23" name="Shape 121"/>
          <p:cNvSpPr/>
          <p:nvPr/>
        </p:nvSpPr>
        <p:spPr>
          <a:xfrm>
            <a:off x="9308592" y="2816352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0268712" y="2816352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1228832" y="2816352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228600" y="3127248"/>
            <a:ext cx="1196035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27" name="Shape 125"/>
          <p:cNvSpPr/>
          <p:nvPr/>
        </p:nvSpPr>
        <p:spPr>
          <a:xfrm>
            <a:off x="228600" y="3127248"/>
            <a:ext cx="56692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>
            <a:off x="795528" y="3127248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95528" y="31272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30" name="Shape 128"/>
          <p:cNvSpPr/>
          <p:nvPr/>
        </p:nvSpPr>
        <p:spPr>
          <a:xfrm>
            <a:off x="1271016" y="3127248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271016" y="31272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132" name="Shape 130"/>
          <p:cNvSpPr/>
          <p:nvPr/>
        </p:nvSpPr>
        <p:spPr>
          <a:xfrm>
            <a:off x="1746504" y="3127248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1746504" y="312724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134" name="Shape 132"/>
          <p:cNvSpPr/>
          <p:nvPr/>
        </p:nvSpPr>
        <p:spPr>
          <a:xfrm>
            <a:off x="2221992" y="3127248"/>
            <a:ext cx="6126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2295144" y="3136392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behavior chaos experiments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manual hallucination trigger, forced misroute, context poisoning test per workflow. Run quarterly</a:t>
            </a:r>
            <a:endParaRPr lang="en-US" sz="650" dirty="0"/>
          </a:p>
        </p:txBody>
      </p:sp>
      <p:sp>
        <p:nvSpPr>
          <p:cNvPr id="136" name="Shape 134"/>
          <p:cNvSpPr/>
          <p:nvPr/>
        </p:nvSpPr>
        <p:spPr>
          <a:xfrm>
            <a:off x="8348472" y="3127248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308592" y="3127248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308592" y="3127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39" name="Shape 137"/>
          <p:cNvSpPr/>
          <p:nvPr/>
        </p:nvSpPr>
        <p:spPr>
          <a:xfrm>
            <a:off x="10268712" y="3127248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10268712" y="3127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41" name="Shape 139"/>
          <p:cNvSpPr/>
          <p:nvPr/>
        </p:nvSpPr>
        <p:spPr>
          <a:xfrm>
            <a:off x="11228832" y="3127248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11228832" y="312724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43" name="Shape 141"/>
          <p:cNvSpPr/>
          <p:nvPr/>
        </p:nvSpPr>
        <p:spPr>
          <a:xfrm>
            <a:off x="228600" y="3438144"/>
            <a:ext cx="1196035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4" name="Shape 142"/>
          <p:cNvSpPr/>
          <p:nvPr/>
        </p:nvSpPr>
        <p:spPr>
          <a:xfrm>
            <a:off x="228600" y="3438144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320040" y="3483864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CA8A04"/>
          </a:solidFill>
          <a:ln/>
        </p:spPr>
      </p:sp>
      <p:sp>
        <p:nvSpPr>
          <p:cNvPr id="146" name="Text 144"/>
          <p:cNvSpPr/>
          <p:nvPr/>
        </p:nvSpPr>
        <p:spPr>
          <a:xfrm>
            <a:off x="320040" y="3483864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47" name="Shape 145"/>
          <p:cNvSpPr/>
          <p:nvPr/>
        </p:nvSpPr>
        <p:spPr>
          <a:xfrm>
            <a:off x="795528" y="3438144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8" name="Text 146"/>
          <p:cNvSpPr/>
          <p:nvPr/>
        </p:nvSpPr>
        <p:spPr>
          <a:xfrm>
            <a:off x="795528" y="343814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49" name="Shape 147"/>
          <p:cNvSpPr/>
          <p:nvPr/>
        </p:nvSpPr>
        <p:spPr>
          <a:xfrm>
            <a:off x="1271016" y="3438144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0" name="Text 148"/>
          <p:cNvSpPr/>
          <p:nvPr/>
        </p:nvSpPr>
        <p:spPr>
          <a:xfrm>
            <a:off x="1271016" y="343814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51" name="Shape 149"/>
          <p:cNvSpPr/>
          <p:nvPr/>
        </p:nvSpPr>
        <p:spPr>
          <a:xfrm>
            <a:off x="1746504" y="3438144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2" name="Text 150"/>
          <p:cNvSpPr/>
          <p:nvPr/>
        </p:nvSpPr>
        <p:spPr>
          <a:xfrm>
            <a:off x="1746504" y="343814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53" name="Shape 151"/>
          <p:cNvSpPr/>
          <p:nvPr/>
        </p:nvSpPr>
        <p:spPr>
          <a:xfrm>
            <a:off x="2221992" y="3438144"/>
            <a:ext cx="6126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4" name="Text 152"/>
          <p:cNvSpPr/>
          <p:nvPr/>
        </p:nvSpPr>
        <p:spPr>
          <a:xfrm>
            <a:off x="2295144" y="3447288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behavioral fault injection catalog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context poisoning, adversarial prompt, hallucination trigger, goal drift, persona shift via Chaos Studio pre-deploy</a:t>
            </a:r>
            <a:endParaRPr lang="en-US" sz="650" dirty="0"/>
          </a:p>
        </p:txBody>
      </p:sp>
      <p:sp>
        <p:nvSpPr>
          <p:cNvPr id="155" name="Shape 153"/>
          <p:cNvSpPr/>
          <p:nvPr/>
        </p:nvSpPr>
        <p:spPr>
          <a:xfrm>
            <a:off x="8348472" y="3438144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9308592" y="3438144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9308592" y="34381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58" name="Shape 156"/>
          <p:cNvSpPr/>
          <p:nvPr/>
        </p:nvSpPr>
        <p:spPr>
          <a:xfrm>
            <a:off x="10268712" y="3438144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10268712" y="34381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60" name="Shape 158"/>
          <p:cNvSpPr/>
          <p:nvPr/>
        </p:nvSpPr>
        <p:spPr>
          <a:xfrm>
            <a:off x="11228832" y="3438144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11228832" y="343814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62" name="Shape 160"/>
          <p:cNvSpPr/>
          <p:nvPr/>
        </p:nvSpPr>
        <p:spPr>
          <a:xfrm>
            <a:off x="228600" y="3438144"/>
            <a:ext cx="11960352" cy="18288"/>
          </a:xfrm>
          <a:prstGeom prst="rect">
            <a:avLst/>
          </a:prstGeom>
          <a:solidFill>
            <a:srgbClr val="CA8A04"/>
          </a:solidFill>
          <a:ln/>
        </p:spPr>
      </p:sp>
      <p:sp>
        <p:nvSpPr>
          <p:cNvPr id="163" name="Shape 161"/>
          <p:cNvSpPr/>
          <p:nvPr/>
        </p:nvSpPr>
        <p:spPr>
          <a:xfrm>
            <a:off x="228600" y="3749040"/>
            <a:ext cx="1196035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64" name="Shape 162"/>
          <p:cNvSpPr/>
          <p:nvPr/>
        </p:nvSpPr>
        <p:spPr>
          <a:xfrm>
            <a:off x="228600" y="3749040"/>
            <a:ext cx="56692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795528" y="3749040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95528" y="374904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67" name="Shape 165"/>
          <p:cNvSpPr/>
          <p:nvPr/>
        </p:nvSpPr>
        <p:spPr>
          <a:xfrm>
            <a:off x="1271016" y="3749040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1271016" y="374904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69" name="Shape 167"/>
          <p:cNvSpPr/>
          <p:nvPr/>
        </p:nvSpPr>
        <p:spPr>
          <a:xfrm>
            <a:off x="1746504" y="3749040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1746504" y="374904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171" name="Shape 169"/>
          <p:cNvSpPr/>
          <p:nvPr/>
        </p:nvSpPr>
        <p:spPr>
          <a:xfrm>
            <a:off x="2221992" y="3749040"/>
            <a:ext cx="6126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2" name="Text 170"/>
          <p:cNvSpPr/>
          <p:nvPr/>
        </p:nvSpPr>
        <p:spPr>
          <a:xfrm>
            <a:off x="2295144" y="3758184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chaos suite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server down, auth token expiry, schema mutation, partial result return, response delay injection. Validates graceful degradation</a:t>
            </a:r>
            <a:endParaRPr lang="en-US" sz="650" dirty="0"/>
          </a:p>
        </p:txBody>
      </p:sp>
      <p:sp>
        <p:nvSpPr>
          <p:cNvPr id="173" name="Shape 171"/>
          <p:cNvSpPr/>
          <p:nvPr/>
        </p:nvSpPr>
        <p:spPr>
          <a:xfrm>
            <a:off x="8348472" y="3749040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4" name="Text 172"/>
          <p:cNvSpPr/>
          <p:nvPr/>
        </p:nvSpPr>
        <p:spPr>
          <a:xfrm>
            <a:off x="8348472" y="3749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75" name="Shape 173"/>
          <p:cNvSpPr/>
          <p:nvPr/>
        </p:nvSpPr>
        <p:spPr>
          <a:xfrm>
            <a:off x="9308592" y="3749040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308592" y="3749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77" name="Shape 175"/>
          <p:cNvSpPr/>
          <p:nvPr/>
        </p:nvSpPr>
        <p:spPr>
          <a:xfrm>
            <a:off x="10268712" y="3749040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>
            <a:off x="11228832" y="3749040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11228832" y="374904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80" name="Shape 178"/>
          <p:cNvSpPr/>
          <p:nvPr/>
        </p:nvSpPr>
        <p:spPr>
          <a:xfrm>
            <a:off x="228600" y="4059936"/>
            <a:ext cx="1196035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1" name="Shape 179"/>
          <p:cNvSpPr/>
          <p:nvPr/>
        </p:nvSpPr>
        <p:spPr>
          <a:xfrm>
            <a:off x="228600" y="4059936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795528" y="4059936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795528" y="40599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84" name="Shape 182"/>
          <p:cNvSpPr/>
          <p:nvPr/>
        </p:nvSpPr>
        <p:spPr>
          <a:xfrm>
            <a:off x="1271016" y="4059936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271016" y="40599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650" dirty="0"/>
          </a:p>
        </p:txBody>
      </p:sp>
      <p:sp>
        <p:nvSpPr>
          <p:cNvPr id="186" name="Shape 184"/>
          <p:cNvSpPr/>
          <p:nvPr/>
        </p:nvSpPr>
        <p:spPr>
          <a:xfrm>
            <a:off x="1746504" y="4059936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1746504" y="405993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188" name="Shape 186"/>
          <p:cNvSpPr/>
          <p:nvPr/>
        </p:nvSpPr>
        <p:spPr>
          <a:xfrm>
            <a:off x="2221992" y="4059936"/>
            <a:ext cx="6126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2295144" y="4069080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resilience suite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rate limit throttling, model downgrade detection, context overflow handling, gibberish/refusal response detection</a:t>
            </a:r>
            <a:endParaRPr lang="en-US" sz="650" dirty="0"/>
          </a:p>
        </p:txBody>
      </p:sp>
      <p:sp>
        <p:nvSpPr>
          <p:cNvPr id="190" name="Shape 188"/>
          <p:cNvSpPr/>
          <p:nvPr/>
        </p:nvSpPr>
        <p:spPr>
          <a:xfrm>
            <a:off x="8348472" y="4059936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8348472" y="405993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9308592" y="4059936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9308592" y="405993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194" name="Shape 192"/>
          <p:cNvSpPr/>
          <p:nvPr/>
        </p:nvSpPr>
        <p:spPr>
          <a:xfrm>
            <a:off x="10268712" y="4059936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11228832" y="4059936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228600" y="4370832"/>
            <a:ext cx="1196035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97" name="Shape 195"/>
          <p:cNvSpPr/>
          <p:nvPr/>
        </p:nvSpPr>
        <p:spPr>
          <a:xfrm>
            <a:off x="228600" y="4370832"/>
            <a:ext cx="56692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795528" y="4370832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795528" y="437083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00" name="Shape 198"/>
          <p:cNvSpPr/>
          <p:nvPr/>
        </p:nvSpPr>
        <p:spPr>
          <a:xfrm>
            <a:off x="1271016" y="4370832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1" name="Text 199"/>
          <p:cNvSpPr/>
          <p:nvPr/>
        </p:nvSpPr>
        <p:spPr>
          <a:xfrm>
            <a:off x="1271016" y="437083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02" name="Shape 200"/>
          <p:cNvSpPr/>
          <p:nvPr/>
        </p:nvSpPr>
        <p:spPr>
          <a:xfrm>
            <a:off x="1746504" y="4370832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3" name="Text 201"/>
          <p:cNvSpPr/>
          <p:nvPr/>
        </p:nvSpPr>
        <p:spPr>
          <a:xfrm>
            <a:off x="1746504" y="437083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04" name="Shape 202"/>
          <p:cNvSpPr/>
          <p:nvPr/>
        </p:nvSpPr>
        <p:spPr>
          <a:xfrm>
            <a:off x="2221992" y="4370832"/>
            <a:ext cx="6126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2295144" y="4379976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FMEA-integrated chaos gate in CI/CD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deployment generates updated FMEA resilience scorecard. TAALS pre-execution validation enforced</a:t>
            </a:r>
            <a:endParaRPr lang="en-US" sz="650" dirty="0"/>
          </a:p>
        </p:txBody>
      </p:sp>
      <p:sp>
        <p:nvSpPr>
          <p:cNvPr id="206" name="Shape 204"/>
          <p:cNvSpPr/>
          <p:nvPr/>
        </p:nvSpPr>
        <p:spPr>
          <a:xfrm>
            <a:off x="8348472" y="4370832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>
            <a:off x="9308592" y="4370832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>
            <a:off x="10268712" y="4370832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11228832" y="4370832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11228832" y="43708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11" name="Shape 209"/>
          <p:cNvSpPr/>
          <p:nvPr/>
        </p:nvSpPr>
        <p:spPr>
          <a:xfrm>
            <a:off x="228600" y="4681728"/>
            <a:ext cx="1196035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2" name="Shape 210"/>
          <p:cNvSpPr/>
          <p:nvPr/>
        </p:nvSpPr>
        <p:spPr>
          <a:xfrm>
            <a:off x="228600" y="4681728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>
            <a:off x="320040" y="4727448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891B2"/>
          </a:solidFill>
          <a:ln/>
        </p:spPr>
      </p:sp>
      <p:sp>
        <p:nvSpPr>
          <p:cNvPr id="214" name="Text 212"/>
          <p:cNvSpPr/>
          <p:nvPr/>
        </p:nvSpPr>
        <p:spPr>
          <a:xfrm>
            <a:off x="320040" y="4727448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15" name="Shape 213"/>
          <p:cNvSpPr/>
          <p:nvPr/>
        </p:nvSpPr>
        <p:spPr>
          <a:xfrm>
            <a:off x="795528" y="4681728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6" name="Text 214"/>
          <p:cNvSpPr/>
          <p:nvPr/>
        </p:nvSpPr>
        <p:spPr>
          <a:xfrm>
            <a:off x="795528" y="468172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17" name="Shape 215"/>
          <p:cNvSpPr/>
          <p:nvPr/>
        </p:nvSpPr>
        <p:spPr>
          <a:xfrm>
            <a:off x="1271016" y="4681728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1271016" y="468172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19" name="Shape 217"/>
          <p:cNvSpPr/>
          <p:nvPr/>
        </p:nvSpPr>
        <p:spPr>
          <a:xfrm>
            <a:off x="1746504" y="4681728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0" name="Text 218"/>
          <p:cNvSpPr/>
          <p:nvPr/>
        </p:nvSpPr>
        <p:spPr>
          <a:xfrm>
            <a:off x="1746504" y="468172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21" name="Shape 219"/>
          <p:cNvSpPr/>
          <p:nvPr/>
        </p:nvSpPr>
        <p:spPr>
          <a:xfrm>
            <a:off x="2221992" y="4681728"/>
            <a:ext cx="6126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2" name="Text 220"/>
          <p:cNvSpPr/>
          <p:nvPr/>
        </p:nvSpPr>
        <p:spPr>
          <a:xfrm>
            <a:off x="2295144" y="4690872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 &amp; orchestration chaos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agent loop injection, fan-out explosion, cross-agent data leak, blast radius containment validation</a:t>
            </a:r>
            <a:endParaRPr lang="en-US" sz="650" dirty="0"/>
          </a:p>
        </p:txBody>
      </p:sp>
      <p:sp>
        <p:nvSpPr>
          <p:cNvPr id="223" name="Shape 221"/>
          <p:cNvSpPr/>
          <p:nvPr/>
        </p:nvSpPr>
        <p:spPr>
          <a:xfrm>
            <a:off x="8348472" y="4681728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4" name="Text 222"/>
          <p:cNvSpPr/>
          <p:nvPr/>
        </p:nvSpPr>
        <p:spPr>
          <a:xfrm>
            <a:off x="8348472" y="46817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25" name="Shape 223"/>
          <p:cNvSpPr/>
          <p:nvPr/>
        </p:nvSpPr>
        <p:spPr>
          <a:xfrm>
            <a:off x="9308592" y="4681728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308592" y="46817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27" name="Shape 225"/>
          <p:cNvSpPr/>
          <p:nvPr/>
        </p:nvSpPr>
        <p:spPr>
          <a:xfrm>
            <a:off x="10268712" y="4681728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8" name="Text 226"/>
          <p:cNvSpPr/>
          <p:nvPr/>
        </p:nvSpPr>
        <p:spPr>
          <a:xfrm>
            <a:off x="10268712" y="46817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29" name="Shape 227"/>
          <p:cNvSpPr/>
          <p:nvPr/>
        </p:nvSpPr>
        <p:spPr>
          <a:xfrm>
            <a:off x="11228832" y="4681728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0" name="Text 228"/>
          <p:cNvSpPr/>
          <p:nvPr/>
        </p:nvSpPr>
        <p:spPr>
          <a:xfrm>
            <a:off x="11228832" y="468172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31" name="Shape 229"/>
          <p:cNvSpPr/>
          <p:nvPr/>
        </p:nvSpPr>
        <p:spPr>
          <a:xfrm>
            <a:off x="228600" y="4681728"/>
            <a:ext cx="11960352" cy="1828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32" name="Shape 230"/>
          <p:cNvSpPr/>
          <p:nvPr/>
        </p:nvSpPr>
        <p:spPr>
          <a:xfrm>
            <a:off x="228600" y="4992624"/>
            <a:ext cx="1196035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33" name="Shape 231"/>
          <p:cNvSpPr/>
          <p:nvPr/>
        </p:nvSpPr>
        <p:spPr>
          <a:xfrm>
            <a:off x="228600" y="4992624"/>
            <a:ext cx="56692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>
            <a:off x="795528" y="4992624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795528" y="499262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36" name="Shape 234"/>
          <p:cNvSpPr/>
          <p:nvPr/>
        </p:nvSpPr>
        <p:spPr>
          <a:xfrm>
            <a:off x="1271016" y="4992624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7" name="Text 235"/>
          <p:cNvSpPr/>
          <p:nvPr/>
        </p:nvSpPr>
        <p:spPr>
          <a:xfrm>
            <a:off x="1271016" y="499262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38" name="Shape 236"/>
          <p:cNvSpPr/>
          <p:nvPr/>
        </p:nvSpPr>
        <p:spPr>
          <a:xfrm>
            <a:off x="1746504" y="4992624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9" name="Text 237"/>
          <p:cNvSpPr/>
          <p:nvPr/>
        </p:nvSpPr>
        <p:spPr>
          <a:xfrm>
            <a:off x="1746504" y="4992624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40" name="Shape 238"/>
          <p:cNvSpPr/>
          <p:nvPr/>
        </p:nvSpPr>
        <p:spPr>
          <a:xfrm>
            <a:off x="2221992" y="4992624"/>
            <a:ext cx="6126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2295144" y="5001768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behavioral fingerprinting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Arize.ai baseline behavioral profile per agent; anomaly detection triggers auto-quarantine of drifted agents</a:t>
            </a:r>
            <a:endParaRPr lang="en-US" sz="650" dirty="0"/>
          </a:p>
        </p:txBody>
      </p:sp>
      <p:sp>
        <p:nvSpPr>
          <p:cNvPr id="242" name="Shape 240"/>
          <p:cNvSpPr/>
          <p:nvPr/>
        </p:nvSpPr>
        <p:spPr>
          <a:xfrm>
            <a:off x="8348472" y="4992624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3" name="Text 241"/>
          <p:cNvSpPr/>
          <p:nvPr/>
        </p:nvSpPr>
        <p:spPr>
          <a:xfrm>
            <a:off x="8348472" y="49926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44" name="Shape 242"/>
          <p:cNvSpPr/>
          <p:nvPr/>
        </p:nvSpPr>
        <p:spPr>
          <a:xfrm>
            <a:off x="9308592" y="4992624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9308592" y="49926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46" name="Shape 244"/>
          <p:cNvSpPr/>
          <p:nvPr/>
        </p:nvSpPr>
        <p:spPr>
          <a:xfrm>
            <a:off x="10268712" y="4992624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7" name="Text 245"/>
          <p:cNvSpPr/>
          <p:nvPr/>
        </p:nvSpPr>
        <p:spPr>
          <a:xfrm>
            <a:off x="10268712" y="499262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48" name="Shape 246"/>
          <p:cNvSpPr/>
          <p:nvPr/>
        </p:nvSpPr>
        <p:spPr>
          <a:xfrm>
            <a:off x="11228832" y="4992624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>
            <a:off x="228600" y="5303520"/>
            <a:ext cx="1196035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0" name="Shape 248"/>
          <p:cNvSpPr/>
          <p:nvPr/>
        </p:nvSpPr>
        <p:spPr>
          <a:xfrm>
            <a:off x="228600" y="5303520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>
            <a:off x="795528" y="5303520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2" name="Text 250"/>
          <p:cNvSpPr/>
          <p:nvPr/>
        </p:nvSpPr>
        <p:spPr>
          <a:xfrm>
            <a:off x="795528" y="530352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53" name="Shape 251"/>
          <p:cNvSpPr/>
          <p:nvPr/>
        </p:nvSpPr>
        <p:spPr>
          <a:xfrm>
            <a:off x="1271016" y="5303520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4" name="Text 252"/>
          <p:cNvSpPr/>
          <p:nvPr/>
        </p:nvSpPr>
        <p:spPr>
          <a:xfrm>
            <a:off x="1271016" y="530352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55" name="Shape 253"/>
          <p:cNvSpPr/>
          <p:nvPr/>
        </p:nvSpPr>
        <p:spPr>
          <a:xfrm>
            <a:off x="1746504" y="5303520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6" name="Text 254"/>
          <p:cNvSpPr/>
          <p:nvPr/>
        </p:nvSpPr>
        <p:spPr>
          <a:xfrm>
            <a:off x="1746504" y="5303520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57" name="Shape 255"/>
          <p:cNvSpPr/>
          <p:nvPr/>
        </p:nvSpPr>
        <p:spPr>
          <a:xfrm>
            <a:off x="2221992" y="5303520"/>
            <a:ext cx="6126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8" name="Text 256"/>
          <p:cNvSpPr/>
          <p:nvPr/>
        </p:nvSpPr>
        <p:spPr>
          <a:xfrm>
            <a:off x="2295144" y="5312664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chaos in staging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scheduled chaos game days with full fault catalog. Auto-remediation playbooks triggered on detection failure</a:t>
            </a:r>
            <a:endParaRPr lang="en-US" sz="650" dirty="0"/>
          </a:p>
        </p:txBody>
      </p:sp>
      <p:sp>
        <p:nvSpPr>
          <p:cNvPr id="259" name="Shape 257"/>
          <p:cNvSpPr/>
          <p:nvPr/>
        </p:nvSpPr>
        <p:spPr>
          <a:xfrm>
            <a:off x="8348472" y="5303520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0" name="Text 258"/>
          <p:cNvSpPr/>
          <p:nvPr/>
        </p:nvSpPr>
        <p:spPr>
          <a:xfrm>
            <a:off x="8348472" y="53035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61" name="Shape 259"/>
          <p:cNvSpPr/>
          <p:nvPr/>
        </p:nvSpPr>
        <p:spPr>
          <a:xfrm>
            <a:off x="9308592" y="5303520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2" name="Text 260"/>
          <p:cNvSpPr/>
          <p:nvPr/>
        </p:nvSpPr>
        <p:spPr>
          <a:xfrm>
            <a:off x="9308592" y="53035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63" name="Shape 261"/>
          <p:cNvSpPr/>
          <p:nvPr/>
        </p:nvSpPr>
        <p:spPr>
          <a:xfrm>
            <a:off x="10268712" y="5303520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4" name="Text 262"/>
          <p:cNvSpPr/>
          <p:nvPr/>
        </p:nvSpPr>
        <p:spPr>
          <a:xfrm>
            <a:off x="10268712" y="53035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65" name="Shape 263"/>
          <p:cNvSpPr/>
          <p:nvPr/>
        </p:nvSpPr>
        <p:spPr>
          <a:xfrm>
            <a:off x="11228832" y="5303520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6" name="Text 264"/>
          <p:cNvSpPr/>
          <p:nvPr/>
        </p:nvSpPr>
        <p:spPr>
          <a:xfrm>
            <a:off x="11228832" y="5303520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67" name="Shape 265"/>
          <p:cNvSpPr/>
          <p:nvPr/>
        </p:nvSpPr>
        <p:spPr>
          <a:xfrm>
            <a:off x="228600" y="5614416"/>
            <a:ext cx="1196035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68" name="Shape 266"/>
          <p:cNvSpPr/>
          <p:nvPr/>
        </p:nvSpPr>
        <p:spPr>
          <a:xfrm>
            <a:off x="228600" y="5614416"/>
            <a:ext cx="56692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>
            <a:off x="320040" y="5660136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059669"/>
          </a:solidFill>
          <a:ln/>
        </p:spPr>
      </p:sp>
      <p:sp>
        <p:nvSpPr>
          <p:cNvPr id="270" name="Text 268"/>
          <p:cNvSpPr/>
          <p:nvPr/>
        </p:nvSpPr>
        <p:spPr>
          <a:xfrm>
            <a:off x="320040" y="5660136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100" dirty="0"/>
          </a:p>
        </p:txBody>
      </p:sp>
      <p:sp>
        <p:nvSpPr>
          <p:cNvPr id="271" name="Shape 269"/>
          <p:cNvSpPr/>
          <p:nvPr/>
        </p:nvSpPr>
        <p:spPr>
          <a:xfrm>
            <a:off x="795528" y="5614416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2" name="Text 270"/>
          <p:cNvSpPr/>
          <p:nvPr/>
        </p:nvSpPr>
        <p:spPr>
          <a:xfrm>
            <a:off x="795528" y="561441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73" name="Shape 271"/>
          <p:cNvSpPr/>
          <p:nvPr/>
        </p:nvSpPr>
        <p:spPr>
          <a:xfrm>
            <a:off x="1271016" y="5614416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4" name="Text 272"/>
          <p:cNvSpPr/>
          <p:nvPr/>
        </p:nvSpPr>
        <p:spPr>
          <a:xfrm>
            <a:off x="1271016" y="561441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75" name="Shape 273"/>
          <p:cNvSpPr/>
          <p:nvPr/>
        </p:nvSpPr>
        <p:spPr>
          <a:xfrm>
            <a:off x="1746504" y="5614416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6" name="Text 274"/>
          <p:cNvSpPr/>
          <p:nvPr/>
        </p:nvSpPr>
        <p:spPr>
          <a:xfrm>
            <a:off x="1746504" y="5614416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77" name="Shape 275"/>
          <p:cNvSpPr/>
          <p:nvPr/>
        </p:nvSpPr>
        <p:spPr>
          <a:xfrm>
            <a:off x="2221992" y="5614416"/>
            <a:ext cx="6126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8" name="Text 276"/>
          <p:cNvSpPr/>
          <p:nvPr/>
        </p:nvSpPr>
        <p:spPr>
          <a:xfrm>
            <a:off x="2295144" y="5623560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agents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agents detect own degradation (confidence drop, drift score spike) and auto-switch to safe mode with human-in-the-loop escalation</a:t>
            </a:r>
            <a:endParaRPr lang="en-US" sz="650" dirty="0"/>
          </a:p>
        </p:txBody>
      </p:sp>
      <p:sp>
        <p:nvSpPr>
          <p:cNvPr id="279" name="Shape 277"/>
          <p:cNvSpPr/>
          <p:nvPr/>
        </p:nvSpPr>
        <p:spPr>
          <a:xfrm>
            <a:off x="8348472" y="5614416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0" name="Text 278"/>
          <p:cNvSpPr/>
          <p:nvPr/>
        </p:nvSpPr>
        <p:spPr>
          <a:xfrm>
            <a:off x="8348472" y="561441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81" name="Shape 279"/>
          <p:cNvSpPr/>
          <p:nvPr/>
        </p:nvSpPr>
        <p:spPr>
          <a:xfrm>
            <a:off x="9308592" y="5614416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2" name="Text 280"/>
          <p:cNvSpPr/>
          <p:nvPr/>
        </p:nvSpPr>
        <p:spPr>
          <a:xfrm>
            <a:off x="9308592" y="561441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83" name="Shape 281"/>
          <p:cNvSpPr/>
          <p:nvPr/>
        </p:nvSpPr>
        <p:spPr>
          <a:xfrm>
            <a:off x="10268712" y="5614416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4" name="Text 282"/>
          <p:cNvSpPr/>
          <p:nvPr/>
        </p:nvSpPr>
        <p:spPr>
          <a:xfrm>
            <a:off x="10268712" y="561441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85" name="Shape 283"/>
          <p:cNvSpPr/>
          <p:nvPr/>
        </p:nvSpPr>
        <p:spPr>
          <a:xfrm>
            <a:off x="11228832" y="5614416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6" name="Text 284"/>
          <p:cNvSpPr/>
          <p:nvPr/>
        </p:nvSpPr>
        <p:spPr>
          <a:xfrm>
            <a:off x="11228832" y="5614416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287" name="Shape 285"/>
          <p:cNvSpPr/>
          <p:nvPr/>
        </p:nvSpPr>
        <p:spPr>
          <a:xfrm>
            <a:off x="228600" y="5614416"/>
            <a:ext cx="11960352" cy="18288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88" name="Shape 286"/>
          <p:cNvSpPr/>
          <p:nvPr/>
        </p:nvSpPr>
        <p:spPr>
          <a:xfrm>
            <a:off x="228600" y="5925312"/>
            <a:ext cx="11960352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9" name="Shape 287"/>
          <p:cNvSpPr/>
          <p:nvPr/>
        </p:nvSpPr>
        <p:spPr>
          <a:xfrm>
            <a:off x="228600" y="5925312"/>
            <a:ext cx="56692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>
            <a:off x="795528" y="5925312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1" name="Text 289"/>
          <p:cNvSpPr/>
          <p:nvPr/>
        </p:nvSpPr>
        <p:spPr>
          <a:xfrm>
            <a:off x="795528" y="592531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92" name="Shape 290"/>
          <p:cNvSpPr/>
          <p:nvPr/>
        </p:nvSpPr>
        <p:spPr>
          <a:xfrm>
            <a:off x="1271016" y="5925312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3" name="Text 291"/>
          <p:cNvSpPr/>
          <p:nvPr/>
        </p:nvSpPr>
        <p:spPr>
          <a:xfrm>
            <a:off x="1271016" y="592531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94" name="Shape 292"/>
          <p:cNvSpPr/>
          <p:nvPr/>
        </p:nvSpPr>
        <p:spPr>
          <a:xfrm>
            <a:off x="1746504" y="5925312"/>
            <a:ext cx="4754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5" name="Text 293"/>
          <p:cNvSpPr/>
          <p:nvPr/>
        </p:nvSpPr>
        <p:spPr>
          <a:xfrm>
            <a:off x="1746504" y="5925312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296" name="Shape 294"/>
          <p:cNvSpPr/>
          <p:nvPr/>
        </p:nvSpPr>
        <p:spPr>
          <a:xfrm>
            <a:off x="2221992" y="5925312"/>
            <a:ext cx="612648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7" name="Text 295"/>
          <p:cNvSpPr/>
          <p:nvPr/>
        </p:nvSpPr>
        <p:spPr>
          <a:xfrm>
            <a:off x="2295144" y="5934456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Zero-trust agent boundaries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inter-agent call authenticated, every MCP tool scoped to least-privilege, every LLM response fingerprinted</a:t>
            </a:r>
            <a:endParaRPr lang="en-US" sz="650" dirty="0"/>
          </a:p>
        </p:txBody>
      </p:sp>
      <p:sp>
        <p:nvSpPr>
          <p:cNvPr id="298" name="Shape 296"/>
          <p:cNvSpPr/>
          <p:nvPr/>
        </p:nvSpPr>
        <p:spPr>
          <a:xfrm>
            <a:off x="8348472" y="5925312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9" name="Text 297"/>
          <p:cNvSpPr/>
          <p:nvPr/>
        </p:nvSpPr>
        <p:spPr>
          <a:xfrm>
            <a:off x="8348472" y="59253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300" name="Shape 298"/>
          <p:cNvSpPr/>
          <p:nvPr/>
        </p:nvSpPr>
        <p:spPr>
          <a:xfrm>
            <a:off x="9308592" y="5925312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10268712" y="5925312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2" name="Text 300"/>
          <p:cNvSpPr/>
          <p:nvPr/>
        </p:nvSpPr>
        <p:spPr>
          <a:xfrm>
            <a:off x="10268712" y="59253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303" name="Shape 301"/>
          <p:cNvSpPr/>
          <p:nvPr/>
        </p:nvSpPr>
        <p:spPr>
          <a:xfrm>
            <a:off x="11228832" y="5925312"/>
            <a:ext cx="96012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4" name="Text 302"/>
          <p:cNvSpPr/>
          <p:nvPr/>
        </p:nvSpPr>
        <p:spPr>
          <a:xfrm>
            <a:off x="11228832" y="592531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305" name="Shape 303"/>
          <p:cNvSpPr/>
          <p:nvPr/>
        </p:nvSpPr>
        <p:spPr>
          <a:xfrm>
            <a:off x="228600" y="6236208"/>
            <a:ext cx="11960352" cy="310896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06" name="Shape 304"/>
          <p:cNvSpPr/>
          <p:nvPr/>
        </p:nvSpPr>
        <p:spPr>
          <a:xfrm>
            <a:off x="228600" y="6236208"/>
            <a:ext cx="56692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7" name="Shape 305"/>
          <p:cNvSpPr/>
          <p:nvPr/>
        </p:nvSpPr>
        <p:spPr>
          <a:xfrm>
            <a:off x="795528" y="6236208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8" name="Text 306"/>
          <p:cNvSpPr/>
          <p:nvPr/>
        </p:nvSpPr>
        <p:spPr>
          <a:xfrm>
            <a:off x="795528" y="623620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309" name="Shape 307"/>
          <p:cNvSpPr/>
          <p:nvPr/>
        </p:nvSpPr>
        <p:spPr>
          <a:xfrm>
            <a:off x="1271016" y="6236208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0" name="Text 308"/>
          <p:cNvSpPr/>
          <p:nvPr/>
        </p:nvSpPr>
        <p:spPr>
          <a:xfrm>
            <a:off x="1271016" y="623620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311" name="Shape 309"/>
          <p:cNvSpPr/>
          <p:nvPr/>
        </p:nvSpPr>
        <p:spPr>
          <a:xfrm>
            <a:off x="1746504" y="6236208"/>
            <a:ext cx="475488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2" name="Text 310"/>
          <p:cNvSpPr/>
          <p:nvPr/>
        </p:nvSpPr>
        <p:spPr>
          <a:xfrm>
            <a:off x="1746504" y="623620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650" dirty="0"/>
          </a:p>
        </p:txBody>
      </p:sp>
      <p:sp>
        <p:nvSpPr>
          <p:cNvPr id="313" name="Shape 311"/>
          <p:cNvSpPr/>
          <p:nvPr/>
        </p:nvSpPr>
        <p:spPr>
          <a:xfrm>
            <a:off x="2221992" y="6236208"/>
            <a:ext cx="612648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4" name="Text 312"/>
          <p:cNvSpPr/>
          <p:nvPr/>
        </p:nvSpPr>
        <p:spPr>
          <a:xfrm>
            <a:off x="2295144" y="6245352"/>
            <a:ext cx="59801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FMEA dashboards with auto-recalculation</a:t>
            </a:r>
            <a:pPr indent="0" marL="0">
              <a:buNone/>
            </a:pPr>
            <a:r>
              <a:rPr lang="en-US" sz="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production chaos signals feed into live severity/detection scores. OCC SR 11-7 audit-ready</a:t>
            </a:r>
            <a:endParaRPr lang="en-US" sz="650" dirty="0"/>
          </a:p>
        </p:txBody>
      </p:sp>
      <p:sp>
        <p:nvSpPr>
          <p:cNvPr id="315" name="Shape 313"/>
          <p:cNvSpPr/>
          <p:nvPr/>
        </p:nvSpPr>
        <p:spPr>
          <a:xfrm>
            <a:off x="8348472" y="6236208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6" name="Shape 314"/>
          <p:cNvSpPr/>
          <p:nvPr/>
        </p:nvSpPr>
        <p:spPr>
          <a:xfrm>
            <a:off x="9308592" y="6236208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10268712" y="6236208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8" name="Shape 316"/>
          <p:cNvSpPr/>
          <p:nvPr/>
        </p:nvSpPr>
        <p:spPr>
          <a:xfrm>
            <a:off x="11228832" y="6236208"/>
            <a:ext cx="960120" cy="310896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9" name="Text 317"/>
          <p:cNvSpPr/>
          <p:nvPr/>
        </p:nvSpPr>
        <p:spPr>
          <a:xfrm>
            <a:off x="11228832" y="6236208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800" dirty="0"/>
          </a:p>
        </p:txBody>
      </p:sp>
      <p:sp>
        <p:nvSpPr>
          <p:cNvPr id="320" name="Shape 318"/>
          <p:cNvSpPr/>
          <p:nvPr/>
        </p:nvSpPr>
        <p:spPr>
          <a:xfrm>
            <a:off x="228600" y="749808"/>
            <a:ext cx="11960352" cy="579729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21" name="Text 319"/>
          <p:cNvSpPr/>
          <p:nvPr/>
        </p:nvSpPr>
        <p:spPr>
          <a:xfrm>
            <a:off x="274320" y="6638544"/>
            <a:ext cx="1161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existing infrastructure resilience maturity (1–5)   |   Availability = uptime under fault   |   Accuracy = output correctness   |   Safety = guardrail effectiveness   |   Compliance = OCC SR 11-7 / FMEA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Behavioral Chaos Maturity Levels</dc:title>
  <dc:subject>PptxGenJS Presentation</dc:subject>
  <dc:creator>Bindu</dc:creator>
  <cp:lastModifiedBy>Bindu</cp:lastModifiedBy>
  <cp:revision>1</cp:revision>
  <dcterms:created xsi:type="dcterms:W3CDTF">2026-04-15T05:11:04Z</dcterms:created>
  <dcterms:modified xsi:type="dcterms:W3CDTF">2026-04-15T05:11:04Z</dcterms:modified>
</cp:coreProperties>
</file>