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b3e064ae83441c" /><Relationship Type="http://schemas.openxmlformats.org/officeDocument/2006/relationships/extended-properties" Target="/docProps/app.xml" Id="R56e5156b720b4a2d" /><Relationship Type="http://schemas.openxmlformats.org/officeDocument/2006/relationships/officeDocument" Target="/ppt/presentation.xml" Id="Rcaeb448a9dff44f3" /></Relationships>
</file>

<file path=ppt/presentation.xml><?xml version="1.0" encoding="utf-8"?>
<p:presentation xmlns:p="http://schemas.openxmlformats.org/presentationml/2006/main">
  <p:sldMasterIdLst>
    <p:sldMasterId xmlns:r="http://schemas.openxmlformats.org/officeDocument/2006/relationships" id="2147483648" r:id="Rf88fa56ee614412c"/>
  </p:sldMasterIdLst>
  <p:notesMasterIdLst>
    <p:notesMasterId xmlns:r="http://schemas.openxmlformats.org/officeDocument/2006/relationships" r:id="R8aa3db7e26894af5"/>
  </p:notesMasterIdLst>
  <p:sldIdLst>
    <p:sldId xmlns:r="http://schemas.openxmlformats.org/officeDocument/2006/relationships" id="256" r:id="R7e5c081b1bdf4260"/>
    <p:sldId xmlns:r="http://schemas.openxmlformats.org/officeDocument/2006/relationships" id="257" r:id="R6d9e4d5690024598"/>
    <p:sldId xmlns:r="http://schemas.openxmlformats.org/officeDocument/2006/relationships" id="258" r:id="Re058a36675dd4e68"/>
    <p:sldId xmlns:r="http://schemas.openxmlformats.org/officeDocument/2006/relationships" id="259" r:id="Ra5677fb016d14b6e"/>
    <p:sldId xmlns:r="http://schemas.openxmlformats.org/officeDocument/2006/relationships" id="260" r:id="R0438e06a0e7d42f9"/>
    <p:sldId xmlns:r="http://schemas.openxmlformats.org/officeDocument/2006/relationships" id="261" r:id="R4e2c108af27c47be"/>
    <p:sldId xmlns:r="http://schemas.openxmlformats.org/officeDocument/2006/relationships" id="262" r:id="Rc5e4772c47204eb6"/>
    <p:sldId xmlns:r="http://schemas.openxmlformats.org/officeDocument/2006/relationships" id="263" r:id="R2e2af4d4b6ee413f"/>
    <p:sldId xmlns:r="http://schemas.openxmlformats.org/officeDocument/2006/relationships" id="264" r:id="R419255cab6394789"/>
    <p:sldId xmlns:r="http://schemas.openxmlformats.org/officeDocument/2006/relationships" id="265" r:id="R1e2a5960a19e47b1"/>
    <p:sldId xmlns:r="http://schemas.openxmlformats.org/officeDocument/2006/relationships" id="266" r:id="R457a0f0ea0bd4081"/>
    <p:sldId xmlns:r="http://schemas.openxmlformats.org/officeDocument/2006/relationships" id="267" r:id="R8ffc71fd6eae4465"/>
    <p:sldId xmlns:r="http://schemas.openxmlformats.org/officeDocument/2006/relationships" id="268" r:id="Rfde20eccc3504852"/>
    <p:sldId xmlns:r="http://schemas.openxmlformats.org/officeDocument/2006/relationships" id="269" r:id="Rbd4e6b4de6cd4390"/>
    <p:sldId xmlns:r="http://schemas.openxmlformats.org/officeDocument/2006/relationships" id="270" r:id="Rbb8a6a36ea9a4754"/>
    <p:sldId xmlns:r="http://schemas.openxmlformats.org/officeDocument/2006/relationships" id="271" r:id="R3646e9d02086491b"/>
    <p:sldId xmlns:r="http://schemas.openxmlformats.org/officeDocument/2006/relationships" id="272" r:id="R5d8a7f27d6cb4399"/>
    <p:sldId xmlns:r="http://schemas.openxmlformats.org/officeDocument/2006/relationships" id="273" r:id="Rb229c979e14841ab"/>
    <p:sldId xmlns:r="http://schemas.openxmlformats.org/officeDocument/2006/relationships" id="274" r:id="R04606d69fa8d4f75"/>
    <p:sldId xmlns:r="http://schemas.openxmlformats.org/officeDocument/2006/relationships" id="275" r:id="R4835d37c6ebe4a89"/>
    <p:sldId xmlns:r="http://schemas.openxmlformats.org/officeDocument/2006/relationships" id="276" r:id="Rf9eea508e6be4ced"/>
    <p:sldId xmlns:r="http://schemas.openxmlformats.org/officeDocument/2006/relationships" id="277" r:id="R46fb3c5ee61b42d3"/>
    <p:sldId xmlns:r="http://schemas.openxmlformats.org/officeDocument/2006/relationships" id="278" r:id="R85a680a8f04e426e"/>
    <p:sldId xmlns:r="http://schemas.openxmlformats.org/officeDocument/2006/relationships" id="279" r:id="Rfbe2da1a866d4ae2"/>
    <p:sldId xmlns:r="http://schemas.openxmlformats.org/officeDocument/2006/relationships" id="280" r:id="Rb24b3dd7c90c4014"/>
    <p:sldId xmlns:r="http://schemas.openxmlformats.org/officeDocument/2006/relationships" id="281" r:id="R48e3b697218d4911"/>
    <p:sldId xmlns:r="http://schemas.openxmlformats.org/officeDocument/2006/relationships" id="282" r:id="R4c0b78033c6240dd"/>
    <p:sldId xmlns:r="http://schemas.openxmlformats.org/officeDocument/2006/relationships" id="283" r:id="R3d818db1712a4c78"/>
    <p:sldId xmlns:r="http://schemas.openxmlformats.org/officeDocument/2006/relationships" id="284" r:id="R2a0e5adb4c5d4638"/>
    <p:sldId xmlns:r="http://schemas.openxmlformats.org/officeDocument/2006/relationships" id="285" r:id="R400181f0189a4571"/>
    <p:sldId xmlns:r="http://schemas.openxmlformats.org/officeDocument/2006/relationships" id="286" r:id="Ra14bff7c1a3f44f7"/>
    <p:sldId xmlns:r="http://schemas.openxmlformats.org/officeDocument/2006/relationships" id="287" r:id="Rb5dde877d12c4277"/>
    <p:sldId xmlns:r="http://schemas.openxmlformats.org/officeDocument/2006/relationships" id="288" r:id="R650270fb49114da3"/>
    <p:sldId xmlns:r="http://schemas.openxmlformats.org/officeDocument/2006/relationships" id="289" r:id="Ra2132183d2664222"/>
    <p:sldId xmlns:r="http://schemas.openxmlformats.org/officeDocument/2006/relationships" id="290" r:id="R3137000dfcbf4988"/>
    <p:sldId xmlns:r="http://schemas.openxmlformats.org/officeDocument/2006/relationships" id="291" r:id="R3625af1b07fd4bfd"/>
    <p:sldId xmlns:r="http://schemas.openxmlformats.org/officeDocument/2006/relationships" id="292" r:id="Rde13a77fda944e01"/>
    <p:sldId xmlns:r="http://schemas.openxmlformats.org/officeDocument/2006/relationships" id="293" r:id="R959778baa1f746f2"/>
    <p:sldId xmlns:r="http://schemas.openxmlformats.org/officeDocument/2006/relationships" id="294" r:id="Red87ef6ba60c49f7"/>
    <p:sldId xmlns:r="http://schemas.openxmlformats.org/officeDocument/2006/relationships" id="295" r:id="R30ce7400a56240b1"/>
    <p:sldId xmlns:r="http://schemas.openxmlformats.org/officeDocument/2006/relationships" id="296" r:id="Rc8d4def7875a47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449272d52c4987" /><Relationship Type="http://schemas.openxmlformats.org/officeDocument/2006/relationships/slideMaster" Target="/ppt/slideMasters/slideMaster1.xml" Id="Rf88fa56ee614412c" /><Relationship Type="http://schemas.openxmlformats.org/officeDocument/2006/relationships/notesMaster" Target="/ppt/notesMasters/notesMaster1.xml" Id="R8aa3db7e26894af5" /><Relationship Type="http://schemas.openxmlformats.org/officeDocument/2006/relationships/presProps" Target="/ppt/presProps.xml" Id="R8156cb9344a34e70" /><Relationship Type="http://schemas.openxmlformats.org/officeDocument/2006/relationships/tableStyles" Target="/ppt/tableStyles.xml" Id="Rcee42396dc954f10" /><Relationship Type="http://schemas.openxmlformats.org/officeDocument/2006/relationships/slide" Target="/ppt/slides/slide1.xml" Id="R7e5c081b1bdf4260" /><Relationship Type="http://schemas.openxmlformats.org/officeDocument/2006/relationships/slide" Target="/ppt/slides/slide2.xml" Id="R6d9e4d5690024598" /><Relationship Type="http://schemas.openxmlformats.org/officeDocument/2006/relationships/slide" Target="/ppt/slides/slide3.xml" Id="Re058a36675dd4e68" /><Relationship Type="http://schemas.openxmlformats.org/officeDocument/2006/relationships/slide" Target="/ppt/slides/slide4.xml" Id="Ra5677fb016d14b6e" /><Relationship Type="http://schemas.openxmlformats.org/officeDocument/2006/relationships/slide" Target="/ppt/slides/slide5.xml" Id="R0438e06a0e7d42f9" /><Relationship Type="http://schemas.openxmlformats.org/officeDocument/2006/relationships/slide" Target="/ppt/slides/slide6.xml" Id="R4e2c108af27c47be" /><Relationship Type="http://schemas.openxmlformats.org/officeDocument/2006/relationships/slide" Target="/ppt/slides/slide7.xml" Id="Rc5e4772c47204eb6" /><Relationship Type="http://schemas.openxmlformats.org/officeDocument/2006/relationships/slide" Target="/ppt/slides/slide8.xml" Id="R2e2af4d4b6ee413f" /><Relationship Type="http://schemas.openxmlformats.org/officeDocument/2006/relationships/slide" Target="/ppt/slides/slide9.xml" Id="R419255cab6394789" /><Relationship Type="http://schemas.openxmlformats.org/officeDocument/2006/relationships/slide" Target="/ppt/slides/slide10.xml" Id="R1e2a5960a19e47b1" /><Relationship Type="http://schemas.openxmlformats.org/officeDocument/2006/relationships/slide" Target="/ppt/slides/slide11.xml" Id="R457a0f0ea0bd4081" /><Relationship Type="http://schemas.openxmlformats.org/officeDocument/2006/relationships/slide" Target="/ppt/slides/slide12.xml" Id="R8ffc71fd6eae4465" /><Relationship Type="http://schemas.openxmlformats.org/officeDocument/2006/relationships/slide" Target="/ppt/slides/slide13.xml" Id="Rfde20eccc3504852" /><Relationship Type="http://schemas.openxmlformats.org/officeDocument/2006/relationships/slide" Target="/ppt/slides/slide14.xml" Id="Rbd4e6b4de6cd4390" /><Relationship Type="http://schemas.openxmlformats.org/officeDocument/2006/relationships/slide" Target="/ppt/slides/slide15.xml" Id="Rbb8a6a36ea9a4754" /><Relationship Type="http://schemas.openxmlformats.org/officeDocument/2006/relationships/slide" Target="/ppt/slides/slide16.xml" Id="R3646e9d02086491b" /><Relationship Type="http://schemas.openxmlformats.org/officeDocument/2006/relationships/slide" Target="/ppt/slides/slide17.xml" Id="R5d8a7f27d6cb4399" /><Relationship Type="http://schemas.openxmlformats.org/officeDocument/2006/relationships/slide" Target="/ppt/slides/slide18.xml" Id="Rb229c979e14841ab" /><Relationship Type="http://schemas.openxmlformats.org/officeDocument/2006/relationships/slide" Target="/ppt/slides/slide19.xml" Id="R04606d69fa8d4f75" /><Relationship Type="http://schemas.openxmlformats.org/officeDocument/2006/relationships/slide" Target="/ppt/slides/slide20.xml" Id="R4835d37c6ebe4a89" /><Relationship Type="http://schemas.openxmlformats.org/officeDocument/2006/relationships/slide" Target="/ppt/slides/slide21.xml" Id="Rf9eea508e6be4ced" /><Relationship Type="http://schemas.openxmlformats.org/officeDocument/2006/relationships/slide" Target="/ppt/slides/slide22.xml" Id="R46fb3c5ee61b42d3" /><Relationship Type="http://schemas.openxmlformats.org/officeDocument/2006/relationships/slide" Target="/ppt/slides/slide23.xml" Id="R85a680a8f04e426e" /><Relationship Type="http://schemas.openxmlformats.org/officeDocument/2006/relationships/slide" Target="/ppt/slides/slide24.xml" Id="Rfbe2da1a866d4ae2" /><Relationship Type="http://schemas.openxmlformats.org/officeDocument/2006/relationships/slide" Target="/ppt/slides/slide25.xml" Id="Rb24b3dd7c90c4014" /><Relationship Type="http://schemas.openxmlformats.org/officeDocument/2006/relationships/slide" Target="/ppt/slides/slide26.xml" Id="R48e3b697218d4911" /><Relationship Type="http://schemas.openxmlformats.org/officeDocument/2006/relationships/slide" Target="/ppt/slides/slide27.xml" Id="R4c0b78033c6240dd" /><Relationship Type="http://schemas.openxmlformats.org/officeDocument/2006/relationships/slide" Target="/ppt/slides/slide28.xml" Id="R3d818db1712a4c78" /><Relationship Type="http://schemas.openxmlformats.org/officeDocument/2006/relationships/slide" Target="/ppt/slides/slide29.xml" Id="R2a0e5adb4c5d4638" /><Relationship Type="http://schemas.openxmlformats.org/officeDocument/2006/relationships/slide" Target="/ppt/slides/slide30.xml" Id="R400181f0189a4571" /><Relationship Type="http://schemas.openxmlformats.org/officeDocument/2006/relationships/slide" Target="/ppt/slides/slide31.xml" Id="Ra14bff7c1a3f44f7" /><Relationship Type="http://schemas.openxmlformats.org/officeDocument/2006/relationships/slide" Target="/ppt/slides/slide32.xml" Id="Rb5dde877d12c4277" /><Relationship Type="http://schemas.openxmlformats.org/officeDocument/2006/relationships/slide" Target="/ppt/slides/slide33.xml" Id="R650270fb49114da3" /><Relationship Type="http://schemas.openxmlformats.org/officeDocument/2006/relationships/slide" Target="/ppt/slides/slide34.xml" Id="Ra2132183d2664222" /><Relationship Type="http://schemas.openxmlformats.org/officeDocument/2006/relationships/slide" Target="/ppt/slides/slide35.xml" Id="R3137000dfcbf4988" /><Relationship Type="http://schemas.openxmlformats.org/officeDocument/2006/relationships/slide" Target="/ppt/slides/slide36.xml" Id="R3625af1b07fd4bfd" /><Relationship Type="http://schemas.openxmlformats.org/officeDocument/2006/relationships/slide" Target="/ppt/slides/slide37.xml" Id="Rde13a77fda944e01" /><Relationship Type="http://schemas.openxmlformats.org/officeDocument/2006/relationships/slide" Target="/ppt/slides/slide38.xml" Id="R959778baa1f746f2" /><Relationship Type="http://schemas.openxmlformats.org/officeDocument/2006/relationships/slide" Target="/ppt/slides/slide39.xml" Id="Red87ef6ba60c49f7" /><Relationship Type="http://schemas.openxmlformats.org/officeDocument/2006/relationships/slide" Target="/ppt/slides/slide40.xml" Id="R30ce7400a56240b1" /><Relationship Type="http://schemas.openxmlformats.org/officeDocument/2006/relationships/slide" Target="/ppt/slides/slide41.xml" Id="Rc8d4def7875a47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459c85af6d44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c860eb92f24401" /><Relationship Type="http://schemas.openxmlformats.org/officeDocument/2006/relationships/notesMaster" Target="/ppt/notesMasters/notesMaster1.xml" Id="Rabe84f77aedd44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c6f963a6a34b22" /><Relationship Type="http://schemas.openxmlformats.org/officeDocument/2006/relationships/notesMaster" Target="/ppt/notesMasters/notesMaster1.xml" Id="Rff195f26c8af44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09a697e11d40cc" /><Relationship Type="http://schemas.openxmlformats.org/officeDocument/2006/relationships/notesMaster" Target="/ppt/notesMasters/notesMaster1.xml" Id="Rfd803caf313f4e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d1bd4dc0a2435b" /><Relationship Type="http://schemas.openxmlformats.org/officeDocument/2006/relationships/notesMaster" Target="/ppt/notesMasters/notesMaster1.xml" Id="Rf65476b15b594e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c4f54d7e56411e" /><Relationship Type="http://schemas.openxmlformats.org/officeDocument/2006/relationships/notesMaster" Target="/ppt/notesMasters/notesMaster1.xml" Id="Rf570bb423f2c48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4a5c28f395c417f" /><Relationship Type="http://schemas.openxmlformats.org/officeDocument/2006/relationships/notesMaster" Target="/ppt/notesMasters/notesMaster1.xml" Id="R266eea86710249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01cec4367740fd" /><Relationship Type="http://schemas.openxmlformats.org/officeDocument/2006/relationships/notesMaster" Target="/ppt/notesMasters/notesMaster1.xml" Id="Red728f4da98646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7e257c0d2d4018" /><Relationship Type="http://schemas.openxmlformats.org/officeDocument/2006/relationships/notesMaster" Target="/ppt/notesMasters/notesMaster1.xml" Id="R71e3703ae29848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8387a8e6904e37" /><Relationship Type="http://schemas.openxmlformats.org/officeDocument/2006/relationships/notesMaster" Target="/ppt/notesMasters/notesMaster1.xml" Id="R1af138063d5e49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de946d50034979" /><Relationship Type="http://schemas.openxmlformats.org/officeDocument/2006/relationships/notesMaster" Target="/ppt/notesMasters/notesMaster1.xml" Id="Rbf90b39407bc472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525aa43c784301" /><Relationship Type="http://schemas.openxmlformats.org/officeDocument/2006/relationships/notesMaster" Target="/ppt/notesMasters/notesMaster1.xml" Id="Re71f0da610bf432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ec6f072d81c46ce" /><Relationship Type="http://schemas.openxmlformats.org/officeDocument/2006/relationships/notesMaster" Target="/ppt/notesMasters/notesMaster1.xml" Id="R538d5fcee7ed4ad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6dbace468b24209" /><Relationship Type="http://schemas.openxmlformats.org/officeDocument/2006/relationships/notesMaster" Target="/ppt/notesMasters/notesMaster1.xml" Id="Rd8e77ab74de04a6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50342aa246445c7" /><Relationship Type="http://schemas.openxmlformats.org/officeDocument/2006/relationships/notesMaster" Target="/ppt/notesMasters/notesMaster1.xml" Id="R952f24c8667f40b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841b0b511ed455a" /><Relationship Type="http://schemas.openxmlformats.org/officeDocument/2006/relationships/notesMaster" Target="/ppt/notesMasters/notesMaster1.xml" Id="Re7f1f0afb1094d0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50d9663a65d4296" /><Relationship Type="http://schemas.openxmlformats.org/officeDocument/2006/relationships/notesMaster" Target="/ppt/notesMasters/notesMaster1.xml" Id="R4bc96ec12f97487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60ca4c6459b4fcf" /><Relationship Type="http://schemas.openxmlformats.org/officeDocument/2006/relationships/notesMaster" Target="/ppt/notesMasters/notesMaster1.xml" Id="Rf8b093b3f9c44c2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8dd1ac614864ccb" /><Relationship Type="http://schemas.openxmlformats.org/officeDocument/2006/relationships/notesMaster" Target="/ppt/notesMasters/notesMaster1.xml" Id="R50d013141d73477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48e22662a044126" /><Relationship Type="http://schemas.openxmlformats.org/officeDocument/2006/relationships/notesMaster" Target="/ppt/notesMasters/notesMaster1.xml" Id="R4aaa98dff09c49e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aba718501964e97" /><Relationship Type="http://schemas.openxmlformats.org/officeDocument/2006/relationships/notesMaster" Target="/ppt/notesMasters/notesMaster1.xml" Id="R349cfb7ce6014cb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b05d30b6d454cb2" /><Relationship Type="http://schemas.openxmlformats.org/officeDocument/2006/relationships/notesMaster" Target="/ppt/notesMasters/notesMaster1.xml" Id="Rb732c7912eb34f4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fda0e78838941c9" /><Relationship Type="http://schemas.openxmlformats.org/officeDocument/2006/relationships/notesMaster" Target="/ppt/notesMasters/notesMaster1.xml" Id="Raeb915f9e3c84b4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c4052fa16324517" /><Relationship Type="http://schemas.openxmlformats.org/officeDocument/2006/relationships/notesMaster" Target="/ppt/notesMasters/notesMaster1.xml" Id="R07844e71349e48a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d1804573b6843fb" /><Relationship Type="http://schemas.openxmlformats.org/officeDocument/2006/relationships/notesMaster" Target="/ppt/notesMasters/notesMaster1.xml" Id="R884f1ce247204a8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9e6db92c4d24dc1" /><Relationship Type="http://schemas.openxmlformats.org/officeDocument/2006/relationships/notesMaster" Target="/ppt/notesMasters/notesMaster1.xml" Id="R154495d0db3148d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63ad24317c54c3b" /><Relationship Type="http://schemas.openxmlformats.org/officeDocument/2006/relationships/notesMaster" Target="/ppt/notesMasters/notesMaster1.xml" Id="Rf7df3d3d67624ff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d703a4f988142cb" /><Relationship Type="http://schemas.openxmlformats.org/officeDocument/2006/relationships/notesMaster" Target="/ppt/notesMasters/notesMaster1.xml" Id="Rfde3c26c4af84d6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bdc90cfd2ac4ddb" /><Relationship Type="http://schemas.openxmlformats.org/officeDocument/2006/relationships/notesMaster" Target="/ppt/notesMasters/notesMaster1.xml" Id="R7a43329601fc440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2b8d43eab1e4936" /><Relationship Type="http://schemas.openxmlformats.org/officeDocument/2006/relationships/notesMaster" Target="/ppt/notesMasters/notesMaster1.xml" Id="R79fdaf390c65486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31f605c982c4f71" /><Relationship Type="http://schemas.openxmlformats.org/officeDocument/2006/relationships/notesMaster" Target="/ppt/notesMasters/notesMaster1.xml" Id="R634e08f9d9284c2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f9bbc4853334ed5" /><Relationship Type="http://schemas.openxmlformats.org/officeDocument/2006/relationships/notesMaster" Target="/ppt/notesMasters/notesMaster1.xml" Id="Rcd2b8db04c9a4b5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7a84199902e497c" /><Relationship Type="http://schemas.openxmlformats.org/officeDocument/2006/relationships/notesMaster" Target="/ppt/notesMasters/notesMaster1.xml" Id="R9c3ffa3b58864e2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cf377348c4c4ef2" /><Relationship Type="http://schemas.openxmlformats.org/officeDocument/2006/relationships/notesMaster" Target="/ppt/notesMasters/notesMaster1.xml" Id="R88fcbbdff6f74f5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0a9418872df41e0" /><Relationship Type="http://schemas.openxmlformats.org/officeDocument/2006/relationships/notesMaster" Target="/ppt/notesMasters/notesMaster1.xml" Id="Rc5bffc76e98d412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3569ae3abd5476e" /><Relationship Type="http://schemas.openxmlformats.org/officeDocument/2006/relationships/notesMaster" Target="/ppt/notesMasters/notesMaster1.xml" Id="R01af7beec5e04e7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cda63da0dc94485" /><Relationship Type="http://schemas.openxmlformats.org/officeDocument/2006/relationships/notesMaster" Target="/ppt/notesMasters/notesMaster1.xml" Id="Ref66ed84a1684bb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782271e4cc64244" /><Relationship Type="http://schemas.openxmlformats.org/officeDocument/2006/relationships/notesMaster" Target="/ppt/notesMasters/notesMaster1.xml" Id="R06b60f3ede8649e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f248fe8421b465b" /><Relationship Type="http://schemas.openxmlformats.org/officeDocument/2006/relationships/notesMaster" Target="/ppt/notesMasters/notesMaster1.xml" Id="R6c7a6bcc9fcd422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ecc590914394313" /><Relationship Type="http://schemas.openxmlformats.org/officeDocument/2006/relationships/notesMaster" Target="/ppt/notesMasters/notesMaster1.xml" Id="Rb9f4887bd547406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b71d26769474b00" /><Relationship Type="http://schemas.openxmlformats.org/officeDocument/2006/relationships/notesMaster" Target="/ppt/notesMasters/notesMaster1.xml" Id="R2c701d83353a471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bc0333b213640c3" /><Relationship Type="http://schemas.openxmlformats.org/officeDocument/2006/relationships/notesMaster" Target="/ppt/notesMasters/notesMaster1.xml" Id="R357df3f7ed5d4a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2 minutes. Introduce Dev, the engineer, and Patch, the AI coding assistant. Ask: Who has accepted a suggestion that looked perfect and then spent an hour debugging it? This session follows one small payment retry bug through the whole development cycle. The goal is to improve the quality of the task we give the assistant and the evidence we demand from it. The characters are fictional. Artwork is AI generated. Product details checked on 7 October 2026.</a:t>
            </a:r>
          </a:p>
          <a:p xmlns:a="http://schemas.openxmlformats.org/drawingml/2006/main">
            <a:r>
              <a:t/>
            </a:r>
          </a:p>
          <a:p xmlns:a="http://schemas.openxmlformats.org/drawingml/2006/main">
            <a:r>
              <a:t>Teaching points:</a:t>
            </a:r>
          </a:p>
          <a:p xmlns:a="http://schemas.openxmlformats.org/drawingml/2006/main">
            <a:r>
              <a:t>Effective AI coding with GitHub Copilot and similar assistants</a:t>
            </a:r>
          </a:p>
          <a:p xmlns:a="http://schemas.openxmlformats.org/drawingml/2006/main">
            <a:r>
              <a:t>Prompts, context, verification, token economics and agent swarms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Explain the failure mode: production ready has no executable meaning by itself. The assistant may add retries, new dependencies, logging and a new architecture. Those choices expand the review burden. Ask the audience which part they could confidently approve. The first improvement is a bounded task: stop duplicate charges when the same payment request is retried. The assistant can help explore options, but the engineer owns the requirements. This is an illustrative scenario, not a real incident.</a:t>
            </a:r>
          </a:p>
          <a:p xmlns:a="http://schemas.openxmlformats.org/drawingml/2006/main">
            <a:r>
              <a:t/>
            </a:r>
          </a:p>
          <a:p xmlns:a="http://schemas.openxmlformats.org/drawingml/2006/main">
            <a:r>
              <a:t>Teaching points:</a:t>
            </a:r>
          </a:p>
          <a:p xmlns:a="http://schemas.openxmlformats.org/drawingml/2006/main">
            <a:r>
              <a:t>A vague task invites assumptions</a:t>
            </a:r>
          </a:p>
          <a:p xmlns:a="http://schemas.openxmlformats.org/drawingml/2006/main">
            <a:r>
              <a:t>A large diff hides unrelated changes</a:t>
            </a:r>
          </a:p>
          <a:p xmlns:a="http://schemas.openxmlformats.org/drawingml/2006/main">
            <a:r>
              <a:t>Define one observable outcome before editing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These are workflow categories, not a promise that every product uses the same menu labels. Completion helps with nearby code. Chat helps clarify a concept or inspect a failure. An agent can search, edit and run checks. A cloud agent can work in a remote environment and prepare a change for review. Product features vary by IDE, version, policy and plan. Choose the least complex workflow that can complete the job. Source: https://code.visualstudio.com/docs/agents/overview</a:t>
            </a:r>
          </a:p>
          <a:p xmlns:a="http://schemas.openxmlformats.org/drawingml/2006/main">
            <a:r>
              <a:t/>
            </a:r>
          </a:p>
          <a:p xmlns:a="http://schemas.openxmlformats.org/drawingml/2006/main">
            <a:r>
              <a:t>Teaching points:</a:t>
            </a:r>
          </a:p>
          <a:p xmlns:a="http://schemas.openxmlformats.org/drawingml/2006/main">
            <a:r>
              <a:t>Completion: a local continuation</a:t>
            </a:r>
          </a:p>
          <a:p xmlns:a="http://schemas.openxmlformats.org/drawingml/2006/main">
            <a:r>
              <a:t>Chat: explanation or diagnosis</a:t>
            </a:r>
          </a:p>
          <a:p xmlns:a="http://schemas.openxmlformats.org/drawingml/2006/main">
            <a:r>
              <a:t>Agent: edits and tool use across files</a:t>
            </a:r>
          </a:p>
          <a:p xmlns:a="http://schemas.openxmlformats.org/drawingml/2006/main">
            <a:r>
              <a:t>Cloud task: isolated work for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Modes describe the job and available tools, not a security boundary. Exact tool access and behavior vary by client, version, selected agent and policy. Ask is primarily explanatory; Plan researches and produces a plan before implementation; Agent makes changes and can run tools iteratively. Edit mode is legacy/deprecated in current VS Code and is not a required step in this workflow.</a:t>
            </a:r>
          </a:p>
          <a:p xmlns:a="http://schemas.openxmlformats.org/drawingml/2006/main">
            <a:r>
              <a:t>Sources (checked 7 Oct 2026):</a:t>
            </a:r>
          </a:p>
          <a:p xmlns:a="http://schemas.openxmlformats.org/drawingml/2006/main">
            <a:r>
              <a:t>https://code.visualstudio.com/docs/agents/overview</a:t>
            </a:r>
          </a:p>
          <a:p xmlns:a="http://schemas.openxmlformats.org/drawingml/2006/main">
            <a:r>
              <a:t>https://code.visualstudio.com/docs/agents/run/planning</a:t>
            </a:r>
          </a:p>
          <a:p xmlns:a="http://schemas.openxmlformats.org/drawingml/2006/main">
            <a:r>
              <a:t>https://code.visualstudio.com/docs/agents/reference/ai-settings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READY-TO-USE EXERCISE · 6 minutes</a:t>
            </a:r>
          </a:p>
          <a:p xmlns:a="http://schemas.openxmlformats.org/drawingml/2006/main">
            <a:r>
              <a:t>Setup: use a toy checkout repository with a retry bug and no credentials. Select Ask. Prompt: “Trace the retry path for checkout. Cite file paths and relevant functions. Explain how a timeout could create a duplicate charge. List what you cannot confirm. Do not change files.”</a:t>
            </a:r>
          </a:p>
          <a:p xmlns:a="http://schemas.openxmlformats.org/drawingml/2006/main">
            <a:r>
              <a:t>Deliverable: one call-path sketch, two cited facts and one hypothesis. Pass: no edits; each claim can be checked against code. Discuss whether the assistant invented an API or asserted a root cause without evidence.</a:t>
            </a:r>
          </a:p>
          <a:p xmlns:a="http://schemas.openxmlformats.org/drawingml/2006/main">
            <a:r>
              <a:t>https://code.visualstudio.com/docs/agents/overview</a:t>
            </a:r>
          </a:p>
          <a:p xmlns:a="http://schemas.openxmlformats.org/drawingml/2006/main">
            <a:r>
              <a:t>https://code.visualstudio.com/docs/agents/run/planning</a:t>
            </a:r>
          </a:p>
          <a:p xmlns:a="http://schemas.openxmlformats.org/drawingml/2006/main">
            <a:r>
              <a:t/>
            </a:r>
          </a:p>
          <a:p xmlns:a="http://schemas.openxmlformats.org/drawingml/2006/main">
            <a:r>
              <a:t>Teaching points:</a:t>
            </a:r>
          </a:p>
          <a:p xmlns:a="http://schemas.openxmlformats.org/drawingml/2006/main">
            <a:r>
              <a:t>Request an explanation grounded in files</a:t>
            </a:r>
          </a:p>
          <a:p xmlns:a="http://schemas.openxmlformats.org/drawingml/2006/main">
            <a:r>
              <a:t>Separate facts from guesses</a:t>
            </a:r>
          </a:p>
          <a:p xmlns:a="http://schemas.openxmlformats.org/drawingml/2006/main">
            <a:r>
              <a:t>Turn the answer into a testable hypothesis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READY-TO-USE EXERCISE · 8 minutes</a:t>
            </a:r>
          </a:p>
          <a:p xmlns:a="http://schemas.openxmlformats.org/drawingml/2006/main">
            <a:r>
              <a:t>Using the same toy checkout bug, select Plan. Prompt: “Plan a minimal fix for duplicate charges after a timeout. Identify uncertainties, files likely to change, a failing regression test, compatibility risks and rollback. Ask any blocking questions. Do not implement.”</a:t>
            </a:r>
          </a:p>
          <a:p xmlns:a="http://schemas.openxmlformats.org/drawingml/2006/main">
            <a:r>
              <a:t>Deliverable: a reviewed 3–5 step plan with acceptance criteria. Pass: defines idempotency behavior, limits scope and tests ambiguous timeout handling. Reject an unrelated redesign. Hand off only after resolving the important assumptions.</a:t>
            </a:r>
          </a:p>
          <a:p xmlns:a="http://schemas.openxmlformats.org/drawingml/2006/main">
            <a:r>
              <a:t>https://code.visualstudio.com/docs/agents/overview</a:t>
            </a:r>
          </a:p>
          <a:p xmlns:a="http://schemas.openxmlformats.org/drawingml/2006/main">
            <a:r>
              <a:t>https://code.visualstudio.com/docs/agents/run/planning</a:t>
            </a:r>
          </a:p>
          <a:p xmlns:a="http://schemas.openxmlformats.org/drawingml/2006/main">
            <a:r>
              <a:t/>
            </a:r>
          </a:p>
          <a:p xmlns:a="http://schemas.openxmlformats.org/drawingml/2006/main">
            <a:r>
              <a:t>Teaching points:</a:t>
            </a:r>
          </a:p>
          <a:p xmlns:a="http://schemas.openxmlformats.org/drawingml/2006/main">
            <a:r>
              <a:t>Ask for clarifying questions and risks</a:t>
            </a:r>
          </a:p>
          <a:p xmlns:a="http://schemas.openxmlformats.org/drawingml/2006/main">
            <a:r>
              <a:t>Name files, steps and regression tests</a:t>
            </a:r>
          </a:p>
          <a:p xmlns:a="http://schemas.openxmlformats.org/drawingml/2006/main">
            <a:r>
              <a:t>Review scope before handing off to 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READY-TO-USE EXERCISE · 12 minutes</a:t>
            </a:r>
          </a:p>
          <a:p xmlns:a="http://schemas.openxmlformats.org/drawingml/2006/main">
            <a:r>
              <a:t>Create a disposable branch of the toy repository. Select Agent. Prompt: “Implement the reviewed idempotency plan. Change only checkout code and its regression tests. Preserve public interfaces. Run the relevant tests and report commands, outcomes, remaining risks and changed files. Stop and ask if scope must expand.”</a:t>
            </a:r>
          </a:p>
          <a:p xmlns:a="http://schemas.openxmlformats.org/drawingml/2006/main">
            <a:r>
              <a:t>Deliverable: diff plus verification report. Pass: duplicate charge regression is demonstrated, the fix is scoped, and the report accurately describes executed tests. Prompt restrictions are instructions; enforce access limits with real environment controls.</a:t>
            </a:r>
          </a:p>
          <a:p xmlns:a="http://schemas.openxmlformats.org/drawingml/2006/main">
            <a:r>
              <a:t>https://code.visualstudio.com/docs/agents/overview</a:t>
            </a:r>
          </a:p>
          <a:p xmlns:a="http://schemas.openxmlformats.org/drawingml/2006/main">
            <a:r>
              <a:t>https://code.visualstudio.com/docs/agents/run/planning</a:t>
            </a:r>
          </a:p>
          <a:p xmlns:a="http://schemas.openxmlformats.org/drawingml/2006/main">
            <a:r>
              <a:t/>
            </a:r>
          </a:p>
          <a:p xmlns:a="http://schemas.openxmlformats.org/drawingml/2006/main">
            <a:r>
              <a:t>Teaching points:</a:t>
            </a:r>
          </a:p>
          <a:p xmlns:a="http://schemas.openxmlformats.org/drawingml/2006/main">
            <a:r>
              <a:t>Give a bounded task and acceptance criteria</a:t>
            </a:r>
          </a:p>
          <a:p xmlns:a="http://schemas.openxmlformats.org/drawingml/2006/main">
            <a:r>
              <a:t>Review tool requests and side effects</a:t>
            </a:r>
          </a:p>
          <a:p xmlns:a="http://schemas.openxmlformats.org/drawingml/2006/main">
            <a:r>
              <a:t>Inspect the diff and test evidence yourself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Use a new teammate metaphor. A talented teammate still needs the bug report, relevant code and definition of done. A long prompt full of enthusiasm adds less value than a short prompt with precise requirements. Ask participants to rewrite fix this as a behavior statement. Explain that constraints should identify real boundaries, such as no API contract change, rather than arbitrary micromanagement. This four-part brief is a workshop recommendation.</a:t>
            </a:r>
          </a:p>
          <a:p xmlns:a="http://schemas.openxmlformats.org/drawingml/2006/main">
            <a:r>
              <a:t/>
            </a:r>
          </a:p>
          <a:p xmlns:a="http://schemas.openxmlformats.org/drawingml/2006/main">
            <a:r>
              <a:t>Teaching points:</a:t>
            </a:r>
          </a:p>
          <a:p xmlns:a="http://schemas.openxmlformats.org/drawingml/2006/main">
            <a:r>
              <a:t>Outcome: what must happen?</a:t>
            </a:r>
          </a:p>
          <a:p xmlns:a="http://schemas.openxmlformats.org/drawingml/2006/main">
            <a:r>
              <a:t>Evidence: what happens today?</a:t>
            </a:r>
          </a:p>
          <a:p xmlns:a="http://schemas.openxmlformats.org/drawingml/2006/main">
            <a:r>
              <a:t>Scope: which files may change?</a:t>
            </a:r>
          </a:p>
          <a:p xmlns:a="http://schemas.openxmlformats.org/drawingml/2006/main">
            <a:r>
              <a:t>Checks: what proves the fix?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minutes. Establish the example contract. These are assumptions for this workshop, not universal payment API rules. An idempotency key identifies one logical request. Two simultaneous requests must not create two charges. A repeated key with a changed amount must fail. A provider timeout means the outcome may be unknown, so a naive retry can duplicate work. The exercise concerns the local implementation and its stated provider contract. The assistant should inspect storage uniqueness, concurrency behavior and recovery semantics before proposing a patch.</a:t>
            </a:r>
          </a:p>
          <a:p xmlns:a="http://schemas.openxmlformats.org/drawingml/2006/main">
            <a:r>
              <a:t/>
            </a:r>
          </a:p>
          <a:p xmlns:a="http://schemas.openxmlformats.org/drawingml/2006/main">
            <a:r>
              <a:t>Teaching points:</a:t>
            </a:r>
          </a:p>
          <a:p xmlns:a="http://schemas.openxmlformats.org/drawingml/2006/main">
            <a:r>
              <a:t>Same key + same payload: reuse the result</a:t>
            </a:r>
          </a:p>
          <a:p xmlns:a="http://schemas.openxmlformats.org/drawingml/2006/main">
            <a:r>
              <a:t>Same key + different payload: reject</a:t>
            </a:r>
          </a:p>
          <a:p xmlns:a="http://schemas.openxmlformats.org/drawingml/2006/main">
            <a:r>
              <a:t>Concurrent retries: create one charge</a:t>
            </a:r>
          </a:p>
          <a:p xmlns:a="http://schemas.openxmlformats.org/drawingml/2006/main">
            <a:r>
              <a:t>A timeout may hide a successful charge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minutes. Read the bad version aloud, then pause after each sentence of the stronger prompt and ask what uncertainty it removes. The named files are illustrative. Participants should substitute their own repository paths. The instruction do not edit yet helps stage the work, but a prompt is not a security permission boundary. The assistant should locate actual implementation and test commands rather than invent them. Source: https://code.visualstudio.com/docs/agents/guides/explore-a-codebase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These are strong starting tasks because the reviewer can inspect the output and judge success. Existing patterns give the assistant useful context. A refactor needs tests for the behavior it must preserve. Repetitive code generation should follow an actual project example, not a generic library assumption. For architecture or high-impact changes, use the assistant to explore and compare alternatives, then keep human review and the team delivery process. Source: https://code.visualstudio.com/docs/agents/best-practices</a:t>
            </a:r>
          </a:p>
          <a:p xmlns:a="http://schemas.openxmlformats.org/drawingml/2006/main">
            <a:r>
              <a:t/>
            </a:r>
          </a:p>
          <a:p xmlns:a="http://schemas.openxmlformats.org/drawingml/2006/main">
            <a:r>
              <a:t>Teaching points:</a:t>
            </a:r>
          </a:p>
          <a:p xmlns:a="http://schemas.openxmlformats.org/drawingml/2006/main">
            <a:r>
              <a:t>Explain unfamiliar code with file references</a:t>
            </a:r>
          </a:p>
          <a:p xmlns:a="http://schemas.openxmlformats.org/drawingml/2006/main">
            <a:r>
              <a:t>Add a focused regression test</a:t>
            </a:r>
          </a:p>
          <a:p xmlns:a="http://schemas.openxmlformats.org/drawingml/2006/main">
            <a:r>
              <a:t>Refactor one seam with a stable contract</a:t>
            </a:r>
          </a:p>
          <a:p xmlns:a="http://schemas.openxmlformats.org/drawingml/2006/main">
            <a:r>
              <a:t>Generate repetitive code from a real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The desk is a metaphor for the material available to a model on a request. It is not a diagram of model internals. A request can include instructions, messages, code and tool results. Irrelevant material can consume budget and distract from the key evidence. Avoid the simplistic rule that shorter is always better. Removing a critical contract to save tokens can cause costly rework. Source: https://code.visualstudio.com/docs/agents/concepts/context</a:t>
            </a:r>
          </a:p>
          <a:p xmlns:a="http://schemas.openxmlformats.org/drawingml/2006/main">
            <a:r>
              <a:t/>
            </a:r>
          </a:p>
          <a:p xmlns:a="http://schemas.openxmlformats.org/drawingml/2006/main">
            <a:r>
              <a:t>Teaching points:</a:t>
            </a:r>
          </a:p>
          <a:p xmlns:a="http://schemas.openxmlformats.org/drawingml/2006/main">
            <a:r>
              <a:t>Relevant code competes with stale history</a:t>
            </a:r>
          </a:p>
          <a:p xmlns:a="http://schemas.openxmlformats.org/drawingml/2006/main">
            <a:r>
              <a:t>Generated files and full logs add noise</a:t>
            </a:r>
          </a:p>
          <a:p xmlns:a="http://schemas.openxmlformats.org/drawingml/2006/main">
            <a:r>
              <a:t>A large context window does not guarantee a correct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Demonstrate selecting a relevant function and attaching a file or symbol through the IDE context picker. The exact syntax varies, so use the UI available in the installed version. Include the minimum surrounding code required to understand the behavior. Include package versions if a solution depends on library APIs. A request that refers to a file does not automatically imply the model has read every byte of it. Source: https://code.visualstudio.com/docs/agents/reference/workspace-context</a:t>
            </a:r>
          </a:p>
          <a:p xmlns:a="http://schemas.openxmlformats.org/drawingml/2006/main">
            <a:r>
              <a:t/>
            </a:r>
          </a:p>
          <a:p xmlns:a="http://schemas.openxmlformats.org/drawingml/2006/main">
            <a:r>
              <a:t>Teaching points:</a:t>
            </a:r>
          </a:p>
          <a:p xmlns:a="http://schemas.openxmlformats.org/drawingml/2006/main">
            <a:r>
              <a:t>Attach the failing function and its callers</a:t>
            </a:r>
          </a:p>
          <a:p xmlns:a="http://schemas.openxmlformats.org/drawingml/2006/main">
            <a:r>
              <a:t>Include the test and exact error</a:t>
            </a:r>
          </a:p>
          <a:p xmlns:a="http://schemas.openxmlformats.org/drawingml/2006/main">
            <a:r>
              <a:t>Add the interface, schema and versions</a:t>
            </a:r>
          </a:p>
          <a:p xmlns:a="http://schemas.openxmlformats.org/drawingml/2006/main">
            <a:r>
              <a:t>Reference files or symbols in the 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GitHub Copilot supports repository custom instructions, including .github/copilot-instructions.md. Support and additional instruction formats vary by feature and IDE. Instructions should be short, current and broadly applicable. They are context, not deterministic enforcement. CI still needs to enforce the critical rules. Avoid an enormous permanent instruction document that repeats obvious generic advice. Source: https://docs.github.com/en/copilot/concepts/prompting/response-customization?tool=vscode</a:t>
            </a:r>
          </a:p>
          <a:p xmlns:a="http://schemas.openxmlformats.org/drawingml/2006/main">
            <a:r>
              <a:t/>
            </a:r>
          </a:p>
          <a:p xmlns:a="http://schemas.openxmlformats.org/drawingml/2006/main">
            <a:r>
              <a:t>Teaching points:</a:t>
            </a:r>
          </a:p>
          <a:p xmlns:a="http://schemas.openxmlformats.org/drawingml/2006/main">
            <a:r>
              <a:t>Keep stable rules in repository instructions</a:t>
            </a:r>
          </a:p>
          <a:p xmlns:a="http://schemas.openxmlformats.org/drawingml/2006/main">
            <a:r>
              <a:t>Record build and test commands</a:t>
            </a:r>
          </a:p>
          <a:p xmlns:a="http://schemas.openxmlformats.org/drawingml/2006/main">
            <a:r>
              <a:t>Describe architecture boundaries</a:t>
            </a:r>
          </a:p>
          <a:p xmlns:a="http://schemas.openxmlformats.org/drawingml/2006/main">
            <a:r>
              <a:t>Keep task-specific details in the current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This is sample content, not a file installed into the user repository. Confirm all commands against the real project before saving it. The instruction file should help the assistant find the real test environment and preserve team conventions. A sensitive-data rule complements access controls and scanners but cannot replace them. The sample deliberately separates enduring project rules from a particular bug. Source: https://docs.github.com/en/copilot/concepts/prompting/response-customization?tool=vscode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Planning earns its cost when the change crosses files, depends on contracts or has consequential failure modes. A trivial edit does not need a ceremony. Ask for a concise implementation plan grounded in repository evidence. In our payment example, a process-local flag is insufficient across replicas. The reviewer should ask where uniqueness and state transitions are enforced. The assistant should not claim that one database technique solves provider-side uncertainty without inspecting the integration contract. Source: https://docs.github.com/en/copilot/tutorials/cloud-agent/get-the-best-results</a:t>
            </a:r>
          </a:p>
          <a:p xmlns:a="http://schemas.openxmlformats.org/drawingml/2006/main">
            <a:r>
              <a:t/>
            </a:r>
          </a:p>
          <a:p xmlns:a="http://schemas.openxmlformats.org/drawingml/2006/main">
            <a:r>
              <a:t>Teaching points:</a:t>
            </a:r>
          </a:p>
          <a:p xmlns:a="http://schemas.openxmlformats.org/drawingml/2006/main">
            <a:r>
              <a:t>Trace the failing execution path</a:t>
            </a:r>
          </a:p>
          <a:p xmlns:a="http://schemas.openxmlformats.org/drawingml/2006/main">
            <a:r>
              <a:t>List the files and contract changes</a:t>
            </a:r>
          </a:p>
          <a:p xmlns:a="http://schemas.openxmlformats.org/drawingml/2006/main">
            <a:r>
              <a:t>Name assumptions and edge cases</a:t>
            </a:r>
          </a:p>
          <a:p xmlns:a="http://schemas.openxmlformats.org/drawingml/2006/main">
            <a:r>
              <a:t>Review the plan before a broad 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A small patch makes it easier to identify an unintended dependency update, formatting churn or contract change. Read the entire diff and the affected callers. Establish a clean branch or checkpoint before agent edits. Checkpoint behavior depends on the tool, so do not assume an IDE undo feature replaces Git. If the assistant makes unrelated changes, isolate and revert those changes without discarding the intended fix. Source: https://code.visualstudio.com/docs/agents/guides/fix-a-bug-with-agents</a:t>
            </a:r>
          </a:p>
          <a:p xmlns:a="http://schemas.openxmlformats.org/drawingml/2006/main">
            <a:r>
              <a:t/>
            </a:r>
          </a:p>
          <a:p xmlns:a="http://schemas.openxmlformats.org/drawingml/2006/main">
            <a:r>
              <a:t>Teaching points:</a:t>
            </a:r>
          </a:p>
          <a:p xmlns:a="http://schemas.openxmlformats.org/drawingml/2006/main">
            <a:r>
              <a:t>Restrict edits to the agreed behavior</a:t>
            </a:r>
          </a:p>
          <a:p xmlns:a="http://schemas.openxmlformats.org/drawingml/2006/main">
            <a:r>
              <a:t>Separate cleanup from the bug fix</a:t>
            </a:r>
          </a:p>
          <a:p xmlns:a="http://schemas.openxmlformats.org/drawingml/2006/main">
            <a:r>
              <a:t>Inspect the diff after each increment</a:t>
            </a:r>
          </a:p>
          <a:p xmlns:a="http://schemas.openxmlformats.org/drawingml/2006/main">
            <a:r>
              <a:t>Keep a known-good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minutes. A test that simply restates the generated implementation can validate the wrong thing. Derive expectations from the contract, independently of the proposed code. For this example, assert one charge under concurrent same-key calls and a conflict for a different payload. Include realistic storage behavior where possible because an in-memory mock may hide a race. Confirm that the regression fails on the old code for the intended reason. A setup error does not prove the bug. Source: https://code.visualstudio.com/docs/agents/guides/test-code-with-ai</a:t>
            </a:r>
          </a:p>
          <a:p xmlns:a="http://schemas.openxmlformats.org/drawingml/2006/main">
            <a:r>
              <a:t/>
            </a:r>
          </a:p>
          <a:p xmlns:a="http://schemas.openxmlformats.org/drawingml/2006/main">
            <a:r>
              <a:t>Teaching points:</a:t>
            </a:r>
          </a:p>
          <a:p xmlns:a="http://schemas.openxmlformats.org/drawingml/2006/main">
            <a:r>
              <a:t>Make the regression fail before the fix</a:t>
            </a:r>
          </a:p>
          <a:p xmlns:a="http://schemas.openxmlformats.org/drawingml/2006/main">
            <a:r>
              <a:t>Test concurrency and changed payloads</a:t>
            </a:r>
          </a:p>
          <a:p xmlns:a="http://schemas.openxmlformats.org/drawingml/2006/main">
            <a:r>
              <a:t>Check timeout recovery separately</a:t>
            </a:r>
          </a:p>
          <a:p xmlns:a="http://schemas.openxmlformats.org/drawingml/2006/main">
            <a:r>
              <a:t>Inspect assertions, mocks and skipped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The fictional safeRetryForever method is a joke, not a real API. An assistant can blend similar APIs or use a newer version than the project supports. Request evidence from the installed package, repository or official documentation. Confirm package existence, ownership, license and compatibility through the team process. An import error is useful feedback, but running unfamiliar code still needs appropriate permissions and environment isolation. This is general engineering guidance.</a:t>
            </a:r>
          </a:p>
          <a:p xmlns:a="http://schemas.openxmlformats.org/drawingml/2006/main">
            <a:r>
              <a:t/>
            </a:r>
          </a:p>
          <a:p xmlns:a="http://schemas.openxmlformats.org/drawingml/2006/main">
            <a:r>
              <a:t>Teaching points:</a:t>
            </a:r>
          </a:p>
          <a:p xmlns:a="http://schemas.openxmlformats.org/drawingml/2006/main">
            <a:r>
              <a:t>Check the lockfile and actual package</a:t>
            </a:r>
          </a:p>
          <a:p xmlns:a="http://schemas.openxmlformats.org/drawingml/2006/main">
            <a:r>
              <a:t>Ask for file or documentation evidence</a:t>
            </a:r>
          </a:p>
          <a:p xmlns:a="http://schemas.openxmlformats.org/drawingml/2006/main">
            <a:r>
              <a:t>Compile and run a minimal check</a:t>
            </a:r>
          </a:p>
          <a:p xmlns:a="http://schemas.openxmlformats.org/drawingml/2006/main">
            <a:r>
              <a:t>Verify new dependencies before adopting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Changing the reviewer prompt helps the assistant look for falsifying evidence instead of defending its own patch. A separate session or agent can reduce contamination from the implementation conversation, but it does not guarantee independent errors. Ask it to report only concrete findings with evidence and a reproducible case. The engineer evaluates each finding. A second model is optional and adds cost. Passing reviews and tests still cannot prove every production behavior. Source: https://code.visualstudio.com/docs/agents/best-practices</a:t>
            </a:r>
          </a:p>
          <a:p xmlns:a="http://schemas.openxmlformats.org/drawingml/2006/main">
            <a:r>
              <a:t/>
            </a:r>
          </a:p>
          <a:p xmlns:a="http://schemas.openxmlformats.org/drawingml/2006/main">
            <a:r>
              <a:t>Teaching points:</a:t>
            </a:r>
          </a:p>
          <a:p xmlns:a="http://schemas.openxmlformats.org/drawingml/2006/main">
            <a:r>
              <a:t>Review against the original contract</a:t>
            </a:r>
          </a:p>
          <a:p xmlns:a="http://schemas.openxmlformats.org/drawingml/2006/main">
            <a:r>
              <a:t>Seek counterexamples and missed callers</a:t>
            </a:r>
          </a:p>
          <a:p xmlns:a="http://schemas.openxmlformats.org/drawingml/2006/main">
            <a:r>
              <a:t>Ask for file and line evidence</a:t>
            </a:r>
          </a:p>
          <a:p xmlns:a="http://schemas.openxmlformats.org/drawingml/2006/main">
            <a:r>
              <a:t>Keep human review and CI gates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The problem with is it good is that it supplies no evaluation criteria. This prompt sets a failure-oriented lens and asks for evidence. Its no-edit instruction establishes a workflow preference, not a hard security boundary. Reviewers should also check user authorization, backward compatibility and the true storage semantics as relevant to their application. Do not treat every speculative finding as a defect.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Set an explicit iteration or spend budget for a long-running task. If the agent repeats a failing strategy, pause and inspect the cause: wrong hypothesis, missing tool access, incorrect environment or bad specification. More model calls do not resolve a missing dependency. A fresh session can help after topic drift, but it needs an accurate summary. Product controls vary. Source: https://code.visualstudio.com/docs/agents/guides/get-agent-back-on-track</a:t>
            </a:r>
          </a:p>
          <a:p xmlns:a="http://schemas.openxmlformats.org/drawingml/2006/main">
            <a:r>
              <a:t/>
            </a:r>
          </a:p>
          <a:p xmlns:a="http://schemas.openxmlformats.org/drawingml/2006/main">
            <a:r>
              <a:t>Teaching points:</a:t>
            </a:r>
          </a:p>
          <a:p xmlns:a="http://schemas.openxmlformats.org/drawingml/2006/main">
            <a:r>
              <a:t>Stop when the same failure repeats</a:t>
            </a:r>
          </a:p>
          <a:p xmlns:a="http://schemas.openxmlformats.org/drawingml/2006/main">
            <a:r>
              <a:t>Capture the exact command and output</a:t>
            </a:r>
          </a:p>
          <a:p xmlns:a="http://schemas.openxmlformats.org/drawingml/2006/main">
            <a:r>
              <a:t>Compare a hypothesis with a counterexample</a:t>
            </a:r>
          </a:p>
          <a:p xmlns:a="http://schemas.openxmlformats.org/drawingml/2006/main">
            <a:r>
              <a:t>Restart with a concise handoff when context drifts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Prompt injection can arrive through repository content, retrieved documents or tool outputs. Telling an assistant never expose secrets is useful but does not restrict its filesystem or network access. Apply actual access controls and sandboxing for the work it performs. Watch changes to CI, scripts, dependencies and instruction files because these can alter subsequent execution. Follow the approved enterprise tool and data policies. Source: https://code.visualstudio.com/docs/agents/run/security</a:t>
            </a:r>
          </a:p>
          <a:p xmlns:a="http://schemas.openxmlformats.org/drawingml/2006/main">
            <a:r>
              <a:t/>
            </a:r>
          </a:p>
          <a:p xmlns:a="http://schemas.openxmlformats.org/drawingml/2006/main">
            <a:r>
              <a:t>Teaching points:</a:t>
            </a:r>
          </a:p>
          <a:p xmlns:a="http://schemas.openxmlformats.org/drawingml/2006/main">
            <a:r>
              <a:t>Treat external text as untrusted data</a:t>
            </a:r>
          </a:p>
          <a:p xmlns:a="http://schemas.openxmlformats.org/drawingml/2006/main">
            <a:r>
              <a:t>Review commands and tool permissions</a:t>
            </a:r>
          </a:p>
          <a:p xmlns:a="http://schemas.openxmlformats.org/drawingml/2006/main">
            <a:r>
              <a:t>Use a sandbox and least privilege</a:t>
            </a:r>
          </a:p>
          <a:p xmlns:a="http://schemas.openxmlformats.org/drawingml/2006/main">
            <a:r>
              <a:t>Keep secrets out of prompts and 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YOLO is informal shorthand for broad automatic approval. In Copilot CLI, --yolo aliases --allow-all and grants tool, path and URL permissions without per-action approval. It is distinct from autopilot, which continues across steps without follow-up prompts; they can be combined. YOLO does not improve reasoning and cannot exceed the credentials, operating-system permissions, network restrictions, sandbox or enterprise policies actually available. “All” is a permission setting, not a guarantee of unrestricted system access.</a:t>
            </a:r>
          </a:p>
          <a:p xmlns:a="http://schemas.openxmlformats.org/drawingml/2006/main">
            <a:r>
              <a:t>Do not use these flags for this workshop exercise.</a:t>
            </a:r>
          </a:p>
          <a:p xmlns:a="http://schemas.openxmlformats.org/drawingml/2006/main">
            <a:r>
              <a:t>Sources (checked 7 Oct 2026):</a:t>
            </a:r>
          </a:p>
          <a:p xmlns:a="http://schemas.openxmlformats.org/drawingml/2006/main">
            <a:r>
              <a:t>https://docs.github.com/en/copilot/concepts/agents/copilot-cli/autopilot</a:t>
            </a:r>
          </a:p>
          <a:p xmlns:a="http://schemas.openxmlformats.org/drawingml/2006/main">
            <a:r>
              <a:t>https://docs.github.com/en/copilot/how-tos/copilot-cli/use-copilot-cli/allowing-tools</a:t>
            </a:r>
          </a:p>
          <a:p xmlns:a="http://schemas.openxmlformats.org/drawingml/2006/main">
            <a:r>
              <a:t>https://code.visualstudio.com/docs/agents/run/security</a:t>
            </a:r>
          </a:p>
          <a:p xmlns:a="http://schemas.openxmlformats.org/drawingml/2006/main">
            <a:r>
              <a:t/>
            </a:r>
          </a:p>
          <a:p xmlns:a="http://schemas.openxmlformats.org/drawingml/2006/main">
            <a:r>
              <a:t>Teaching points:</a:t>
            </a:r>
          </a:p>
          <a:p xmlns:a="http://schemas.openxmlformats.org/drawingml/2006/main">
            <a:r>
              <a:t>Copilot CLI: --yolo is an alias for --allow-all</a:t>
            </a:r>
          </a:p>
          <a:p xmlns:a="http://schemas.openxmlformats.org/drawingml/2006/main">
            <a:r>
              <a:t>Tools, paths and URLs can be pre-approved</a:t>
            </a:r>
          </a:p>
          <a:p xmlns:a="http://schemas.openxmlformats.org/drawingml/2006/main">
            <a:r>
              <a:t>Autopilot keeps going; YOLO permits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Examples are possible failure modes, not claims that every agent will perform them. Prompt injection occurs when untrusted repository, document or tool content attempts to redirect the agent. Approvals and least privilege reduce exposure; neither replaces review.</a:t>
            </a:r>
          </a:p>
          <a:p xmlns:a="http://schemas.openxmlformats.org/drawingml/2006/main">
            <a:r>
              <a:t>Discussion exercise: pick the highest-impact risk in your own development environment, then identify the credential or tool capability that makes it possible.</a:t>
            </a:r>
          </a:p>
          <a:p xmlns:a="http://schemas.openxmlformats.org/drawingml/2006/main">
            <a:r>
              <a:t>https://docs.github.com/en/copilot/concepts/agents/copilot-cli/autopilot</a:t>
            </a:r>
          </a:p>
          <a:p xmlns:a="http://schemas.openxmlformats.org/drawingml/2006/main">
            <a:r>
              <a:t>https://docs.github.com/en/copilot/how-tos/copilot-cli/use-copilot-cli/allowing-tools</a:t>
            </a:r>
          </a:p>
          <a:p xmlns:a="http://schemas.openxmlformats.org/drawingml/2006/main">
            <a:r>
              <a:t>https://code.visualstudio.com/docs/agents/run/security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READY-TO-USE EXERCISE · 7 minutes</a:t>
            </a:r>
          </a:p>
          <a:p xmlns:a="http://schemas.openxmlformats.org/drawingml/2006/main">
            <a:r>
              <a:t>Tabletop only. Give learners two proposed diffs: A adds an idempotency key plus a regression test; B deletes the duplicate-charge assertion and disables the flaky test. Both CI dashboards are green. Ask learners to choose which meets the contract and explain why.</a:t>
            </a:r>
          </a:p>
          <a:p xmlns:a="http://schemas.openxmlformats.org/drawingml/2006/main">
            <a:r>
              <a:t>Pass: rejects B, identifies the removed coverage, and asks for evidence that repeated requests charge once. YOLO may remove the pause at which a human would catch this change; the underlying reasoning failure is possible in any mode.</a:t>
            </a:r>
          </a:p>
          <a:p xmlns:a="http://schemas.openxmlformats.org/drawingml/2006/main">
            <a:r>
              <a:t>https://docs.github.com/en/copilot/concepts/agents/copilot-cli/autopilot</a:t>
            </a:r>
          </a:p>
          <a:p xmlns:a="http://schemas.openxmlformats.org/drawingml/2006/main">
            <a:r>
              <a:t>https://docs.github.com/en/copilot/how-tos/copilot-cli/use-copilot-cli/allowing-tools</a:t>
            </a:r>
          </a:p>
          <a:p xmlns:a="http://schemas.openxmlformats.org/drawingml/2006/main">
            <a:r>
              <a:t>https://code.visualstudio.com/docs/agents/run/security</a:t>
            </a:r>
          </a:p>
          <a:p xmlns:a="http://schemas.openxmlformats.org/drawingml/2006/main">
            <a:r>
              <a:t/>
            </a:r>
          </a:p>
          <a:p xmlns:a="http://schemas.openxmlformats.org/drawingml/2006/main">
            <a:r>
              <a:t>Teaching points:</a:t>
            </a:r>
          </a:p>
          <a:p xmlns:a="http://schemas.openxmlformats.org/drawingml/2006/main">
            <a:r>
              <a:t>A broad goal can invite a harmful shortcut</a:t>
            </a:r>
          </a:p>
          <a:p xmlns:a="http://schemas.openxmlformats.org/drawingml/2006/main">
            <a:r>
              <a:t>Inspect tests as carefully as production code</a:t>
            </a:r>
          </a:p>
          <a:p xmlns:a="http://schemas.openxmlformats.org/drawingml/2006/main">
            <a:r>
              <a:t>Require independent acceptance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READY-TO-USE EXERCISE · 8 minutes</a:t>
            </a:r>
          </a:p>
          <a:p xmlns:a="http://schemas.openxmlformats.org/drawingml/2006/main">
            <a:r>
              <a:t>Do not enable YOLO. Design a contained environment for an agent experimenting with the toy checkout bug. Choose: disposable container or VM; repository-only filesystem access; synthetic data; no production tokens; denied or explicitly limited outbound network; bounded runtime and request budget; visible logs; Git checkpoint; independent tests and human review before changes leave the sandbox.</a:t>
            </a:r>
          </a:p>
          <a:p xmlns:a="http://schemas.openxmlformats.org/drawingml/2006/main">
            <a:r>
              <a:t>Deliverable: list the actual controls and what each blocks. Pass: distinguishes implemented controls from prompt requests. A Git branch is a recovery aid, not filesystem or credential isolation. A prompt saying “do not access secrets” is not an enforced boundary.</a:t>
            </a:r>
          </a:p>
          <a:p xmlns:a="http://schemas.openxmlformats.org/drawingml/2006/main">
            <a:r>
              <a:t>https://docs.github.com/en/copilot/concepts/agents/copilot-cli/autopilot</a:t>
            </a:r>
          </a:p>
          <a:p xmlns:a="http://schemas.openxmlformats.org/drawingml/2006/main">
            <a:r>
              <a:t>https://docs.github.com/en/copilot/how-tos/copilot-cli/use-copilot-cli/allowing-tools</a:t>
            </a:r>
          </a:p>
          <a:p xmlns:a="http://schemas.openxmlformats.org/drawingml/2006/main">
            <a:r>
              <a:t>https://code.visualstudio.com/docs/agents/run/security</a:t>
            </a:r>
          </a:p>
          <a:p xmlns:a="http://schemas.openxmlformats.org/drawingml/2006/main">
            <a:r>
              <a:t/>
            </a:r>
          </a:p>
          <a:p xmlns:a="http://schemas.openxmlformats.org/drawingml/2006/main">
            <a:r>
              <a:t>Teaching points:</a:t>
            </a:r>
          </a:p>
          <a:p xmlns:a="http://schemas.openxmlformats.org/drawingml/2006/main">
            <a:r>
              <a:t>Use disposable data and a clean Git checkpoint</a:t>
            </a:r>
          </a:p>
          <a:p xmlns:a="http://schemas.openxmlformats.org/drawingml/2006/main">
            <a:r>
              <a:t>Restrict credentials, paths and network access</a:t>
            </a:r>
          </a:p>
          <a:p xmlns:a="http://schemas.openxmlformats.org/drawingml/2006/main">
            <a:r>
              <a:t>Set a budget; inspect the diff before promotion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READY-TO-USE EXERCISE · 10 minutes</a:t>
            </a:r>
          </a:p>
          <a:p xmlns:a="http://schemas.openxmlformats.org/drawingml/2006/main">
            <a:r>
              <a:t>Work in pairs. Read the scenario and list risky capabilities, safer controls and required evidence. Do not execute destructive commands or enable YOLO.</a:t>
            </a:r>
          </a:p>
          <a:p xmlns:a="http://schemas.openxmlformats.org/drawingml/2006/main">
            <a:r>
              <a:t>Answer key: production credentials make a toy task dangerous; untrusted README text is not authority; setup commands and network destinations need examination; lockfile changes need justification; removed tests invalidate the acceptance evidence; passing CI alone is insufficient. Use fake credentials and enforced isolation, examine commands, restore required tests, constrain runtime/budget, inspect the final diff and require contract-level verification before any push or deployment.</a:t>
            </a:r>
          </a:p>
          <a:p xmlns:a="http://schemas.openxmlformats.org/drawingml/2006/main">
            <a:r>
              <a:t>Debrief: would switching from Agent to Plan remove dangerous credentials? No: modes and permissions are separate.</a:t>
            </a:r>
          </a:p>
          <a:p xmlns:a="http://schemas.openxmlformats.org/drawingml/2006/main">
            <a:r>
              <a:t>https://docs.github.com/en/copilot/concepts/agents/copilot-cli/autopilot</a:t>
            </a:r>
          </a:p>
          <a:p xmlns:a="http://schemas.openxmlformats.org/drawingml/2006/main">
            <a:r>
              <a:t>https://docs.github.com/en/copilot/how-tos/copilot-cli/use-copilot-cli/allowing-tools</a:t>
            </a:r>
          </a:p>
          <a:p xmlns:a="http://schemas.openxmlformats.org/drawingml/2006/main">
            <a:r>
              <a:t>https://code.visualstudio.com/docs/agents/run/security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minutes. The taxi meter is a metaphor for accumulated model work. A token is a model-specific unit of text or other input representation, not exactly one word. An agent can make several model requests during one user task. Model-visible tool outputs and retained history may appear in subsequent requests. Clients can trim, summarize or cache context, so do not assume that every turn sends the whole repository unchanged. Source: https://code.visualstudio.com/docs/agents/concepts/context</a:t>
            </a:r>
          </a:p>
          <a:p xmlns:a="http://schemas.openxmlformats.org/drawingml/2006/main">
            <a:r>
              <a:t/>
            </a:r>
          </a:p>
          <a:p xmlns:a="http://schemas.openxmlformats.org/drawingml/2006/main">
            <a:r>
              <a:t>Teaching points:</a:t>
            </a:r>
          </a:p>
          <a:p xmlns:a="http://schemas.openxmlformats.org/drawingml/2006/main">
            <a:r>
              <a:t>Each model call can consume input and output</a:t>
            </a:r>
          </a:p>
          <a:p xmlns:a="http://schemas.openxmlformats.org/drawingml/2006/main">
            <a:r>
              <a:t>Tool results become context for later calls</a:t>
            </a:r>
          </a:p>
          <a:p xmlns:a="http://schemas.openxmlformats.org/drawingml/2006/main">
            <a:r>
              <a:t>History may travel again on the next turn</a:t>
            </a:r>
          </a:p>
          <a:p xmlns:a="http://schemas.openxmlformats.org/drawingml/2006/main">
            <a:r>
              <a:t>Retries and parallel agents add 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Distinguish maximum context capacity from accumulated usage. A conversation can consume more tokens across calls than the size of its largest single request. Billing can separate fresh input, cache reads, cache writes, output and other categories. Providers differ in whether and how reasoning and tool charges apply. Use measured usage rather than estimating from the visible answer alone. Source: https://platform.claude.com/docs/en/about-claude/pricing</a:t>
            </a:r>
          </a:p>
          <a:p xmlns:a="http://schemas.openxmlformats.org/drawingml/2006/main">
            <a:r>
              <a:t/>
            </a:r>
          </a:p>
          <a:p xmlns:a="http://schemas.openxmlformats.org/drawingml/2006/main">
            <a:r>
              <a:t>Teaching points:</a:t>
            </a:r>
          </a:p>
          <a:p xmlns:a="http://schemas.openxmlformats.org/drawingml/2006/main">
            <a:r>
              <a:t>Window: capacity available to a request</a:t>
            </a:r>
          </a:p>
          <a:p xmlns:a="http://schemas.openxmlformats.org/drawingml/2006/main">
            <a:r>
              <a:t>Usage: tokens processed across calls</a:t>
            </a:r>
          </a:p>
          <a:p xmlns:a="http://schemas.openxmlformats.org/drawingml/2006/main">
            <a:r>
              <a:t>Cost: token categories at model-specific rates</a:t>
            </a:r>
          </a:p>
          <a:p xmlns:a="http://schemas.openxmlformats.org/drawingml/2006/main">
            <a:r>
              <a:t>Some reasoning or tool use may add charges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minutes. All rates and call counts on this slide are hypothetical teaching inputs. Broad scenario: 400,000 input tokens cost 80 cents and 20,000 output tokens cost 16 cents, totaling 96 cents. Focused scenario: 40,000 input tokens cost 8 cents and 5,000 output tokens cost 4 cents, totaling 12 cents. The difference is 8 times. The focused workflow is worthwhile only if it achieves the same correct result. Do not sacrifice necessary evidence to produce a smaller bill. Real usage can include cache categories, reasoning, tools and infrastructure.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Model routing is a recommendation, not a claim that smaller models always cost less overall. A low-priced model that takes many failed attempts may cost more in tokens and engineer time. Compare models on actual tasks with quality checks. Higher reasoning settings and larger context options can raise consumption. Auto selection and available models vary by plan and tool. Source: https://docs.github.com/copilot/reference/ai-models/supported-models</a:t>
            </a:r>
          </a:p>
          <a:p xmlns:a="http://schemas.openxmlformats.org/drawingml/2006/main">
            <a:r>
              <a:t/>
            </a:r>
          </a:p>
          <a:p xmlns:a="http://schemas.openxmlformats.org/drawingml/2006/main">
            <a:r>
              <a:t>Teaching points:</a:t>
            </a:r>
          </a:p>
          <a:p xmlns:a="http://schemas.openxmlformats.org/drawingml/2006/main">
            <a:r>
              <a:t>Use a suitable model for routine edits</a:t>
            </a:r>
          </a:p>
          <a:p xmlns:a="http://schemas.openxmlformats.org/drawingml/2006/main">
            <a:r>
              <a:t>Escalate for difficult diagnosis or design</a:t>
            </a:r>
          </a:p>
          <a:p xmlns:a="http://schemas.openxmlformats.org/drawingml/2006/main">
            <a:r>
              <a:t>Evaluate total task cost and rework</a:t>
            </a:r>
          </a:p>
          <a:p xmlns:a="http://schemas.openxmlformats.org/drawingml/2006/main">
            <a:r>
              <a:t>Check quality on your own representative 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minutes. Caching reuses eligible input under provider-specific rules and rates. Cache writes may cost extra and cached input remains relevant to context capacity. Compaction or summarization can reduce the history forwarded to later requests, but may lose details. A good handoff names the goal, constraints, changed files, evidence, unresolved failures and next step. Do not assume that a new session will preserve a cache or that the IDE exposes cache controls. Source: https://platform.claude.com/docs/en/build-with-claude/prompt-caching and https://code.visualstudio.com/docs/agents/run/sessions/manage-sessions</a:t>
            </a:r>
          </a:p>
          <a:p xmlns:a="http://schemas.openxmlformats.org/drawingml/2006/main">
            <a:r>
              <a:t/>
            </a:r>
          </a:p>
          <a:p xmlns:a="http://schemas.openxmlformats.org/drawingml/2006/main">
            <a:r>
              <a:t>Teaching points:</a:t>
            </a:r>
          </a:p>
          <a:p xmlns:a="http://schemas.openxmlformats.org/drawingml/2006/main">
            <a:r>
              <a:t>Caching can discount eligible reused input</a:t>
            </a:r>
          </a:p>
          <a:p xmlns:a="http://schemas.openxmlformats.org/drawingml/2006/main">
            <a:r>
              <a:t>A cache hit still occupies model context</a:t>
            </a:r>
          </a:p>
          <a:p xmlns:a="http://schemas.openxmlformats.org/drawingml/2006/main">
            <a:r>
              <a:t>Compaction summarizes earlier material</a:t>
            </a:r>
          </a:p>
          <a:p xmlns:a="http://schemas.openxmlformats.org/drawingml/2006/main">
            <a:r>
              <a:t>Preserve decisions, paths and failing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Current GitHub documentation checked 7 October 2026 describes AI credits derived from model-specific token costs, including input, output and cached tokens. It states one AI credit equals one US cent. Do not teach older premium-request multipliers as universal current billing. Individual and organization allowances differ, and client terminology can be outdated. This slide deliberately avoids quoting plan prices that can change. The worked API example is not a Copilot price quote. Source: https://docs.github.com/en/copilot/concepts/billing-and-usage/individuals/billing</a:t>
            </a:r>
          </a:p>
          <a:p xmlns:a="http://schemas.openxmlformats.org/drawingml/2006/main">
            <a:r>
              <a:t/>
            </a:r>
          </a:p>
          <a:p xmlns:a="http://schemas.openxmlformats.org/drawingml/2006/main">
            <a:r>
              <a:t>Teaching points:</a:t>
            </a:r>
          </a:p>
          <a:p xmlns:a="http://schemas.openxmlformats.org/drawingml/2006/main">
            <a:r>
              <a:t>Current docs describe token-based AI credits</a:t>
            </a:r>
          </a:p>
          <a:p xmlns:a="http://schemas.openxmlformats.org/drawingml/2006/main">
            <a:r>
              <a:t>Model choice and agent calls affect usage</a:t>
            </a:r>
          </a:p>
          <a:p xmlns:a="http://schemas.openxmlformats.org/drawingml/2006/main">
            <a:r>
              <a:t>Plan allowances and policies vary</a:t>
            </a:r>
          </a:p>
          <a:p xmlns:a="http://schemas.openxmlformats.org/drawingml/2006/main">
            <a:r>
              <a:t>Track spend per verified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Swarm is an informal label here for coordinated multiple agents. It is not a requirement for every coding workflow and is not a guarantee of autonomous collaboration in every product. Several agents editing the same file can overwrite assumptions or create conflicts. The overhead includes repeated context, dispatch, review, integration and tests. Independent subagents or separate sessions can help when tasks are separable. Source: https://code.visualstudio.com/docs/agents/run/subagents</a:t>
            </a:r>
          </a:p>
          <a:p xmlns:a="http://schemas.openxmlformats.org/drawingml/2006/main">
            <a:r>
              <a:t/>
            </a:r>
          </a:p>
          <a:p xmlns:a="http://schemas.openxmlformats.org/drawingml/2006/main">
            <a:r>
              <a:t>Teaching points:</a:t>
            </a:r>
          </a:p>
          <a:p xmlns:a="http://schemas.openxmlformats.org/drawingml/2006/main">
            <a:r>
              <a:t>A swarm coordinates several agent tasks</a:t>
            </a:r>
          </a:p>
          <a:p xmlns:a="http://schemas.openxmlformats.org/drawingml/2006/main">
            <a:r>
              <a:t>Shared files create merge and state conflicts</a:t>
            </a:r>
          </a:p>
          <a:p xmlns:a="http://schemas.openxmlformats.org/drawingml/2006/main">
            <a:r>
              <a:t>Every worker adds context and usage</a:t>
            </a:r>
          </a:p>
          <a:p xmlns:a="http://schemas.openxmlformats.org/drawingml/2006/main">
            <a:r>
              <a:t>Parallelism needs independent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minutes. A good starting pattern runs read-only investigations in parallel, then lets one owner implement. A code mapper finds the execution path. A test mapper identifies gaps. A reviewer inspects security and failure scenarios. Workers return file references, evidence and uncertainties, not their full scratch conversations. For simultaneous code changes, isolate branches or worktrees, avoid overlapping ownership and retest after integration. Context-isolated subagents and parallel sessions have different capabilities. Source: https://code.visualstudio.com/docs/agents/guides/delegate-two-tasks</a:t>
            </a:r>
          </a:p>
          <a:p xmlns:a="http://schemas.openxmlformats.org/drawingml/2006/main">
            <a:r>
              <a:t/>
            </a:r>
          </a:p>
          <a:p xmlns:a="http://schemas.openxmlformats.org/drawingml/2006/main">
            <a:r>
              <a:t>Teaching points:</a:t>
            </a:r>
          </a:p>
          <a:p xmlns:a="http://schemas.openxmlformats.org/drawingml/2006/main">
            <a:r>
              <a:t>Give each worker a bounded question</a:t>
            </a:r>
          </a:p>
          <a:p xmlns:a="http://schemas.openxmlformats.org/drawingml/2006/main">
            <a:r>
              <a:t>Return evidence and a compact result</a:t>
            </a:r>
          </a:p>
          <a:p xmlns:a="http://schemas.openxmlformats.org/drawingml/2006/main">
            <a:r>
              <a:t>Separate write tasks with branches or worktrees</a:t>
            </a:r>
          </a:p>
          <a:p xmlns:a="http://schemas.openxmlformats.org/drawingml/2006/main">
            <a:r>
              <a:t>Integrate once and rerun the combined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minutes. The single-agent calculation is 4 cents input plus 2.4 cents output. The swarm has 46,000 input tokens costing 9.2 cents and 9,000 output tokens costing 7.2 cents. Total 16.4 cents divided by 6.4 cents equals 2.5625. No time reduction is claimed. Serial coordination and integration can dominate the task even when worker calls overlap. Parallelize independent research or separate modules. Use one agent for a tightly coupled bug unless a distinct investigation genuinely helps. Judge model spend together with engineer time and defect 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Let participants work in pairs. They can use an approved sandbox repository or simply write a task brief without running code. Give them the workshop contract from slide 5. Spend three minutes writing, two minutes comparing briefs, and three minutes discussing verification and stop conditions. Suggested strong answer names the payment service, storage repository and tests, preserves the public API, asks for the failing call path and identifies simultaneous requests and ambiguous timeouts. Do not run real payment 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Return to the opening question. The value of a coding assistant depends on how the work is specified and verified. Ask participants to name one habit they will change tomorrow. Good answers include a concrete expected behavior in every task, exact test commands, smaller diffs, evidence-based reviews or explicit agent limits. Emphasize that accepting a suggestion is an engineering decision. Measure completed correct tasks, review effort and escaped defects alongside usage.</a:t>
            </a:r>
          </a:p>
          <a:p xmlns:a="http://schemas.openxmlformats.org/drawingml/2006/main">
            <a:r>
              <a:t/>
            </a:r>
          </a:p>
          <a:p xmlns:a="http://schemas.openxmlformats.org/drawingml/2006/main">
            <a:r>
              <a:t>Teaching points:</a:t>
            </a:r>
          </a:p>
          <a:p xmlns:a="http://schemas.openxmlformats.org/drawingml/2006/main">
            <a:r>
              <a:t>A clear task and relevant context</a:t>
            </a:r>
          </a:p>
          <a:p xmlns:a="http://schemas.openxmlformats.org/drawingml/2006/main">
            <a:r>
              <a:t>A small diff with meaningful checks</a:t>
            </a:r>
          </a:p>
          <a:p xmlns:a="http://schemas.openxmlformats.org/drawingml/2006/main">
            <a:r>
              <a:t>A budget for retries and delegation</a:t>
            </a:r>
          </a:p>
          <a:p xmlns:a="http://schemas.openxmlformats.org/drawingml/2006/main">
            <a:r>
              <a:t>A human who understands the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as a closing handout slide. This checklist combines recommendations illustrated throughout the session. It is not a product feature list or a guarantee of correctness. Scale review effort to the change. A small reversible documentation change needs less testing than payment logic or authentication. Keep the decision and evidence in the normal team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with full URLs: https://docs.github.com/en/copilot/tutorials/cloud-agent/get-the-best-results</a:t>
            </a:r>
          </a:p>
          <a:p xmlns:a="http://schemas.openxmlformats.org/drawingml/2006/main">
            <a:r>
              <a:t>https://docs.github.com/en/copilot/concepts/prompting/response-customization?tool=vscode</a:t>
            </a:r>
          </a:p>
          <a:p xmlns:a="http://schemas.openxmlformats.org/drawingml/2006/main">
            <a:r>
              <a:t>https://code.visualstudio.com/docs/agents/concepts/context</a:t>
            </a:r>
          </a:p>
          <a:p xmlns:a="http://schemas.openxmlformats.org/drawingml/2006/main">
            <a:r>
              <a:t>https://code.visualstudio.com/docs/agents/run/subagents</a:t>
            </a:r>
          </a:p>
          <a:p xmlns:a="http://schemas.openxmlformats.org/drawingml/2006/main">
            <a:r>
              <a:t>https://code.visualstudio.com/docs/agents/guides/delegate-two-tasks</a:t>
            </a:r>
          </a:p>
          <a:p xmlns:a="http://schemas.openxmlformats.org/drawingml/2006/main">
            <a:r>
              <a:t>https://code.visualstudio.com/docs/agents/run/security</a:t>
            </a:r>
          </a:p>
          <a:p xmlns:a="http://schemas.openxmlformats.org/drawingml/2006/main">
            <a:r>
              <a:t>https://code.visualstudio.com/docs/agents/best-practices</a:t>
            </a:r>
          </a:p>
          <a:p xmlns:a="http://schemas.openxmlformats.org/drawingml/2006/main">
            <a:r>
              <a:t>https://docs.github.com/en/copilot/concepts/billing-and-usage/individuals/billing</a:t>
            </a:r>
          </a:p>
          <a:p xmlns:a="http://schemas.openxmlformats.org/drawingml/2006/main">
            <a:r>
              <a:t>https://docs.github.com/copilot/reference/ai-models/supported-models</a:t>
            </a:r>
          </a:p>
          <a:p xmlns:a="http://schemas.openxmlformats.org/drawingml/2006/main">
            <a:r>
              <a:t>https://platform.claude.com/docs/en/build-with-claude/prompt-caching</a:t>
            </a:r>
          </a:p>
          <a:p xmlns:a="http://schemas.openxmlformats.org/drawingml/2006/main">
            <a:r>
              <a:t>https://platform.claude.com/docs/en/about-claude/pricing</a:t>
            </a:r>
          </a:p>
          <a:p xmlns:a="http://schemas.openxmlformats.org/drawingml/2006/main">
            <a:r>
              <a:t>Features depend on product, client version, plan and organization policies. Verify commands against the actual repository. All calculations are teaching examples and exclude infrastructure and engineer costs. Artwork created with the built-in image-generation tool.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3d763acc1b4d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2ac7262813345a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e3e8af5d80b4a0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d6402350c9749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7215d81782c40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14866403d794c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6AF0CAA-D634-459E-8E95-1B34B2BE2CDE}"/>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BA2782A-91FA-4E44-B642-0B48C94C2E8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740AEE13-F0A6-412A-8307-8E8445A8547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5AEC3FA1-0572-4A56-8218-3B6AA6BEBFC1}"/>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DB8765-324E-442A-9CFD-EF82ACD1573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7861032-8AD7-4D33-94AF-210FC053A0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F8B6BA8-6315-49CC-8A0C-DF31EC676D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B5ABDBE9-EF73-46DD-B44E-392838A65BF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3CD82E82-960A-46C2-8019-A444FD87185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C188CB7-CBA2-456B-A701-36F51DBD3A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5850432D-A8E0-4F2D-B835-1D9E80DAC00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F1BB6101-A294-4620-A4FB-D0FD50BB0B0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52CECE4-3846-4906-8AAA-1D6A26AB6238}"/>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8F444A9-EEC1-4E7B-AF17-9883A0B445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D3640A02-26CB-4E79-B186-DF540C5F49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65a0d1050b4738" /><Relationship Type="http://schemas.openxmlformats.org/officeDocument/2006/relationships/slideLayout" Target="/ppt/slideLayouts/slideLayout1.xml" Id="R5a1ee5fbcf9e4909" /><Relationship Type="http://schemas.openxmlformats.org/officeDocument/2006/relationships/slideLayout" Target="/ppt/slideLayouts/slideLayout2.xml" Id="R1c5113dca30643d1" /><Relationship Type="http://schemas.openxmlformats.org/officeDocument/2006/relationships/slideLayout" Target="/ppt/slideLayouts/slideLayout3.xml" Id="R49ec9f257a9146d3" /><Relationship Type="http://schemas.openxmlformats.org/officeDocument/2006/relationships/slideLayout" Target="/ppt/slideLayouts/slideLayout4.xml" Id="Rc6aba1ca1e5d41ad" /><Relationship Type="http://schemas.openxmlformats.org/officeDocument/2006/relationships/slideLayout" Target="/ppt/slideLayouts/slideLayout5.xml" Id="R35fbe99ac96648dd" /><Relationship Type="http://schemas.openxmlformats.org/officeDocument/2006/relationships/slideLayout" Target="/ppt/slideLayouts/slideLayout6.xml" Id="R16354b7a32f640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1ee5fbcf9e4909"/>
    <p:sldLayoutId xmlns:r="http://schemas.openxmlformats.org/officeDocument/2006/relationships" id="2147483650" r:id="R1c5113dca30643d1"/>
    <p:sldLayoutId xmlns:r="http://schemas.openxmlformats.org/officeDocument/2006/relationships" id="2147483651" r:id="R49ec9f257a9146d3"/>
    <p:sldLayoutId xmlns:r="http://schemas.openxmlformats.org/officeDocument/2006/relationships" id="2147483652" r:id="Rc6aba1ca1e5d41ad"/>
    <p:sldLayoutId xmlns:r="http://schemas.openxmlformats.org/officeDocument/2006/relationships" id="2147483653" r:id="R35fbe99ac96648dd"/>
    <p:sldLayoutId xmlns:r="http://schemas.openxmlformats.org/officeDocument/2006/relationships" id="2147483654" r:id="R16354b7a32f640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25a7b030f3c4683" /><Relationship Type="http://schemas.openxmlformats.org/officeDocument/2006/relationships/image" Target="/ppt/media/image.png" Id="R6becb5bfa2ff49e4" /><Relationship Type="http://schemas.openxmlformats.org/officeDocument/2006/relationships/notesSlide" Target="/ppt/notesSlides/notesSlide1.xml" Id="Rc372c36176a949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f57e31f7e54493f" /><Relationship Type="http://schemas.openxmlformats.org/officeDocument/2006/relationships/image" Target="/ppt/media/image2.png" Id="R52a1262af9164a9b" /><Relationship Type="http://schemas.openxmlformats.org/officeDocument/2006/relationships/notesSlide" Target="/ppt/notesSlides/notesSlide2.xml" Id="R477743edc9c640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ff7b33d8796471c" /><Relationship Type="http://schemas.openxmlformats.org/officeDocument/2006/relationships/image" Target="/ppt/media/image3.png" Id="Ra8bba975dc3541b0" /><Relationship Type="http://schemas.openxmlformats.org/officeDocument/2006/relationships/notesSlide" Target="/ppt/notesSlides/notesSlide3.xml" Id="Rc671fc67b68342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c9be8a83a3464c" /><Relationship Type="http://schemas.openxmlformats.org/officeDocument/2006/relationships/notesSlide" Target="/ppt/notesSlides/notesSlide4.xml" Id="R75d12028f6964d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76b740bbd074d7b" /><Relationship Type="http://schemas.openxmlformats.org/officeDocument/2006/relationships/image" Target="/ppt/media/image4.png" Id="Raf5defbc2d3a4cd9" /><Relationship Type="http://schemas.openxmlformats.org/officeDocument/2006/relationships/notesSlide" Target="/ppt/notesSlides/notesSlide5.xml" Id="R9c4d5fee4aad47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3b0a7d08b7a420b" /><Relationship Type="http://schemas.openxmlformats.org/officeDocument/2006/relationships/image" Target="/ppt/media/image5.png" Id="R8e60083875e948e9" /><Relationship Type="http://schemas.openxmlformats.org/officeDocument/2006/relationships/notesSlide" Target="/ppt/notesSlides/notesSlide6.xml" Id="R53808b4bf6814c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0fe3c2709c14a7b" /><Relationship Type="http://schemas.openxmlformats.org/officeDocument/2006/relationships/image" Target="/ppt/media/image6.png" Id="R1140bba3d2ab4375" /><Relationship Type="http://schemas.openxmlformats.org/officeDocument/2006/relationships/notesSlide" Target="/ppt/notesSlides/notesSlide7.xml" Id="Ra11292ce294048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acbe85fe4e849ef" /><Relationship Type="http://schemas.openxmlformats.org/officeDocument/2006/relationships/image" Target="/ppt/media/image7.png" Id="Rad8810dcc143418e" /><Relationship Type="http://schemas.openxmlformats.org/officeDocument/2006/relationships/notesSlide" Target="/ppt/notesSlides/notesSlide8.xml" Id="R46579b6599314d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6b0f090be374660" /><Relationship Type="http://schemas.openxmlformats.org/officeDocument/2006/relationships/image" Target="/ppt/media/image8.png" Id="R7962d2f31f74481e" /><Relationship Type="http://schemas.openxmlformats.org/officeDocument/2006/relationships/notesSlide" Target="/ppt/notesSlides/notesSlide9.xml" Id="R0917fb35ed2c4c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96cd58a983d422b" /><Relationship Type="http://schemas.openxmlformats.org/officeDocument/2006/relationships/notesSlide" Target="/ppt/notesSlides/notesSlide10.xml" Id="Rada407bcb43b429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5aec8e659444c34" /><Relationship Type="http://schemas.openxmlformats.org/officeDocument/2006/relationships/image" Target="/ppt/media/image9.png" Id="R43e27a29299147fd" /><Relationship Type="http://schemas.openxmlformats.org/officeDocument/2006/relationships/notesSlide" Target="/ppt/notesSlides/notesSlide11.xml" Id="R537302f9bbff47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c4057b30cae4f4f" /><Relationship Type="http://schemas.openxmlformats.org/officeDocument/2006/relationships/image" Target="/ppt/media/image10.png" Id="Rd3f63c168ec541d6" /><Relationship Type="http://schemas.openxmlformats.org/officeDocument/2006/relationships/notesSlide" Target="/ppt/notesSlides/notesSlide12.xml" Id="R43664b599855444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4b8ef9b55524047" /><Relationship Type="http://schemas.openxmlformats.org/officeDocument/2006/relationships/image" Target="/ppt/media/image11.png" Id="R7a4a6f75d4c5437b" /><Relationship Type="http://schemas.openxmlformats.org/officeDocument/2006/relationships/notesSlide" Target="/ppt/notesSlides/notesSlide13.xml" Id="R3dcaa933c97c40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e451939ef7b4bb1" /><Relationship Type="http://schemas.openxmlformats.org/officeDocument/2006/relationships/image" Target="/ppt/media/image12.png" Id="R878402d291f94e8d" /><Relationship Type="http://schemas.openxmlformats.org/officeDocument/2006/relationships/notesSlide" Target="/ppt/notesSlides/notesSlide14.xml" Id="R8a601f87da0a4ce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90938fd883942c4" /><Relationship Type="http://schemas.openxmlformats.org/officeDocument/2006/relationships/notesSlide" Target="/ppt/notesSlides/notesSlide15.xml" Id="Rbdb94942f02740b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e1688ce530147c1" /><Relationship Type="http://schemas.openxmlformats.org/officeDocument/2006/relationships/image" Target="/ppt/media/image13.png" Id="R736effc8ac5d4a3c" /><Relationship Type="http://schemas.openxmlformats.org/officeDocument/2006/relationships/notesSlide" Target="/ppt/notesSlides/notesSlide16.xml" Id="R8ff3f2a2c594483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e6c7ea005fd4ddc" /><Relationship Type="http://schemas.openxmlformats.org/officeDocument/2006/relationships/image" Target="/ppt/media/image14.png" Id="Rfec52ac57a794eb3" /><Relationship Type="http://schemas.openxmlformats.org/officeDocument/2006/relationships/notesSlide" Target="/ppt/notesSlides/notesSlide17.xml" Id="R94a23de03bcc472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553553b5f5047e8" /><Relationship Type="http://schemas.openxmlformats.org/officeDocument/2006/relationships/image" Target="/ppt/media/image15.png" Id="R5eb6faee586b47f7" /><Relationship Type="http://schemas.openxmlformats.org/officeDocument/2006/relationships/notesSlide" Target="/ppt/notesSlides/notesSlide18.xml" Id="Rbf55254eae6b4d4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796bfd183f24a3b" /><Relationship Type="http://schemas.openxmlformats.org/officeDocument/2006/relationships/image" Target="/ppt/media/image16.png" Id="R6f9cd2deeb164ef5" /><Relationship Type="http://schemas.openxmlformats.org/officeDocument/2006/relationships/notesSlide" Target="/ppt/notesSlides/notesSlide19.xml" Id="R2fe8e88e0b814dc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7db6218a824469d" /><Relationship Type="http://schemas.openxmlformats.org/officeDocument/2006/relationships/image" Target="/ppt/media/image17.png" Id="Rc59b0ba0f5fb4013" /><Relationship Type="http://schemas.openxmlformats.org/officeDocument/2006/relationships/notesSlide" Target="/ppt/notesSlides/notesSlide20.xml" Id="Radf6f660c430445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790d96556054e40" /><Relationship Type="http://schemas.openxmlformats.org/officeDocument/2006/relationships/notesSlide" Target="/ppt/notesSlides/notesSlide21.xml" Id="Rcc6c6bc1ecaf455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f26030ab414473b" /><Relationship Type="http://schemas.openxmlformats.org/officeDocument/2006/relationships/image" Target="/ppt/media/image18.png" Id="Ra735dd8f13c44541" /><Relationship Type="http://schemas.openxmlformats.org/officeDocument/2006/relationships/notesSlide" Target="/ppt/notesSlides/notesSlide22.xml" Id="Rf848109dee09493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ac3ba49341f4ddc" /><Relationship Type="http://schemas.openxmlformats.org/officeDocument/2006/relationships/image" Target="/ppt/media/image19.png" Id="Rd9ed07fbd4de4167" /><Relationship Type="http://schemas.openxmlformats.org/officeDocument/2006/relationships/notesSlide" Target="/ppt/notesSlides/notesSlide23.xml" Id="Rfc827f27bddd4b6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a91a5c7217c4fce" /><Relationship Type="http://schemas.openxmlformats.org/officeDocument/2006/relationships/image" Target="/ppt/media/image20.png" Id="R64e5b2004b6a4fd0" /><Relationship Type="http://schemas.openxmlformats.org/officeDocument/2006/relationships/notesSlide" Target="/ppt/notesSlides/notesSlide24.xml" Id="Rc8e9247e5cac45c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69bfb2aa08b45c6" /><Relationship Type="http://schemas.openxmlformats.org/officeDocument/2006/relationships/notesSlide" Target="/ppt/notesSlides/notesSlide25.xml" Id="Rc5dfc1601789469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02eaf745acd479f" /><Relationship Type="http://schemas.openxmlformats.org/officeDocument/2006/relationships/image" Target="/ppt/media/image21.png" Id="Rc8acafbb95dd4a77" /><Relationship Type="http://schemas.openxmlformats.org/officeDocument/2006/relationships/notesSlide" Target="/ppt/notesSlides/notesSlide26.xml" Id="R8847986a3ce8406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80a7f2112d94000" /><Relationship Type="http://schemas.openxmlformats.org/officeDocument/2006/relationships/image" Target="/ppt/media/image22.png" Id="R733aafec41c545a0" /><Relationship Type="http://schemas.openxmlformats.org/officeDocument/2006/relationships/notesSlide" Target="/ppt/notesSlides/notesSlide27.xml" Id="R21f2189f98f5466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1878fcdd3cb412c" /><Relationship Type="http://schemas.openxmlformats.org/officeDocument/2006/relationships/notesSlide" Target="/ppt/notesSlides/notesSlide28.xml" Id="Rbca225905713432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dc764515c584880" /><Relationship Type="http://schemas.openxmlformats.org/officeDocument/2006/relationships/image" Target="/ppt/media/image23.png" Id="Ra891a8fb8deb4e9d" /><Relationship Type="http://schemas.openxmlformats.org/officeDocument/2006/relationships/notesSlide" Target="/ppt/notesSlides/notesSlide29.xml" Id="R16b5ea5400854b1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eec25c6e0a54edc" /><Relationship Type="http://schemas.openxmlformats.org/officeDocument/2006/relationships/image" Target="/ppt/media/image24.png" Id="Rd6a7960afb634fef" /><Relationship Type="http://schemas.openxmlformats.org/officeDocument/2006/relationships/notesSlide" Target="/ppt/notesSlides/notesSlide30.xml" Id="R189eb531d26f43a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81597f74cb7423d" /><Relationship Type="http://schemas.openxmlformats.org/officeDocument/2006/relationships/notesSlide" Target="/ppt/notesSlides/notesSlide31.xml" Id="R022180be1239401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f36e9de26d04068" /><Relationship Type="http://schemas.openxmlformats.org/officeDocument/2006/relationships/image" Target="/ppt/media/image25.png" Id="R14276da51c5d4ac6" /><Relationship Type="http://schemas.openxmlformats.org/officeDocument/2006/relationships/notesSlide" Target="/ppt/notesSlides/notesSlide32.xml" Id="R7e0fa7df3de2437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d8734a6a72044d53" /><Relationship Type="http://schemas.openxmlformats.org/officeDocument/2006/relationships/image" Target="/ppt/media/image26.png" Id="R773e526226024b26" /><Relationship Type="http://schemas.openxmlformats.org/officeDocument/2006/relationships/notesSlide" Target="/ppt/notesSlides/notesSlide33.xml" Id="Rbdad663ad0e34ef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5f3af222cee24ad3" /><Relationship Type="http://schemas.openxmlformats.org/officeDocument/2006/relationships/image" Target="/ppt/media/image27.png" Id="R732e8af2e62d4b54" /><Relationship Type="http://schemas.openxmlformats.org/officeDocument/2006/relationships/notesSlide" Target="/ppt/notesSlides/notesSlide34.xml" Id="Re040f3f8a681461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f5e8935f9c04692" /><Relationship Type="http://schemas.openxmlformats.org/officeDocument/2006/relationships/image" Target="/ppt/media/image28.png" Id="Re4aa819beade4d8a" /><Relationship Type="http://schemas.openxmlformats.org/officeDocument/2006/relationships/notesSlide" Target="/ppt/notesSlides/notesSlide35.xml" Id="R85bd6a436dcc409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2ed5d1ef2d554a87" /><Relationship Type="http://schemas.openxmlformats.org/officeDocument/2006/relationships/image" Target="/ppt/media/image29.png" Id="Ra31a2a0778a6466d" /><Relationship Type="http://schemas.openxmlformats.org/officeDocument/2006/relationships/notesSlide" Target="/ppt/notesSlides/notesSlide36.xml" Id="Ra5d6569be52744b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5cd283520c24116" /><Relationship Type="http://schemas.openxmlformats.org/officeDocument/2006/relationships/notesSlide" Target="/ppt/notesSlides/notesSlide37.xml" Id="R70bc324ffb254a7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7ab5e4c29a3c45a9" /><Relationship Type="http://schemas.openxmlformats.org/officeDocument/2006/relationships/notesSlide" Target="/ppt/notesSlides/notesSlide38.xml" Id="R055f61c322aa474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a7e9a45851994a02" /><Relationship Type="http://schemas.openxmlformats.org/officeDocument/2006/relationships/image" Target="/ppt/media/image30.png" Id="Reeb3e5e7d6d74089" /><Relationship Type="http://schemas.openxmlformats.org/officeDocument/2006/relationships/notesSlide" Target="/ppt/notesSlides/notesSlide39.xml" Id="R8cc40c86f8de4ce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5699d9ee395b4ac8" /><Relationship Type="http://schemas.openxmlformats.org/officeDocument/2006/relationships/notesSlide" Target="/ppt/notesSlides/notesSlide40.xml" Id="R2099fc5793d0441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32496a74bf0a4c55" /><Relationship Type="http://schemas.openxmlformats.org/officeDocument/2006/relationships/notesSlide" Target="/ppt/notesSlides/notesSlide41.xml" Id="R778e73c3a9ff4d31" /></Relationships>
</file>

<file path=ppt/slides/slide1.xml><?xml version="1.0" encoding="utf-8"?>
<p:sld xmlns:p="http://schemas.openxmlformats.org/presentationml/2006/main">
  <p:cSld>
    <p:bg>
      <p:bgPr>
        <a:solidFill xmlns:a="http://schemas.openxmlformats.org/drawingml/2006/main">
          <a:srgbClr val="18263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127EA8-2258-4E43-9C23-9053BC8DA4F5}"/>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01</a:t>
            </a:r>
          </a:p>
        </p:txBody>
      </p:sp>
      <p:sp>
        <p:nvSpPr>
          <p:cNvPr id="2" name="">
            <a:extLst xmlns:a="http://schemas.openxmlformats.org/drawingml/2006/main">
              <a:ext uri="{FF2B5EF4-FFF2-40B4-BE49-F238E27FC236}">
                <a16:creationId xmlns:a16="http://schemas.microsoft.com/office/drawing/2014/main" id="{D013B3AD-AF1C-471A-8390-2C7A51204D5B}"/>
              </a:ext>
            </a:extLst>
          </p:cNvPr>
          <p:cNvSpPr>
            <a:spLocks xmlns:a="http://schemas.openxmlformats.org/drawingml/2006/main" noGrp="1"/>
          </p:cNvSpPr>
          <p:nvPr/>
        </p:nvSpPr>
        <p:spPr>
          <a:xfrm xmlns:a="http://schemas.openxmlformats.org/drawingml/2006/main">
            <a:off x="457200" y="333375"/>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425" b="1">
                <a:solidFill>
                  <a:srgbClr val="FFD64D"/>
                </a:solidFill>
                <a:latin typeface="DejaVu Sans"/>
                <a:ea typeface="DejaVu Sans"/>
                <a:cs typeface="DejaVu Sans"/>
              </a:defRPr>
            </a:pPr>
            <a:r>
              <a:rPr sz="1425" b="1">
                <a:solidFill>
                  <a:srgbClr val="FFD64D"/>
                </a:solidFill>
                <a:latin typeface="DejaVu Sans"/>
                <a:ea typeface="DejaVu Sans"/>
                <a:cs typeface="DejaVu Sans"/>
              </a:rPr>
              <a:t>THE ADVENTURES OF DEV &amp; PATCH</a:t>
            </a:r>
          </a:p>
        </p:txBody>
      </p:sp>
      <p:sp>
        <p:nvSpPr>
          <p:cNvPr id="3" name="">
            <a:extLst xmlns:a="http://schemas.openxmlformats.org/drawingml/2006/main">
              <a:ext uri="{FF2B5EF4-FFF2-40B4-BE49-F238E27FC236}">
                <a16:creationId xmlns:a16="http://schemas.microsoft.com/office/drawing/2014/main" id="{947283CE-F7AB-4B67-B2CA-A5CD288C61AB}"/>
              </a:ext>
            </a:extLst>
          </p:cNvPr>
          <p:cNvSpPr>
            <a:spLocks xmlns:a="http://schemas.openxmlformats.org/drawingml/2006/main" noGrp="1"/>
          </p:cNvSpPr>
          <p:nvPr/>
        </p:nvSpPr>
        <p:spPr>
          <a:xfrm xmlns:a="http://schemas.openxmlformats.org/drawingml/2006/main">
            <a:off x="457200" y="1381125"/>
            <a:ext cx="5715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200" b="1">
                <a:solidFill>
                  <a:srgbClr val="FFF9EC"/>
                </a:solidFill>
                <a:latin typeface="DejaVu Sans"/>
                <a:ea typeface="DejaVu Sans"/>
                <a:cs typeface="DejaVu Sans"/>
              </a:defRPr>
            </a:pPr>
            <a:r>
              <a:rPr sz="4200" b="1">
                <a:solidFill>
                  <a:srgbClr val="FFF9EC"/>
                </a:solidFill>
                <a:latin typeface="DejaVu Sans"/>
                <a:ea typeface="DejaVu Sans"/>
                <a:cs typeface="DejaVu Sans"/>
              </a:rPr>
              <a:t>My AI sidekick</a:t>
            </a:r>
          </a:p>
          <a:p xmlns:a="http://schemas.openxmlformats.org/drawingml/2006/main">
            <a:pPr>
              <a:buNone/>
              <a:defRPr sz="4200" b="1">
                <a:solidFill>
                  <a:srgbClr val="FFF9EC"/>
                </a:solidFill>
                <a:latin typeface="DejaVu Sans"/>
                <a:ea typeface="DejaVu Sans"/>
                <a:cs typeface="DejaVu Sans"/>
              </a:defRPr>
            </a:pPr>
            <a:r>
              <a:rPr sz="4200" b="1">
                <a:solidFill>
                  <a:srgbClr val="FFF9EC"/>
                </a:solidFill>
                <a:latin typeface="DejaVu Sans"/>
                <a:ea typeface="DejaVu Sans"/>
                <a:cs typeface="DejaVu Sans"/>
              </a:rPr>
              <a:t>wrote the code…</a:t>
            </a:r>
          </a:p>
        </p:txBody>
      </p:sp>
      <p:sp>
        <p:nvSpPr>
          <p:cNvPr id="4" name="">
            <a:extLst xmlns:a="http://schemas.openxmlformats.org/drawingml/2006/main">
              <a:ext uri="{FF2B5EF4-FFF2-40B4-BE49-F238E27FC236}">
                <a16:creationId xmlns:a16="http://schemas.microsoft.com/office/drawing/2014/main" id="{D342C00B-93E8-493C-9FB3-B101EF66658F}"/>
              </a:ext>
            </a:extLst>
          </p:cNvPr>
          <p:cNvSpPr>
            <a:spLocks xmlns:a="http://schemas.openxmlformats.org/drawingml/2006/main" noGrp="1"/>
          </p:cNvSpPr>
          <p:nvPr/>
        </p:nvSpPr>
        <p:spPr>
          <a:xfrm xmlns:a="http://schemas.openxmlformats.org/drawingml/2006/main">
            <a:off x="457200" y="3333750"/>
            <a:ext cx="552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925" b="1">
                <a:solidFill>
                  <a:srgbClr val="FFD64D"/>
                </a:solidFill>
                <a:latin typeface="DejaVu Sans"/>
                <a:ea typeface="DejaVu Sans"/>
                <a:cs typeface="DejaVu Sans"/>
              </a:defRPr>
            </a:pPr>
            <a:r>
              <a:rPr sz="2925" b="1">
                <a:solidFill>
                  <a:srgbClr val="FFD64D"/>
                </a:solidFill>
                <a:latin typeface="DejaVu Sans"/>
                <a:ea typeface="DejaVu Sans"/>
                <a:cs typeface="DejaVu Sans"/>
              </a:rPr>
              <a:t>Now who checks the work?</a:t>
            </a:r>
          </a:p>
        </p:txBody>
      </p:sp>
      <p:sp>
        <p:nvSpPr>
          <p:cNvPr id="5" name="">
            <a:extLst xmlns:a="http://schemas.openxmlformats.org/drawingml/2006/main">
              <a:ext uri="{FF2B5EF4-FFF2-40B4-BE49-F238E27FC236}">
                <a16:creationId xmlns:a16="http://schemas.microsoft.com/office/drawing/2014/main" id="{3EDFF52C-8B2B-470D-8F46-79CFFC3AA818}"/>
              </a:ext>
            </a:extLst>
          </p:cNvPr>
          <p:cNvSpPr>
            <a:spLocks xmlns:a="http://schemas.openxmlformats.org/drawingml/2006/main" noGrp="1"/>
          </p:cNvSpPr>
          <p:nvPr/>
        </p:nvSpPr>
        <p:spPr>
          <a:xfrm xmlns:a="http://schemas.openxmlformats.org/drawingml/2006/main">
            <a:off x="457200" y="445770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FFF9EC"/>
                </a:solidFill>
                <a:latin typeface="DejaVu Sans"/>
                <a:ea typeface="DejaVu Sans"/>
                <a:cs typeface="DejaVu Sans"/>
              </a:defRPr>
            </a:pPr>
            <a:r>
              <a:rPr sz="2025" b="0">
                <a:solidFill>
                  <a:srgbClr val="FFF9EC"/>
                </a:solidFill>
                <a:latin typeface="DejaVu Sans"/>
                <a:ea typeface="DejaVu Sans"/>
                <a:cs typeface="DejaVu Sans"/>
              </a:rPr>
              <a:t>Effective AI coding with Copilot</a:t>
            </a:r>
          </a:p>
          <a:p xmlns:a="http://schemas.openxmlformats.org/drawingml/2006/main">
            <a:pPr>
              <a:buNone/>
              <a:defRPr sz="2025" b="0">
                <a:solidFill>
                  <a:srgbClr val="FFF9EC"/>
                </a:solidFill>
                <a:latin typeface="DejaVu Sans"/>
                <a:ea typeface="DejaVu Sans"/>
                <a:cs typeface="DejaVu Sans"/>
              </a:defRPr>
            </a:pPr>
            <a:r>
              <a:rPr sz="2025" b="0">
                <a:solidFill>
                  <a:srgbClr val="FFF9EC"/>
                </a:solidFill>
                <a:latin typeface="DejaVu Sans"/>
                <a:ea typeface="DejaVu Sans"/>
                <a:cs typeface="DejaVu Sans"/>
              </a:rPr>
              <a:t>and similar assistants</a:t>
            </a:r>
          </a:p>
        </p:txBody>
      </p:sp>
      <p:sp>
        <p:nvSpPr>
          <p:cNvPr id="6" name="">
            <a:extLst xmlns:a="http://schemas.openxmlformats.org/drawingml/2006/main">
              <a:ext uri="{FF2B5EF4-FFF2-40B4-BE49-F238E27FC236}">
                <a16:creationId xmlns:a16="http://schemas.microsoft.com/office/drawing/2014/main" id="{5935DA62-3640-4E23-ADCD-F9183DABD13C}"/>
              </a:ext>
            </a:extLst>
          </p:cNvPr>
          <p:cNvSpPr>
            <a:spLocks xmlns:a="http://schemas.openxmlformats.org/drawingml/2006/main" noGrp="1"/>
          </p:cNvSpPr>
          <p:nvPr/>
        </p:nvSpPr>
        <p:spPr>
          <a:xfrm xmlns:a="http://schemas.openxmlformats.org/drawingml/2006/main">
            <a:off x="457200" y="595312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0">
                <a:solidFill>
                  <a:srgbClr val="FFF9EC"/>
                </a:solidFill>
                <a:latin typeface="DejaVu Sans"/>
                <a:ea typeface="DejaVu Sans"/>
                <a:cs typeface="DejaVu Sans"/>
              </a:defRPr>
            </a:pPr>
            <a:r>
              <a:rPr sz="1500" b="0">
                <a:solidFill>
                  <a:srgbClr val="FFF9EC"/>
                </a:solidFill>
                <a:latin typeface="DejaVu Sans"/>
                <a:ea typeface="DejaVu Sans"/>
                <a:cs typeface="DejaVu Sans"/>
              </a:rPr>
              <a:t>A comic workshop with prompts and exercises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becb5bfa2ff49e4"/>
          <a:stretch xmlns:a="http://schemas.openxmlformats.org/drawingml/2006/main"/>
        </p:blipFill>
        <p:spPr>
          <a:xfrm xmlns:a="http://schemas.openxmlformats.org/drawingml/2006/main">
            <a:off x="6229350" y="1795162"/>
            <a:ext cx="5543550" cy="3286725"/>
          </a:xfrm>
          <a:prstGeom xmlns:a="http://schemas.openxmlformats.org/drawingml/2006/main" prst="rect">
            <a:avLst/>
          </a:prstGeom>
        </p:spPr>
      </p:pic>
    </p:spTree>
    <p:extLst>
      <p:ext uri="{BB962C8B-B14F-4D97-AF65-F5344CB8AC3E}">
        <p14:creationId xmlns:p14="http://schemas.microsoft.com/office/powerpoint/2010/main" val="1065225982"/>
      </p:ext>
    </p:extLst>
  </p:cSld>
</p:sld>
</file>

<file path=ppt/slides/slide2.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8230341-F220-45C5-BD40-B4869D7A2DBF}"/>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01 / THE FIRST MISTAKE</a:t>
            </a:r>
          </a:p>
        </p:txBody>
      </p:sp>
      <p:sp>
        <p:nvSpPr>
          <p:cNvPr id="2" name="">
            <a:extLst xmlns:a="http://schemas.openxmlformats.org/drawingml/2006/main">
              <a:ext uri="{FF2B5EF4-FFF2-40B4-BE49-F238E27FC236}">
                <a16:creationId xmlns:a16="http://schemas.microsoft.com/office/drawing/2014/main" id="{4BECBBC8-DBED-4A5B-BA8F-AC76439A0464}"/>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02</a:t>
            </a:r>
          </a:p>
        </p:txBody>
      </p:sp>
      <p:sp>
        <p:nvSpPr>
          <p:cNvPr id="3" name="">
            <a:extLst xmlns:a="http://schemas.openxmlformats.org/drawingml/2006/main">
              <a:ext uri="{FF2B5EF4-FFF2-40B4-BE49-F238E27FC236}">
                <a16:creationId xmlns:a16="http://schemas.microsoft.com/office/drawing/2014/main" id="{D862E8E8-D027-45FE-A586-7425CA1846F5}"/>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“Build the whole thing”</a:t>
            </a:r>
          </a:p>
        </p:txBody>
      </p:sp>
      <p:sp>
        <p:nvSpPr>
          <p:cNvPr id="4" name="">
            <a:extLst xmlns:a="http://schemas.openxmlformats.org/drawingml/2006/main">
              <a:ext uri="{FF2B5EF4-FFF2-40B4-BE49-F238E27FC236}">
                <a16:creationId xmlns:a16="http://schemas.microsoft.com/office/drawing/2014/main" id="{FDBF71E7-EB9B-4DB2-AF17-45A48B00143C}"/>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“Add retries. Make it production ready.”</a:t>
            </a:r>
          </a:p>
        </p:txBody>
      </p:sp>
      <p:sp>
        <p:nvSpPr>
          <p:cNvPr id="5" name="">
            <a:extLst xmlns:a="http://schemas.openxmlformats.org/drawingml/2006/main">
              <a:ext uri="{FF2B5EF4-FFF2-40B4-BE49-F238E27FC236}">
                <a16:creationId xmlns:a16="http://schemas.microsoft.com/office/drawing/2014/main" id="{E3964EFE-CF43-426F-A72A-90D90A4FF88C}"/>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“I also redesigned your application!”</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2a1262af9164a9b"/>
          <a:stretch xmlns:a="http://schemas.openxmlformats.org/drawingml/2006/main"/>
        </p:blipFill>
        <p:spPr>
          <a:xfrm xmlns:a="http://schemas.openxmlformats.org/drawingml/2006/main">
            <a:off x="419100" y="2225742"/>
            <a:ext cx="6629400" cy="3930517"/>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16471C7-71C9-409D-87BF-54FC77328699}"/>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911B5D93-E55A-419F-B993-58DA566BE40C}"/>
              </a:ext>
            </a:extLst>
          </p:cNvPr>
          <p:cNvSpPr>
            <a:spLocks xmlns:a="http://schemas.openxmlformats.org/drawingml/2006/main" noGrp="1"/>
          </p:cNvSpPr>
          <p:nvPr/>
        </p:nvSpPr>
        <p:spPr>
          <a:xfrm xmlns:a="http://schemas.openxmlformats.org/drawingml/2006/main">
            <a:off x="7943850" y="174307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A vague task invites assumptions</a:t>
            </a:r>
          </a:p>
        </p:txBody>
      </p:sp>
      <p:sp>
        <p:nvSpPr>
          <p:cNvPr id="9" name="">
            <a:extLst xmlns:a="http://schemas.openxmlformats.org/drawingml/2006/main">
              <a:ext uri="{FF2B5EF4-FFF2-40B4-BE49-F238E27FC236}">
                <a16:creationId xmlns:a16="http://schemas.microsoft.com/office/drawing/2014/main" id="{DADCBC42-E516-43C8-AF34-A79C85F169D2}"/>
              </a:ext>
            </a:extLst>
          </p:cNvPr>
          <p:cNvSpPr>
            <a:spLocks xmlns:a="http://schemas.openxmlformats.org/drawingml/2006/main" noGrp="1"/>
          </p:cNvSpPr>
          <p:nvPr/>
        </p:nvSpPr>
        <p:spPr>
          <a:xfrm xmlns:a="http://schemas.openxmlformats.org/drawingml/2006/main">
            <a:off x="7458075" y="3143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0099C3E1-1286-4E28-9D07-8827253DFF2A}"/>
              </a:ext>
            </a:extLst>
          </p:cNvPr>
          <p:cNvSpPr>
            <a:spLocks xmlns:a="http://schemas.openxmlformats.org/drawingml/2006/main" noGrp="1"/>
          </p:cNvSpPr>
          <p:nvPr/>
        </p:nvSpPr>
        <p:spPr>
          <a:xfrm xmlns:a="http://schemas.openxmlformats.org/drawingml/2006/main">
            <a:off x="7943850" y="312420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 large diff hides unrelated changes</a:t>
            </a:r>
          </a:p>
        </p:txBody>
      </p:sp>
      <p:sp>
        <p:nvSpPr>
          <p:cNvPr id="11" name="">
            <a:extLst xmlns:a="http://schemas.openxmlformats.org/drawingml/2006/main">
              <a:ext uri="{FF2B5EF4-FFF2-40B4-BE49-F238E27FC236}">
                <a16:creationId xmlns:a16="http://schemas.microsoft.com/office/drawing/2014/main" id="{FB9540DB-DCE5-4807-99EC-FD0D9106B90D}"/>
              </a:ext>
            </a:extLst>
          </p:cNvPr>
          <p:cNvSpPr>
            <a:spLocks xmlns:a="http://schemas.openxmlformats.org/drawingml/2006/main" noGrp="1"/>
          </p:cNvSpPr>
          <p:nvPr/>
        </p:nvSpPr>
        <p:spPr>
          <a:xfrm xmlns:a="http://schemas.openxmlformats.org/drawingml/2006/main">
            <a:off x="7458075" y="45243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722755FD-0FF3-4EE3-967B-BC0BD16600A4}"/>
              </a:ext>
            </a:extLst>
          </p:cNvPr>
          <p:cNvSpPr>
            <a:spLocks xmlns:a="http://schemas.openxmlformats.org/drawingml/2006/main" noGrp="1"/>
          </p:cNvSpPr>
          <p:nvPr/>
        </p:nvSpPr>
        <p:spPr>
          <a:xfrm xmlns:a="http://schemas.openxmlformats.org/drawingml/2006/main">
            <a:off x="7943850" y="450532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Define one observable outcome before editing</a:t>
            </a:r>
          </a:p>
        </p:txBody>
      </p:sp>
    </p:spTree>
    <p:extLst>
      <p:ext uri="{BB962C8B-B14F-4D97-AF65-F5344CB8AC3E}">
        <p14:creationId xmlns:p14="http://schemas.microsoft.com/office/powerpoint/2010/main" val="1560886553"/>
      </p:ext>
    </p:extLst>
  </p:cSld>
</p:sld>
</file>

<file path=ppt/slides/slide3.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B04ECBE-77DA-4F96-8533-800A6511AE64}"/>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01 / CHOOSING THE JOB</a:t>
            </a:r>
          </a:p>
        </p:txBody>
      </p:sp>
      <p:sp>
        <p:nvSpPr>
          <p:cNvPr id="2" name="">
            <a:extLst xmlns:a="http://schemas.openxmlformats.org/drawingml/2006/main">
              <a:ext uri="{FF2B5EF4-FFF2-40B4-BE49-F238E27FC236}">
                <a16:creationId xmlns:a16="http://schemas.microsoft.com/office/drawing/2014/main" id="{344E874B-567C-4097-BF2A-12D39CC62565}"/>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03</a:t>
            </a:r>
          </a:p>
        </p:txBody>
      </p:sp>
      <p:sp>
        <p:nvSpPr>
          <p:cNvPr id="3" name="">
            <a:extLst xmlns:a="http://schemas.openxmlformats.org/drawingml/2006/main">
              <a:ext uri="{FF2B5EF4-FFF2-40B4-BE49-F238E27FC236}">
                <a16:creationId xmlns:a16="http://schemas.microsoft.com/office/drawing/2014/main" id="{F664D9EC-ACBE-41B0-8C5B-44C1EDFC2E0C}"/>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Different jobs need different tools</a:t>
            </a:r>
          </a:p>
        </p:txBody>
      </p:sp>
      <p:sp>
        <p:nvSpPr>
          <p:cNvPr id="4" name="">
            <a:extLst xmlns:a="http://schemas.openxmlformats.org/drawingml/2006/main">
              <a:ext uri="{FF2B5EF4-FFF2-40B4-BE49-F238E27FC236}">
                <a16:creationId xmlns:a16="http://schemas.microsoft.com/office/drawing/2014/main" id="{F14E01DE-D885-4A17-A70E-68FB812E8196}"/>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“Explain this before changing it.”</a:t>
            </a:r>
          </a:p>
        </p:txBody>
      </p:sp>
      <p:sp>
        <p:nvSpPr>
          <p:cNvPr id="5" name="">
            <a:extLst xmlns:a="http://schemas.openxmlformats.org/drawingml/2006/main">
              <a:ext uri="{FF2B5EF4-FFF2-40B4-BE49-F238E27FC236}">
                <a16:creationId xmlns:a16="http://schemas.microsoft.com/office/drawing/2014/main" id="{04A39C80-CD81-4D11-9017-6EA832AFBBCB}"/>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“Investigation first. Got it.”</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8bba975dc3541b0"/>
          <a:stretch xmlns:a="http://schemas.openxmlformats.org/drawingml/2006/main"/>
        </p:blipFill>
        <p:spPr>
          <a:xfrm xmlns:a="http://schemas.openxmlformats.org/drawingml/2006/main">
            <a:off x="419100" y="2295356"/>
            <a:ext cx="6629400" cy="379128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0B82A0E-CA32-49FD-AD47-19FC73C4ACAB}"/>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5AF37283-A8D8-4CD8-8AF9-7579A669744F}"/>
              </a:ext>
            </a:extLst>
          </p:cNvPr>
          <p:cNvSpPr>
            <a:spLocks xmlns:a="http://schemas.openxmlformats.org/drawingml/2006/main" noGrp="1"/>
          </p:cNvSpPr>
          <p:nvPr/>
        </p:nvSpPr>
        <p:spPr>
          <a:xfrm xmlns:a="http://schemas.openxmlformats.org/drawingml/2006/main">
            <a:off x="7943850" y="174307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Completion: a local continuation</a:t>
            </a:r>
          </a:p>
        </p:txBody>
      </p:sp>
      <p:sp>
        <p:nvSpPr>
          <p:cNvPr id="9" name="">
            <a:extLst xmlns:a="http://schemas.openxmlformats.org/drawingml/2006/main">
              <a:ext uri="{FF2B5EF4-FFF2-40B4-BE49-F238E27FC236}">
                <a16:creationId xmlns:a16="http://schemas.microsoft.com/office/drawing/2014/main" id="{24E7D66F-2F7D-42A2-8916-F04CE5A4E257}"/>
              </a:ext>
            </a:extLst>
          </p:cNvPr>
          <p:cNvSpPr>
            <a:spLocks xmlns:a="http://schemas.openxmlformats.org/drawingml/2006/main" noGrp="1"/>
          </p:cNvSpPr>
          <p:nvPr/>
        </p:nvSpPr>
        <p:spPr>
          <a:xfrm xmlns:a="http://schemas.openxmlformats.org/drawingml/2006/main">
            <a:off x="7458075" y="285750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BD9B86FA-FD73-468A-9714-9C49E5B33DE5}"/>
              </a:ext>
            </a:extLst>
          </p:cNvPr>
          <p:cNvSpPr>
            <a:spLocks xmlns:a="http://schemas.openxmlformats.org/drawingml/2006/main" noGrp="1"/>
          </p:cNvSpPr>
          <p:nvPr/>
        </p:nvSpPr>
        <p:spPr>
          <a:xfrm xmlns:a="http://schemas.openxmlformats.org/drawingml/2006/main">
            <a:off x="7943850" y="283845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Chat: explanation or diagnosis</a:t>
            </a:r>
          </a:p>
        </p:txBody>
      </p:sp>
      <p:sp>
        <p:nvSpPr>
          <p:cNvPr id="11" name="">
            <a:extLst xmlns:a="http://schemas.openxmlformats.org/drawingml/2006/main">
              <a:ext uri="{FF2B5EF4-FFF2-40B4-BE49-F238E27FC236}">
                <a16:creationId xmlns:a16="http://schemas.microsoft.com/office/drawing/2014/main" id="{CA6FD683-E447-4219-AC6E-2BD6E00C6A96}"/>
              </a:ext>
            </a:extLst>
          </p:cNvPr>
          <p:cNvSpPr>
            <a:spLocks xmlns:a="http://schemas.openxmlformats.org/drawingml/2006/main" noGrp="1"/>
          </p:cNvSpPr>
          <p:nvPr/>
        </p:nvSpPr>
        <p:spPr>
          <a:xfrm xmlns:a="http://schemas.openxmlformats.org/drawingml/2006/main">
            <a:off x="7458075" y="39528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AFEC3322-A549-465E-94EE-614D1B3D7532}"/>
              </a:ext>
            </a:extLst>
          </p:cNvPr>
          <p:cNvSpPr>
            <a:spLocks xmlns:a="http://schemas.openxmlformats.org/drawingml/2006/main" noGrp="1"/>
          </p:cNvSpPr>
          <p:nvPr/>
        </p:nvSpPr>
        <p:spPr>
          <a:xfrm xmlns:a="http://schemas.openxmlformats.org/drawingml/2006/main">
            <a:off x="7943850" y="393382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Agent: edits and tool use across files</a:t>
            </a:r>
          </a:p>
        </p:txBody>
      </p:sp>
      <p:sp>
        <p:nvSpPr>
          <p:cNvPr id="13" name="">
            <a:extLst xmlns:a="http://schemas.openxmlformats.org/drawingml/2006/main">
              <a:ext uri="{FF2B5EF4-FFF2-40B4-BE49-F238E27FC236}">
                <a16:creationId xmlns:a16="http://schemas.microsoft.com/office/drawing/2014/main" id="{24C8DF04-D408-4360-B176-97C33BF9F197}"/>
              </a:ext>
            </a:extLst>
          </p:cNvPr>
          <p:cNvSpPr>
            <a:spLocks xmlns:a="http://schemas.openxmlformats.org/drawingml/2006/main" noGrp="1"/>
          </p:cNvSpPr>
          <p:nvPr/>
        </p:nvSpPr>
        <p:spPr>
          <a:xfrm xmlns:a="http://schemas.openxmlformats.org/drawingml/2006/main">
            <a:off x="7458075" y="5048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04</a:t>
            </a:r>
          </a:p>
        </p:txBody>
      </p:sp>
      <p:sp>
        <p:nvSpPr>
          <p:cNvPr id="14" name="">
            <a:extLst xmlns:a="http://schemas.openxmlformats.org/drawingml/2006/main">
              <a:ext uri="{FF2B5EF4-FFF2-40B4-BE49-F238E27FC236}">
                <a16:creationId xmlns:a16="http://schemas.microsoft.com/office/drawing/2014/main" id="{FBF8BEF4-AB63-4719-B33F-FD8F9B8E7A13}"/>
              </a:ext>
            </a:extLst>
          </p:cNvPr>
          <p:cNvSpPr>
            <a:spLocks xmlns:a="http://schemas.openxmlformats.org/drawingml/2006/main" noGrp="1"/>
          </p:cNvSpPr>
          <p:nvPr/>
        </p:nvSpPr>
        <p:spPr>
          <a:xfrm xmlns:a="http://schemas.openxmlformats.org/drawingml/2006/main">
            <a:off x="7943850" y="502920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Cloud task: isolated work for review</a:t>
            </a:r>
          </a:p>
        </p:txBody>
      </p:sp>
    </p:spTree>
    <p:extLst>
      <p:ext uri="{BB962C8B-B14F-4D97-AF65-F5344CB8AC3E}">
        <p14:creationId xmlns:p14="http://schemas.microsoft.com/office/powerpoint/2010/main" val="658288522"/>
      </p:ext>
    </p:extLst>
  </p:cSld>
</p:sld>
</file>

<file path=ppt/slides/slide4.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3ADF084-82FF-4C59-B622-F4169462B8E3}"/>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01 / THE MODE SELECTOR</a:t>
            </a:r>
          </a:p>
        </p:txBody>
      </p:sp>
      <p:sp>
        <p:nvSpPr>
          <p:cNvPr id="2" name="">
            <a:extLst xmlns:a="http://schemas.openxmlformats.org/drawingml/2006/main">
              <a:ext uri="{FF2B5EF4-FFF2-40B4-BE49-F238E27FC236}">
                <a16:creationId xmlns:a16="http://schemas.microsoft.com/office/drawing/2014/main" id="{6EC09706-597A-419D-AB47-0BD4203395B8}"/>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Ask, Plan, Agent: choose the next job</a:t>
            </a:r>
          </a:p>
        </p:txBody>
      </p:sp>
      <p:sp>
        <p:nvSpPr>
          <p:cNvPr id="3" name="">
            <a:extLst xmlns:a="http://schemas.openxmlformats.org/drawingml/2006/main">
              <a:ext uri="{FF2B5EF4-FFF2-40B4-BE49-F238E27FC236}">
                <a16:creationId xmlns:a16="http://schemas.microsoft.com/office/drawing/2014/main" id="{667A2F3B-8636-4FEC-8006-64D0069EC7EA}"/>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04</a:t>
            </a:r>
          </a:p>
        </p:txBody>
      </p:sp>
      <p:sp>
        <p:nvSpPr>
          <p:cNvPr id="4" name="">
            <a:extLst xmlns:a="http://schemas.openxmlformats.org/drawingml/2006/main">
              <a:ext uri="{FF2B5EF4-FFF2-40B4-BE49-F238E27FC236}">
                <a16:creationId xmlns:a16="http://schemas.microsoft.com/office/drawing/2014/main" id="{2FDB5B4D-3FFD-4CAA-B059-AD854E7D7EF5}"/>
              </a:ext>
            </a:extLst>
          </p:cNvPr>
          <p:cNvSpPr>
            <a:spLocks xmlns:a="http://schemas.openxmlformats.org/drawingml/2006/main" noGrp="1"/>
          </p:cNvSpPr>
          <p:nvPr/>
        </p:nvSpPr>
        <p:spPr>
          <a:xfrm xmlns:a="http://schemas.openxmlformats.org/drawingml/2006/main">
            <a:off x="438150" y="1476375"/>
            <a:ext cx="1123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746B0"/>
                </a:solidFill>
                <a:latin typeface="DejaVu Sans"/>
                <a:ea typeface="DejaVu Sans"/>
                <a:cs typeface="DejaVu Sans"/>
              </a:defRPr>
            </a:pPr>
            <a:r>
              <a:rPr sz="2175" b="1">
                <a:solidFill>
                  <a:srgbClr val="1746B0"/>
                </a:solidFill>
                <a:latin typeface="DejaVu Sans"/>
                <a:ea typeface="DejaVu Sans"/>
                <a:cs typeface="DejaVu Sans"/>
              </a:rPr>
              <a:t>Move between modes when the task changes.</a:t>
            </a:r>
          </a:p>
        </p:txBody>
      </p:sp>
      <p:graphicFrame>
        <p:nvGraphicFramePr>
          <p:cNvPr id="11" name=""/>
          <p:cNvGraphicFramePr/>
          <p:nvPr/>
        </p:nvGraphicFramePr>
        <p:xfrm>
          <a:off xmlns:a="http://schemas.openxmlformats.org/drawingml/2006/main" x="438150" y="2247900"/>
          <a:ext xmlns:a="http://schemas.openxmlformats.org/drawingml/2006/main" cx="11239500" cy="3009900"/>
        </p:xfrm>
        <a:graphic xmlns:a="http://schemas.openxmlformats.org/drawingml/2006/main">
          <a:graphicData uri="http://schemas.openxmlformats.org/drawingml/2006/table">
            <a:tbl>
              <a:tblPr/>
              <a:tblGrid>
                <a:gridCol w="1619250"/>
                <a:gridCol w="4762500"/>
                <a:gridCol w="4857750"/>
              </a:tblGrid>
              <a:tr h="752475">
                <a:tc>
                  <a:txBody>
                    <a:bodyPr/>
                    <a:lstStyle/>
                    <a:p>
                      <a:r>
                        <a:rPr sz="1800" b="1">
                          <a:solidFill>
                            <a:srgbClr val="FFFFFF"/>
                          </a:solidFill>
                          <a:latin typeface="DejaVu Sans"/>
                          <a:ea typeface="DejaVu Sans"/>
                          <a:cs typeface="DejaVu Sans"/>
                        </a:rPr>
                        <a:t>MODE</a:t>
                      </a:r>
                    </a:p>
                  </a:txBody>
                  <a:tcPr marL="91440" marR="91440" marT="45720" marB="45720">
                    <a:solidFill>
                      <a:srgbClr val="1746B0"/>
                    </a:solidFill>
                  </a:tcPr>
                </a:tc>
                <a:tc>
                  <a:txBody>
                    <a:bodyPr/>
                    <a:lstStyle/>
                    <a:p>
                      <a:r>
                        <a:rPr sz="1800" b="1">
                          <a:solidFill>
                            <a:srgbClr val="FFFFFF"/>
                          </a:solidFill>
                          <a:latin typeface="DejaVu Sans"/>
                          <a:ea typeface="DejaVu Sans"/>
                          <a:cs typeface="DejaVu Sans"/>
                        </a:rPr>
                        <a:t>USE IT TO…</a:t>
                      </a:r>
                    </a:p>
                  </a:txBody>
                  <a:tcPr marL="91440" marR="91440" marT="45720" marB="45720">
                    <a:solidFill>
                      <a:srgbClr val="1746B0"/>
                    </a:solidFill>
                  </a:tcPr>
                </a:tc>
                <a:tc>
                  <a:txBody>
                    <a:bodyPr/>
                    <a:lstStyle/>
                    <a:p>
                      <a:r>
                        <a:rPr sz="1800" b="1">
                          <a:solidFill>
                            <a:srgbClr val="FFFFFF"/>
                          </a:solidFill>
                          <a:latin typeface="DejaVu Sans"/>
                          <a:ea typeface="DejaVu Sans"/>
                          <a:cs typeface="DejaVu Sans"/>
                        </a:rPr>
                        <a:t>YOUR CHECKPOINT</a:t>
                      </a:r>
                    </a:p>
                  </a:txBody>
                  <a:tcPr marL="91440" marR="91440" marT="45720" marB="45720">
                    <a:solidFill>
                      <a:srgbClr val="1746B0"/>
                    </a:solidFill>
                  </a:tcPr>
                </a:tc>
              </a:tr>
              <a:tr h="752475">
                <a:tc>
                  <a:txBody>
                    <a:bodyPr/>
                    <a:lstStyle/>
                    <a:p>
                      <a:r>
                        <a:rPr sz="1800" b="1">
                          <a:solidFill>
                            <a:srgbClr val="182633"/>
                          </a:solidFill>
                          <a:latin typeface="DejaVu Sans"/>
                          <a:ea typeface="DejaVu Sans"/>
                          <a:cs typeface="DejaVu Sans"/>
                        </a:rPr>
                        <a:t>ASK</a:t>
                      </a:r>
                    </a:p>
                  </a:txBody>
                  <a:tcPr marL="91440" marR="91440" marT="45720" marB="45720">
                    <a:solidFill>
                      <a:srgbClr val="FFFFFF"/>
                    </a:solidFill>
                  </a:tcPr>
                </a:tc>
                <a:tc>
                  <a:txBody>
                    <a:bodyPr/>
                    <a:lstStyle/>
                    <a:p>
                      <a:r>
                        <a:rPr sz="1800" b="0">
                          <a:solidFill>
                            <a:srgbClr val="182633"/>
                          </a:solidFill>
                          <a:latin typeface="DejaVu Sans"/>
                          <a:ea typeface="DejaVu Sans"/>
                          <a:cs typeface="DejaVu Sans"/>
                        </a:rPr>
                        <a:t>Understand code, errors and options</a:t>
                      </a:r>
                    </a:p>
                  </a:txBody>
                  <a:tcPr marL="91440" marR="91440" marT="45720" marB="45720">
                    <a:solidFill>
                      <a:srgbClr val="FFFFFF"/>
                    </a:solidFill>
                  </a:tcPr>
                </a:tc>
                <a:tc>
                  <a:txBody>
                    <a:bodyPr/>
                    <a:lstStyle/>
                    <a:p>
                      <a:r>
                        <a:rPr sz="1800" b="0">
                          <a:solidFill>
                            <a:srgbClr val="182633"/>
                          </a:solidFill>
                          <a:latin typeface="DejaVu Sans"/>
                          <a:ea typeface="DejaVu Sans"/>
                          <a:cs typeface="DejaVu Sans"/>
                        </a:rPr>
                        <a:t>Check cited files and assumptions</a:t>
                      </a:r>
                    </a:p>
                  </a:txBody>
                  <a:tcPr marL="91440" marR="91440" marT="45720" marB="45720">
                    <a:solidFill>
                      <a:srgbClr val="FFFFFF"/>
                    </a:solidFill>
                  </a:tcPr>
                </a:tc>
              </a:tr>
              <a:tr h="752475">
                <a:tc>
                  <a:txBody>
                    <a:bodyPr/>
                    <a:lstStyle/>
                    <a:p>
                      <a:r>
                        <a:rPr sz="1800" b="1">
                          <a:solidFill>
                            <a:srgbClr val="182633"/>
                          </a:solidFill>
                          <a:latin typeface="DejaVu Sans"/>
                          <a:ea typeface="DejaVu Sans"/>
                          <a:cs typeface="DejaVu Sans"/>
                        </a:rPr>
                        <a:t>PLAN</a:t>
                      </a:r>
                    </a:p>
                  </a:txBody>
                  <a:tcPr marL="91440" marR="91440" marT="45720" marB="45720">
                    <a:solidFill>
                      <a:srgbClr val="DFF2EB"/>
                    </a:solidFill>
                  </a:tcPr>
                </a:tc>
                <a:tc>
                  <a:txBody>
                    <a:bodyPr/>
                    <a:lstStyle/>
                    <a:p>
                      <a:r>
                        <a:rPr sz="1800" b="0">
                          <a:solidFill>
                            <a:srgbClr val="182633"/>
                          </a:solidFill>
                          <a:latin typeface="DejaVu Sans"/>
                          <a:ea typeface="DejaVu Sans"/>
                          <a:cs typeface="DejaVu Sans"/>
                        </a:rPr>
                        <a:t>Research scope, steps and tests</a:t>
                      </a:r>
                    </a:p>
                  </a:txBody>
                  <a:tcPr marL="91440" marR="91440" marT="45720" marB="45720">
                    <a:solidFill>
                      <a:srgbClr val="DFF2EB"/>
                    </a:solidFill>
                  </a:tcPr>
                </a:tc>
                <a:tc>
                  <a:txBody>
                    <a:bodyPr/>
                    <a:lstStyle/>
                    <a:p>
                      <a:r>
                        <a:rPr sz="1800" b="0">
                          <a:solidFill>
                            <a:srgbClr val="182633"/>
                          </a:solidFill>
                          <a:latin typeface="DejaVu Sans"/>
                          <a:ea typeface="DejaVu Sans"/>
                          <a:cs typeface="DejaVu Sans"/>
                        </a:rPr>
                        <a:t>Review the plan before implementation</a:t>
                      </a:r>
                    </a:p>
                  </a:txBody>
                  <a:tcPr marL="91440" marR="91440" marT="45720" marB="45720">
                    <a:solidFill>
                      <a:srgbClr val="DFF2EB"/>
                    </a:solidFill>
                  </a:tcPr>
                </a:tc>
              </a:tr>
              <a:tr h="752475">
                <a:tc>
                  <a:txBody>
                    <a:bodyPr/>
                    <a:lstStyle/>
                    <a:p>
                      <a:r>
                        <a:rPr sz="1800" b="1">
                          <a:solidFill>
                            <a:srgbClr val="182633"/>
                          </a:solidFill>
                          <a:latin typeface="DejaVu Sans"/>
                          <a:ea typeface="DejaVu Sans"/>
                          <a:cs typeface="DejaVu Sans"/>
                        </a:rPr>
                        <a:t>AGENT</a:t>
                      </a:r>
                    </a:p>
                  </a:txBody>
                  <a:tcPr marL="91440" marR="91440" marT="45720" marB="45720">
                    <a:solidFill>
                      <a:srgbClr val="FFFFFF"/>
                    </a:solidFill>
                  </a:tcPr>
                </a:tc>
                <a:tc>
                  <a:txBody>
                    <a:bodyPr/>
                    <a:lstStyle/>
                    <a:p>
                      <a:r>
                        <a:rPr sz="1800" b="0">
                          <a:solidFill>
                            <a:srgbClr val="182633"/>
                          </a:solidFill>
                          <a:latin typeface="DejaVu Sans"/>
                          <a:ea typeface="DejaVu Sans"/>
                          <a:cs typeface="DejaVu Sans"/>
                        </a:rPr>
                        <a:t>Edit files, run tools and verify</a:t>
                      </a:r>
                    </a:p>
                  </a:txBody>
                  <a:tcPr marL="91440" marR="91440" marT="45720" marB="45720">
                    <a:solidFill>
                      <a:srgbClr val="FFFFFF"/>
                    </a:solidFill>
                  </a:tcPr>
                </a:tc>
                <a:tc>
                  <a:txBody>
                    <a:bodyPr/>
                    <a:lstStyle/>
                    <a:p>
                      <a:r>
                        <a:rPr sz="1800" b="0">
                          <a:solidFill>
                            <a:srgbClr val="182633"/>
                          </a:solidFill>
                          <a:latin typeface="DejaVu Sans"/>
                          <a:ea typeface="DejaVu Sans"/>
                          <a:cs typeface="DejaVu Sans"/>
                        </a:rPr>
                        <a:t>Review permissions, diff and evidence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DDAEDBB-2149-427C-9CCD-1213924E9E5D}"/>
              </a:ext>
            </a:extLst>
          </p:cNvPr>
          <p:cNvSpPr>
            <a:spLocks xmlns:a="http://schemas.openxmlformats.org/drawingml/2006/main" noGrp="1"/>
          </p:cNvSpPr>
          <p:nvPr/>
        </p:nvSpPr>
        <p:spPr>
          <a:xfrm xmlns:a="http://schemas.openxmlformats.org/drawingml/2006/main">
            <a:off x="438150" y="5600700"/>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Mode ≠ permissions. Check the tool approvals and sandbox separately.</a:t>
            </a:r>
          </a:p>
        </p:txBody>
      </p:sp>
    </p:spTree>
    <p:extLst>
      <p:ext uri="{BB962C8B-B14F-4D97-AF65-F5344CB8AC3E}">
        <p14:creationId xmlns:p14="http://schemas.microsoft.com/office/powerpoint/2010/main" val="638025141"/>
      </p:ext>
    </p:extLst>
  </p:cSld>
</p:sld>
</file>

<file path=ppt/slides/slide5.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B779339-0586-46C6-95DB-EC0EFF481CCF}"/>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01 / MODES IN PRACTICE</a:t>
            </a:r>
          </a:p>
        </p:txBody>
      </p:sp>
      <p:sp>
        <p:nvSpPr>
          <p:cNvPr id="2" name="">
            <a:extLst xmlns:a="http://schemas.openxmlformats.org/drawingml/2006/main">
              <a:ext uri="{FF2B5EF4-FFF2-40B4-BE49-F238E27FC236}">
                <a16:creationId xmlns:a16="http://schemas.microsoft.com/office/drawing/2014/main" id="{ECA0E880-A96B-4D91-A5BB-BF59ABAB08D4}"/>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ASK: understand before you touch</a:t>
            </a:r>
          </a:p>
        </p:txBody>
      </p:sp>
      <p:sp>
        <p:nvSpPr>
          <p:cNvPr id="3" name="">
            <a:extLst xmlns:a="http://schemas.openxmlformats.org/drawingml/2006/main">
              <a:ext uri="{FF2B5EF4-FFF2-40B4-BE49-F238E27FC236}">
                <a16:creationId xmlns:a16="http://schemas.microsoft.com/office/drawing/2014/main" id="{C0FA0F3E-2019-4C96-830B-207A14AEFEA4}"/>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05</a:t>
            </a:r>
          </a:p>
        </p:txBody>
      </p:sp>
      <p:sp>
        <p:nvSpPr>
          <p:cNvPr id="4" name="">
            <a:extLst xmlns:a="http://schemas.openxmlformats.org/drawingml/2006/main">
              <a:ext uri="{FF2B5EF4-FFF2-40B4-BE49-F238E27FC236}">
                <a16:creationId xmlns:a16="http://schemas.microsoft.com/office/drawing/2014/main" id="{AF613E47-93FF-4CD0-A26D-F051E8876BFE}"/>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“Why does retry charge twice?”</a:t>
            </a:r>
          </a:p>
        </p:txBody>
      </p:sp>
      <p:sp>
        <p:nvSpPr>
          <p:cNvPr id="5" name="">
            <a:extLst xmlns:a="http://schemas.openxmlformats.org/drawingml/2006/main">
              <a:ext uri="{FF2B5EF4-FFF2-40B4-BE49-F238E27FC236}">
                <a16:creationId xmlns:a16="http://schemas.microsoft.com/office/drawing/2014/main" id="{215AD309-FB53-4EEE-BECE-E1C8B6DA103F}"/>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“Here is the call path and evidence.”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f5defbc2d3a4cd9"/>
          <a:stretch xmlns:a="http://schemas.openxmlformats.org/drawingml/2006/main"/>
        </p:blipFill>
        <p:spPr>
          <a:xfrm xmlns:a="http://schemas.openxmlformats.org/drawingml/2006/main">
            <a:off x="511245" y="2066925"/>
            <a:ext cx="6445110" cy="4248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F2C37C5-86B3-4171-8555-25C6A976550F}"/>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9615EB01-73D9-4A24-BB0D-DB7AFBB72B11}"/>
              </a:ext>
            </a:extLst>
          </p:cNvPr>
          <p:cNvSpPr>
            <a:spLocks xmlns:a="http://schemas.openxmlformats.org/drawingml/2006/main" noGrp="1"/>
          </p:cNvSpPr>
          <p:nvPr/>
        </p:nvSpPr>
        <p:spPr>
          <a:xfrm xmlns:a="http://schemas.openxmlformats.org/drawingml/2006/main">
            <a:off x="7943850" y="1743075"/>
            <a:ext cx="3790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Request an explanation grounded in files</a:t>
            </a:r>
          </a:p>
        </p:txBody>
      </p:sp>
      <p:sp>
        <p:nvSpPr>
          <p:cNvPr id="9" name="">
            <a:extLst xmlns:a="http://schemas.openxmlformats.org/drawingml/2006/main">
              <a:ext uri="{FF2B5EF4-FFF2-40B4-BE49-F238E27FC236}">
                <a16:creationId xmlns:a16="http://schemas.microsoft.com/office/drawing/2014/main" id="{89520B99-5B27-4AE6-B5D9-DB0F47590A02}"/>
              </a:ext>
            </a:extLst>
          </p:cNvPr>
          <p:cNvSpPr>
            <a:spLocks xmlns:a="http://schemas.openxmlformats.org/drawingml/2006/main" noGrp="1"/>
          </p:cNvSpPr>
          <p:nvPr/>
        </p:nvSpPr>
        <p:spPr>
          <a:xfrm xmlns:a="http://schemas.openxmlformats.org/drawingml/2006/main">
            <a:off x="7458075" y="3143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935130D1-BB46-4A2C-B34C-8C21098148F2}"/>
              </a:ext>
            </a:extLst>
          </p:cNvPr>
          <p:cNvSpPr>
            <a:spLocks xmlns:a="http://schemas.openxmlformats.org/drawingml/2006/main" noGrp="1"/>
          </p:cNvSpPr>
          <p:nvPr/>
        </p:nvSpPr>
        <p:spPr>
          <a:xfrm xmlns:a="http://schemas.openxmlformats.org/drawingml/2006/main">
            <a:off x="7943850" y="3124200"/>
            <a:ext cx="3790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Separate facts from guesses</a:t>
            </a:r>
          </a:p>
        </p:txBody>
      </p:sp>
      <p:sp>
        <p:nvSpPr>
          <p:cNvPr id="11" name="">
            <a:extLst xmlns:a="http://schemas.openxmlformats.org/drawingml/2006/main">
              <a:ext uri="{FF2B5EF4-FFF2-40B4-BE49-F238E27FC236}">
                <a16:creationId xmlns:a16="http://schemas.microsoft.com/office/drawing/2014/main" id="{ABD81DFD-1C6D-4B02-9440-E78B3BE6E1A5}"/>
              </a:ext>
            </a:extLst>
          </p:cNvPr>
          <p:cNvSpPr>
            <a:spLocks xmlns:a="http://schemas.openxmlformats.org/drawingml/2006/main" noGrp="1"/>
          </p:cNvSpPr>
          <p:nvPr/>
        </p:nvSpPr>
        <p:spPr>
          <a:xfrm xmlns:a="http://schemas.openxmlformats.org/drawingml/2006/main">
            <a:off x="7458075" y="45243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5E75DE4D-4DA8-4B56-844C-35BCBA80F8DF}"/>
              </a:ext>
            </a:extLst>
          </p:cNvPr>
          <p:cNvSpPr>
            <a:spLocks xmlns:a="http://schemas.openxmlformats.org/drawingml/2006/main" noGrp="1"/>
          </p:cNvSpPr>
          <p:nvPr/>
        </p:nvSpPr>
        <p:spPr>
          <a:xfrm xmlns:a="http://schemas.openxmlformats.org/drawingml/2006/main">
            <a:off x="7943850" y="4505325"/>
            <a:ext cx="3790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Turn the answer into a testable hypothesis</a:t>
            </a:r>
          </a:p>
        </p:txBody>
      </p:sp>
    </p:spTree>
    <p:extLst>
      <p:ext uri="{BB962C8B-B14F-4D97-AF65-F5344CB8AC3E}">
        <p14:creationId xmlns:p14="http://schemas.microsoft.com/office/powerpoint/2010/main" val="279313733"/>
      </p:ext>
    </p:extLst>
  </p:cSld>
</p:sld>
</file>

<file path=ppt/slides/slide6.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5D81304-2BAA-4E32-952A-46E0DD21797F}"/>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01 / MODES IN PRACTICE</a:t>
            </a:r>
          </a:p>
        </p:txBody>
      </p:sp>
      <p:sp>
        <p:nvSpPr>
          <p:cNvPr id="2" name="">
            <a:extLst xmlns:a="http://schemas.openxmlformats.org/drawingml/2006/main">
              <a:ext uri="{FF2B5EF4-FFF2-40B4-BE49-F238E27FC236}">
                <a16:creationId xmlns:a16="http://schemas.microsoft.com/office/drawing/2014/main" id="{ABEBC78A-1D3A-43B6-BBE1-D81BC74795E1}"/>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PLAN: agree on the route</a:t>
            </a:r>
          </a:p>
        </p:txBody>
      </p:sp>
      <p:sp>
        <p:nvSpPr>
          <p:cNvPr id="3" name="">
            <a:extLst xmlns:a="http://schemas.openxmlformats.org/drawingml/2006/main">
              <a:ext uri="{FF2B5EF4-FFF2-40B4-BE49-F238E27FC236}">
                <a16:creationId xmlns:a16="http://schemas.microsoft.com/office/drawing/2014/main" id="{71333948-D6CE-4393-BDAE-24FA70AA1C9B}"/>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06</a:t>
            </a:r>
          </a:p>
        </p:txBody>
      </p:sp>
      <p:sp>
        <p:nvSpPr>
          <p:cNvPr id="4" name="">
            <a:extLst xmlns:a="http://schemas.openxmlformats.org/drawingml/2006/main">
              <a:ext uri="{FF2B5EF4-FFF2-40B4-BE49-F238E27FC236}">
                <a16:creationId xmlns:a16="http://schemas.microsoft.com/office/drawing/2014/main" id="{621E676A-2C3E-4EE3-95AC-0B600C1013DE}"/>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“Plan the smallest safe fix.”</a:t>
            </a:r>
          </a:p>
        </p:txBody>
      </p:sp>
      <p:sp>
        <p:nvSpPr>
          <p:cNvPr id="5" name="">
            <a:extLst xmlns:a="http://schemas.openxmlformats.org/drawingml/2006/main">
              <a:ext uri="{FF2B5EF4-FFF2-40B4-BE49-F238E27FC236}">
                <a16:creationId xmlns:a16="http://schemas.microsoft.com/office/drawing/2014/main" id="{4C1E463D-AC80-44C9-A4A0-AFB6B49898D3}"/>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“First, let’s settle the retry contract.”</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e60083875e948e9"/>
          <a:stretch xmlns:a="http://schemas.openxmlformats.org/drawingml/2006/main"/>
        </p:blipFill>
        <p:spPr>
          <a:xfrm xmlns:a="http://schemas.openxmlformats.org/drawingml/2006/main">
            <a:off x="506039" y="2066925"/>
            <a:ext cx="6455522" cy="4248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14B99DC-C69F-46C3-A228-0D85F53E438F}"/>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F7F7033C-169F-4407-9248-703AF69B598A}"/>
              </a:ext>
            </a:extLst>
          </p:cNvPr>
          <p:cNvSpPr>
            <a:spLocks xmlns:a="http://schemas.openxmlformats.org/drawingml/2006/main" noGrp="1"/>
          </p:cNvSpPr>
          <p:nvPr/>
        </p:nvSpPr>
        <p:spPr>
          <a:xfrm xmlns:a="http://schemas.openxmlformats.org/drawingml/2006/main">
            <a:off x="7943850" y="1743075"/>
            <a:ext cx="3790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Ask for clarifying questions and risks</a:t>
            </a:r>
          </a:p>
        </p:txBody>
      </p:sp>
      <p:sp>
        <p:nvSpPr>
          <p:cNvPr id="9" name="">
            <a:extLst xmlns:a="http://schemas.openxmlformats.org/drawingml/2006/main">
              <a:ext uri="{FF2B5EF4-FFF2-40B4-BE49-F238E27FC236}">
                <a16:creationId xmlns:a16="http://schemas.microsoft.com/office/drawing/2014/main" id="{CB50FC0C-F4CF-4329-AF9F-C9124BB14F1A}"/>
              </a:ext>
            </a:extLst>
          </p:cNvPr>
          <p:cNvSpPr>
            <a:spLocks xmlns:a="http://schemas.openxmlformats.org/drawingml/2006/main" noGrp="1"/>
          </p:cNvSpPr>
          <p:nvPr/>
        </p:nvSpPr>
        <p:spPr>
          <a:xfrm xmlns:a="http://schemas.openxmlformats.org/drawingml/2006/main">
            <a:off x="7458075" y="3143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2B5D0563-6C56-47CA-A7BD-481D654BEDEE}"/>
              </a:ext>
            </a:extLst>
          </p:cNvPr>
          <p:cNvSpPr>
            <a:spLocks xmlns:a="http://schemas.openxmlformats.org/drawingml/2006/main" noGrp="1"/>
          </p:cNvSpPr>
          <p:nvPr/>
        </p:nvSpPr>
        <p:spPr>
          <a:xfrm xmlns:a="http://schemas.openxmlformats.org/drawingml/2006/main">
            <a:off x="7943850" y="3124200"/>
            <a:ext cx="3790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Name files, steps and regression tests</a:t>
            </a:r>
          </a:p>
        </p:txBody>
      </p:sp>
      <p:sp>
        <p:nvSpPr>
          <p:cNvPr id="11" name="">
            <a:extLst xmlns:a="http://schemas.openxmlformats.org/drawingml/2006/main">
              <a:ext uri="{FF2B5EF4-FFF2-40B4-BE49-F238E27FC236}">
                <a16:creationId xmlns:a16="http://schemas.microsoft.com/office/drawing/2014/main" id="{C71D3E6B-D47F-49BE-A8AE-CA6E8FCF8E41}"/>
              </a:ext>
            </a:extLst>
          </p:cNvPr>
          <p:cNvSpPr>
            <a:spLocks xmlns:a="http://schemas.openxmlformats.org/drawingml/2006/main" noGrp="1"/>
          </p:cNvSpPr>
          <p:nvPr/>
        </p:nvSpPr>
        <p:spPr>
          <a:xfrm xmlns:a="http://schemas.openxmlformats.org/drawingml/2006/main">
            <a:off x="7458075" y="45243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4C390714-C3D0-4A43-BCCB-7A4838E5E02B}"/>
              </a:ext>
            </a:extLst>
          </p:cNvPr>
          <p:cNvSpPr>
            <a:spLocks xmlns:a="http://schemas.openxmlformats.org/drawingml/2006/main" noGrp="1"/>
          </p:cNvSpPr>
          <p:nvPr/>
        </p:nvSpPr>
        <p:spPr>
          <a:xfrm xmlns:a="http://schemas.openxmlformats.org/drawingml/2006/main">
            <a:off x="7943850" y="4505325"/>
            <a:ext cx="3790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Review scope before handing off to Agent</a:t>
            </a:r>
          </a:p>
        </p:txBody>
      </p:sp>
    </p:spTree>
    <p:extLst>
      <p:ext uri="{BB962C8B-B14F-4D97-AF65-F5344CB8AC3E}">
        <p14:creationId xmlns:p14="http://schemas.microsoft.com/office/powerpoint/2010/main" val="148150140"/>
      </p:ext>
    </p:extLst>
  </p:cSld>
</p:sld>
</file>

<file path=ppt/slides/slide7.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A0CEB7C-AB03-4971-8CB0-847A68724987}"/>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01 / MODES IN PRACTICE</a:t>
            </a:r>
          </a:p>
        </p:txBody>
      </p:sp>
      <p:sp>
        <p:nvSpPr>
          <p:cNvPr id="2" name="">
            <a:extLst xmlns:a="http://schemas.openxmlformats.org/drawingml/2006/main">
              <a:ext uri="{FF2B5EF4-FFF2-40B4-BE49-F238E27FC236}">
                <a16:creationId xmlns:a16="http://schemas.microsoft.com/office/drawing/2014/main" id="{4AF8069D-B201-46E0-9D63-DDCAA82CF994}"/>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AGENT: implement, then prove it</a:t>
            </a:r>
          </a:p>
        </p:txBody>
      </p:sp>
      <p:sp>
        <p:nvSpPr>
          <p:cNvPr id="3" name="">
            <a:extLst xmlns:a="http://schemas.openxmlformats.org/drawingml/2006/main">
              <a:ext uri="{FF2B5EF4-FFF2-40B4-BE49-F238E27FC236}">
                <a16:creationId xmlns:a16="http://schemas.microsoft.com/office/drawing/2014/main" id="{77F3519D-BDD3-4C1A-9C67-50FA6F311E46}"/>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07</a:t>
            </a:r>
          </a:p>
        </p:txBody>
      </p:sp>
      <p:sp>
        <p:nvSpPr>
          <p:cNvPr id="4" name="">
            <a:extLst xmlns:a="http://schemas.openxmlformats.org/drawingml/2006/main">
              <a:ext uri="{FF2B5EF4-FFF2-40B4-BE49-F238E27FC236}">
                <a16:creationId xmlns:a16="http://schemas.microsoft.com/office/drawing/2014/main" id="{38C6E880-E1E1-4526-BE04-F921850870E6}"/>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“Implement the approved plan.”</a:t>
            </a:r>
          </a:p>
        </p:txBody>
      </p:sp>
      <p:sp>
        <p:nvSpPr>
          <p:cNvPr id="5" name="">
            <a:extLst xmlns:a="http://schemas.openxmlformats.org/drawingml/2006/main">
              <a:ext uri="{FF2B5EF4-FFF2-40B4-BE49-F238E27FC236}">
                <a16:creationId xmlns:a16="http://schemas.microsoft.com/office/drawing/2014/main" id="{9BA0EBF9-BE12-4AFE-B392-A45A37FFEFFF}"/>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“Small diff. Tests. Evidence.”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140bba3d2ab4375"/>
          <a:stretch xmlns:a="http://schemas.openxmlformats.org/drawingml/2006/main"/>
        </p:blipFill>
        <p:spPr>
          <a:xfrm xmlns:a="http://schemas.openxmlformats.org/drawingml/2006/main">
            <a:off x="438556" y="2066925"/>
            <a:ext cx="6590488" cy="4248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0AAE81E-E3F7-42AE-99CF-BF1CC97EA68A}"/>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A9C0882F-2767-4275-BB22-2603BAFAB9C0}"/>
              </a:ext>
            </a:extLst>
          </p:cNvPr>
          <p:cNvSpPr>
            <a:spLocks xmlns:a="http://schemas.openxmlformats.org/drawingml/2006/main" noGrp="1"/>
          </p:cNvSpPr>
          <p:nvPr/>
        </p:nvSpPr>
        <p:spPr>
          <a:xfrm xmlns:a="http://schemas.openxmlformats.org/drawingml/2006/main">
            <a:off x="7943850" y="1743075"/>
            <a:ext cx="3790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Give a bounded task and acceptance criteria</a:t>
            </a:r>
          </a:p>
        </p:txBody>
      </p:sp>
      <p:sp>
        <p:nvSpPr>
          <p:cNvPr id="9" name="">
            <a:extLst xmlns:a="http://schemas.openxmlformats.org/drawingml/2006/main">
              <a:ext uri="{FF2B5EF4-FFF2-40B4-BE49-F238E27FC236}">
                <a16:creationId xmlns:a16="http://schemas.microsoft.com/office/drawing/2014/main" id="{FBAD6B08-FB3E-4D7C-A3BE-CAF042DD33F4}"/>
              </a:ext>
            </a:extLst>
          </p:cNvPr>
          <p:cNvSpPr>
            <a:spLocks xmlns:a="http://schemas.openxmlformats.org/drawingml/2006/main" noGrp="1"/>
          </p:cNvSpPr>
          <p:nvPr/>
        </p:nvSpPr>
        <p:spPr>
          <a:xfrm xmlns:a="http://schemas.openxmlformats.org/drawingml/2006/main">
            <a:off x="7458075" y="3143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4E86D777-9B14-438D-8D49-EB22CA07D0E3}"/>
              </a:ext>
            </a:extLst>
          </p:cNvPr>
          <p:cNvSpPr>
            <a:spLocks xmlns:a="http://schemas.openxmlformats.org/drawingml/2006/main" noGrp="1"/>
          </p:cNvSpPr>
          <p:nvPr/>
        </p:nvSpPr>
        <p:spPr>
          <a:xfrm xmlns:a="http://schemas.openxmlformats.org/drawingml/2006/main">
            <a:off x="7943850" y="3124200"/>
            <a:ext cx="3790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Review tool requests and side effects</a:t>
            </a:r>
          </a:p>
        </p:txBody>
      </p:sp>
      <p:sp>
        <p:nvSpPr>
          <p:cNvPr id="11" name="">
            <a:extLst xmlns:a="http://schemas.openxmlformats.org/drawingml/2006/main">
              <a:ext uri="{FF2B5EF4-FFF2-40B4-BE49-F238E27FC236}">
                <a16:creationId xmlns:a16="http://schemas.microsoft.com/office/drawing/2014/main" id="{47319EA4-2776-4DC7-A415-66C2E2BCEACF}"/>
              </a:ext>
            </a:extLst>
          </p:cNvPr>
          <p:cNvSpPr>
            <a:spLocks xmlns:a="http://schemas.openxmlformats.org/drawingml/2006/main" noGrp="1"/>
          </p:cNvSpPr>
          <p:nvPr/>
        </p:nvSpPr>
        <p:spPr>
          <a:xfrm xmlns:a="http://schemas.openxmlformats.org/drawingml/2006/main">
            <a:off x="7458075" y="45243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0D1DB647-8A9A-428A-BBD0-60BFED1E38D0}"/>
              </a:ext>
            </a:extLst>
          </p:cNvPr>
          <p:cNvSpPr>
            <a:spLocks xmlns:a="http://schemas.openxmlformats.org/drawingml/2006/main" noGrp="1"/>
          </p:cNvSpPr>
          <p:nvPr/>
        </p:nvSpPr>
        <p:spPr>
          <a:xfrm xmlns:a="http://schemas.openxmlformats.org/drawingml/2006/main">
            <a:off x="7943850" y="4505325"/>
            <a:ext cx="3790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Inspect the diff and test evidence yourself</a:t>
            </a:r>
          </a:p>
        </p:txBody>
      </p:sp>
    </p:spTree>
    <p:extLst>
      <p:ext uri="{BB962C8B-B14F-4D97-AF65-F5344CB8AC3E}">
        <p14:creationId xmlns:p14="http://schemas.microsoft.com/office/powerpoint/2010/main" val="425960449"/>
      </p:ext>
    </p:extLst>
  </p:cSld>
</p:sld>
</file>

<file path=ppt/slides/slide8.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7D42567-750A-4FE1-A5BE-7C370CFAFF4D}"/>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02 / THE BRIEF</a:t>
            </a:r>
          </a:p>
        </p:txBody>
      </p:sp>
      <p:sp>
        <p:nvSpPr>
          <p:cNvPr id="2" name="">
            <a:extLst xmlns:a="http://schemas.openxmlformats.org/drawingml/2006/main">
              <a:ext uri="{FF2B5EF4-FFF2-40B4-BE49-F238E27FC236}">
                <a16:creationId xmlns:a16="http://schemas.microsoft.com/office/drawing/2014/main" id="{1E3EEE2A-163E-42F1-9284-7FFD0F945493}"/>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08</a:t>
            </a:r>
          </a:p>
        </p:txBody>
      </p:sp>
      <p:sp>
        <p:nvSpPr>
          <p:cNvPr id="3" name="">
            <a:extLst xmlns:a="http://schemas.openxmlformats.org/drawingml/2006/main">
              <a:ext uri="{FF2B5EF4-FFF2-40B4-BE49-F238E27FC236}">
                <a16:creationId xmlns:a16="http://schemas.microsoft.com/office/drawing/2014/main" id="{D3FA6000-80B7-4A66-B8D6-8D8F874E8545}"/>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The assistant cannot read intent</a:t>
            </a:r>
          </a:p>
        </p:txBody>
      </p:sp>
      <p:sp>
        <p:nvSpPr>
          <p:cNvPr id="4" name="">
            <a:extLst xmlns:a="http://schemas.openxmlformats.org/drawingml/2006/main">
              <a:ext uri="{FF2B5EF4-FFF2-40B4-BE49-F238E27FC236}">
                <a16:creationId xmlns:a16="http://schemas.microsoft.com/office/drawing/2014/main" id="{AB716409-F4C9-4C1D-A1D7-D402110F8509}"/>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“Fix this.”</a:t>
            </a:r>
          </a:p>
        </p:txBody>
      </p:sp>
      <p:sp>
        <p:nvSpPr>
          <p:cNvPr id="5" name="">
            <a:extLst xmlns:a="http://schemas.openxmlformats.org/drawingml/2006/main">
              <a:ext uri="{FF2B5EF4-FFF2-40B4-BE49-F238E27FC236}">
                <a16:creationId xmlns:a16="http://schemas.microsoft.com/office/drawing/2014/main" id="{3E6242B7-DC5A-473D-B043-5F32F0DB183D}"/>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“Which behavior should change?”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d8810dcc143418e"/>
          <a:stretch xmlns:a="http://schemas.openxmlformats.org/drawingml/2006/main"/>
        </p:blipFill>
        <p:spPr>
          <a:xfrm xmlns:a="http://schemas.openxmlformats.org/drawingml/2006/main">
            <a:off x="419100" y="2295356"/>
            <a:ext cx="6629400" cy="379128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C0B56DA-DA7C-4006-8EFB-5EE456E75CA3}"/>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48FBB712-0450-44AE-A310-19129F65C138}"/>
              </a:ext>
            </a:extLst>
          </p:cNvPr>
          <p:cNvSpPr>
            <a:spLocks xmlns:a="http://schemas.openxmlformats.org/drawingml/2006/main" noGrp="1"/>
          </p:cNvSpPr>
          <p:nvPr/>
        </p:nvSpPr>
        <p:spPr>
          <a:xfrm xmlns:a="http://schemas.openxmlformats.org/drawingml/2006/main">
            <a:off x="7943850" y="174307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Outcome: what must happen?</a:t>
            </a:r>
          </a:p>
        </p:txBody>
      </p:sp>
      <p:sp>
        <p:nvSpPr>
          <p:cNvPr id="9" name="">
            <a:extLst xmlns:a="http://schemas.openxmlformats.org/drawingml/2006/main">
              <a:ext uri="{FF2B5EF4-FFF2-40B4-BE49-F238E27FC236}">
                <a16:creationId xmlns:a16="http://schemas.microsoft.com/office/drawing/2014/main" id="{74EF1EFF-D2B2-4933-80F6-E13B1C1681D9}"/>
              </a:ext>
            </a:extLst>
          </p:cNvPr>
          <p:cNvSpPr>
            <a:spLocks xmlns:a="http://schemas.openxmlformats.org/drawingml/2006/main" noGrp="1"/>
          </p:cNvSpPr>
          <p:nvPr/>
        </p:nvSpPr>
        <p:spPr>
          <a:xfrm xmlns:a="http://schemas.openxmlformats.org/drawingml/2006/main">
            <a:off x="7458075" y="285750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06D4BE1E-275B-4FE2-9BE6-B5E502B9C4FC}"/>
              </a:ext>
            </a:extLst>
          </p:cNvPr>
          <p:cNvSpPr>
            <a:spLocks xmlns:a="http://schemas.openxmlformats.org/drawingml/2006/main" noGrp="1"/>
          </p:cNvSpPr>
          <p:nvPr/>
        </p:nvSpPr>
        <p:spPr>
          <a:xfrm xmlns:a="http://schemas.openxmlformats.org/drawingml/2006/main">
            <a:off x="7943850" y="283845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Evidence: what happens today?</a:t>
            </a:r>
          </a:p>
        </p:txBody>
      </p:sp>
      <p:sp>
        <p:nvSpPr>
          <p:cNvPr id="11" name="">
            <a:extLst xmlns:a="http://schemas.openxmlformats.org/drawingml/2006/main">
              <a:ext uri="{FF2B5EF4-FFF2-40B4-BE49-F238E27FC236}">
                <a16:creationId xmlns:a16="http://schemas.microsoft.com/office/drawing/2014/main" id="{52400857-6D09-4CB3-BA33-B0A972EF72DF}"/>
              </a:ext>
            </a:extLst>
          </p:cNvPr>
          <p:cNvSpPr>
            <a:spLocks xmlns:a="http://schemas.openxmlformats.org/drawingml/2006/main" noGrp="1"/>
          </p:cNvSpPr>
          <p:nvPr/>
        </p:nvSpPr>
        <p:spPr>
          <a:xfrm xmlns:a="http://schemas.openxmlformats.org/drawingml/2006/main">
            <a:off x="7458075" y="39528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C87609FD-1695-41EB-B2C0-E059B78F6B1E}"/>
              </a:ext>
            </a:extLst>
          </p:cNvPr>
          <p:cNvSpPr>
            <a:spLocks xmlns:a="http://schemas.openxmlformats.org/drawingml/2006/main" noGrp="1"/>
          </p:cNvSpPr>
          <p:nvPr/>
        </p:nvSpPr>
        <p:spPr>
          <a:xfrm xmlns:a="http://schemas.openxmlformats.org/drawingml/2006/main">
            <a:off x="7943850" y="393382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Scope: which files may change?</a:t>
            </a:r>
          </a:p>
        </p:txBody>
      </p:sp>
      <p:sp>
        <p:nvSpPr>
          <p:cNvPr id="13" name="">
            <a:extLst xmlns:a="http://schemas.openxmlformats.org/drawingml/2006/main">
              <a:ext uri="{FF2B5EF4-FFF2-40B4-BE49-F238E27FC236}">
                <a16:creationId xmlns:a16="http://schemas.microsoft.com/office/drawing/2014/main" id="{911F608B-0144-43D9-BA9C-6E69D8B92DB4}"/>
              </a:ext>
            </a:extLst>
          </p:cNvPr>
          <p:cNvSpPr>
            <a:spLocks xmlns:a="http://schemas.openxmlformats.org/drawingml/2006/main" noGrp="1"/>
          </p:cNvSpPr>
          <p:nvPr/>
        </p:nvSpPr>
        <p:spPr>
          <a:xfrm xmlns:a="http://schemas.openxmlformats.org/drawingml/2006/main">
            <a:off x="7458075" y="5048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04</a:t>
            </a:r>
          </a:p>
        </p:txBody>
      </p:sp>
      <p:sp>
        <p:nvSpPr>
          <p:cNvPr id="14" name="">
            <a:extLst xmlns:a="http://schemas.openxmlformats.org/drawingml/2006/main">
              <a:ext uri="{FF2B5EF4-FFF2-40B4-BE49-F238E27FC236}">
                <a16:creationId xmlns:a16="http://schemas.microsoft.com/office/drawing/2014/main" id="{E93BB8B8-B77C-457C-8559-4DE79D2FE033}"/>
              </a:ext>
            </a:extLst>
          </p:cNvPr>
          <p:cNvSpPr>
            <a:spLocks xmlns:a="http://schemas.openxmlformats.org/drawingml/2006/main" noGrp="1"/>
          </p:cNvSpPr>
          <p:nvPr/>
        </p:nvSpPr>
        <p:spPr>
          <a:xfrm xmlns:a="http://schemas.openxmlformats.org/drawingml/2006/main">
            <a:off x="7943850" y="502920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Checks: what proves the fix?</a:t>
            </a:r>
          </a:p>
        </p:txBody>
      </p:sp>
    </p:spTree>
    <p:extLst>
      <p:ext uri="{BB962C8B-B14F-4D97-AF65-F5344CB8AC3E}">
        <p14:creationId xmlns:p14="http://schemas.microsoft.com/office/powerpoint/2010/main" val="89476606"/>
      </p:ext>
    </p:extLst>
  </p:cSld>
</p:sld>
</file>

<file path=ppt/slides/slide9.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09E676A-D86B-478F-B97E-73095B5008B0}"/>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02 / OUR RUNNING CASE</a:t>
            </a:r>
          </a:p>
        </p:txBody>
      </p:sp>
      <p:sp>
        <p:nvSpPr>
          <p:cNvPr id="2" name="">
            <a:extLst xmlns:a="http://schemas.openxmlformats.org/drawingml/2006/main">
              <a:ext uri="{FF2B5EF4-FFF2-40B4-BE49-F238E27FC236}">
                <a16:creationId xmlns:a16="http://schemas.microsoft.com/office/drawing/2014/main" id="{2B042E74-2DE0-4A42-A4D8-1914FA13B14A}"/>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09</a:t>
            </a:r>
          </a:p>
        </p:txBody>
      </p:sp>
      <p:sp>
        <p:nvSpPr>
          <p:cNvPr id="3" name="">
            <a:extLst xmlns:a="http://schemas.openxmlformats.org/drawingml/2006/main">
              <a:ext uri="{FF2B5EF4-FFF2-40B4-BE49-F238E27FC236}">
                <a16:creationId xmlns:a16="http://schemas.microsoft.com/office/drawing/2014/main" id="{03273594-E205-4AA6-B2E4-651AE9E06EAE}"/>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One retry. Two charges.</a:t>
            </a:r>
          </a:p>
        </p:txBody>
      </p:sp>
      <p:sp>
        <p:nvSpPr>
          <p:cNvPr id="4" name="">
            <a:extLst xmlns:a="http://schemas.openxmlformats.org/drawingml/2006/main">
              <a:ext uri="{FF2B5EF4-FFF2-40B4-BE49-F238E27FC236}">
                <a16:creationId xmlns:a16="http://schemas.microsoft.com/office/drawing/2014/main" id="{8B4EBCCA-8D12-4ACD-9503-DBFB46746A9A}"/>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“A timeout triggered a second payment.”</a:t>
            </a:r>
          </a:p>
        </p:txBody>
      </p:sp>
      <p:sp>
        <p:nvSpPr>
          <p:cNvPr id="5" name="">
            <a:extLst xmlns:a="http://schemas.openxmlformats.org/drawingml/2006/main">
              <a:ext uri="{FF2B5EF4-FFF2-40B4-BE49-F238E27FC236}">
                <a16:creationId xmlns:a16="http://schemas.microsoft.com/office/drawing/2014/main" id="{33492CCA-0860-4C15-8C0A-1ABAA6FAF7B6}"/>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“What does the idempotency contract say?”</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962d2f31f74481e"/>
          <a:stretch xmlns:a="http://schemas.openxmlformats.org/drawingml/2006/main"/>
        </p:blipFill>
        <p:spPr>
          <a:xfrm xmlns:a="http://schemas.openxmlformats.org/drawingml/2006/main">
            <a:off x="1011642" y="2066925"/>
            <a:ext cx="5444316" cy="4248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EA3F645-1614-4066-BFE4-5C05A88598DA}"/>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5DA4FCF8-94B0-41B3-869D-B348192566B7}"/>
              </a:ext>
            </a:extLst>
          </p:cNvPr>
          <p:cNvSpPr>
            <a:spLocks xmlns:a="http://schemas.openxmlformats.org/drawingml/2006/main" noGrp="1"/>
          </p:cNvSpPr>
          <p:nvPr/>
        </p:nvSpPr>
        <p:spPr>
          <a:xfrm xmlns:a="http://schemas.openxmlformats.org/drawingml/2006/main">
            <a:off x="7943850" y="174307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Same key + same payload: reuse the result</a:t>
            </a:r>
          </a:p>
        </p:txBody>
      </p:sp>
      <p:sp>
        <p:nvSpPr>
          <p:cNvPr id="9" name="">
            <a:extLst xmlns:a="http://schemas.openxmlformats.org/drawingml/2006/main">
              <a:ext uri="{FF2B5EF4-FFF2-40B4-BE49-F238E27FC236}">
                <a16:creationId xmlns:a16="http://schemas.microsoft.com/office/drawing/2014/main" id="{4CFE0F47-35C6-46E9-9C88-4CD79978B626}"/>
              </a:ext>
            </a:extLst>
          </p:cNvPr>
          <p:cNvSpPr>
            <a:spLocks xmlns:a="http://schemas.openxmlformats.org/drawingml/2006/main" noGrp="1"/>
          </p:cNvSpPr>
          <p:nvPr/>
        </p:nvSpPr>
        <p:spPr>
          <a:xfrm xmlns:a="http://schemas.openxmlformats.org/drawingml/2006/main">
            <a:off x="7458075" y="285750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4A639BC2-606E-4EA6-B541-AB1D6278B5B2}"/>
              </a:ext>
            </a:extLst>
          </p:cNvPr>
          <p:cNvSpPr>
            <a:spLocks xmlns:a="http://schemas.openxmlformats.org/drawingml/2006/main" noGrp="1"/>
          </p:cNvSpPr>
          <p:nvPr/>
        </p:nvSpPr>
        <p:spPr>
          <a:xfrm xmlns:a="http://schemas.openxmlformats.org/drawingml/2006/main">
            <a:off x="7943850" y="283845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Same key + different payload: reject</a:t>
            </a:r>
          </a:p>
        </p:txBody>
      </p:sp>
      <p:sp>
        <p:nvSpPr>
          <p:cNvPr id="11" name="">
            <a:extLst xmlns:a="http://schemas.openxmlformats.org/drawingml/2006/main">
              <a:ext uri="{FF2B5EF4-FFF2-40B4-BE49-F238E27FC236}">
                <a16:creationId xmlns:a16="http://schemas.microsoft.com/office/drawing/2014/main" id="{6C4C2C61-7994-496D-838E-0CFEEDAC6700}"/>
              </a:ext>
            </a:extLst>
          </p:cNvPr>
          <p:cNvSpPr>
            <a:spLocks xmlns:a="http://schemas.openxmlformats.org/drawingml/2006/main" noGrp="1"/>
          </p:cNvSpPr>
          <p:nvPr/>
        </p:nvSpPr>
        <p:spPr>
          <a:xfrm xmlns:a="http://schemas.openxmlformats.org/drawingml/2006/main">
            <a:off x="7458075" y="39528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9A86AB63-F0E4-4823-8929-D54C8377884C}"/>
              </a:ext>
            </a:extLst>
          </p:cNvPr>
          <p:cNvSpPr>
            <a:spLocks xmlns:a="http://schemas.openxmlformats.org/drawingml/2006/main" noGrp="1"/>
          </p:cNvSpPr>
          <p:nvPr/>
        </p:nvSpPr>
        <p:spPr>
          <a:xfrm xmlns:a="http://schemas.openxmlformats.org/drawingml/2006/main">
            <a:off x="7943850" y="393382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Concurrent retries: create one charge</a:t>
            </a:r>
          </a:p>
        </p:txBody>
      </p:sp>
      <p:sp>
        <p:nvSpPr>
          <p:cNvPr id="13" name="">
            <a:extLst xmlns:a="http://schemas.openxmlformats.org/drawingml/2006/main">
              <a:ext uri="{FF2B5EF4-FFF2-40B4-BE49-F238E27FC236}">
                <a16:creationId xmlns:a16="http://schemas.microsoft.com/office/drawing/2014/main" id="{E0B15019-2E1D-4DC2-9D11-F6933A3A4DEB}"/>
              </a:ext>
            </a:extLst>
          </p:cNvPr>
          <p:cNvSpPr>
            <a:spLocks xmlns:a="http://schemas.openxmlformats.org/drawingml/2006/main" noGrp="1"/>
          </p:cNvSpPr>
          <p:nvPr/>
        </p:nvSpPr>
        <p:spPr>
          <a:xfrm xmlns:a="http://schemas.openxmlformats.org/drawingml/2006/main">
            <a:off x="7458075" y="5048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04</a:t>
            </a:r>
          </a:p>
        </p:txBody>
      </p:sp>
      <p:sp>
        <p:nvSpPr>
          <p:cNvPr id="14" name="">
            <a:extLst xmlns:a="http://schemas.openxmlformats.org/drawingml/2006/main">
              <a:ext uri="{FF2B5EF4-FFF2-40B4-BE49-F238E27FC236}">
                <a16:creationId xmlns:a16="http://schemas.microsoft.com/office/drawing/2014/main" id="{D3085D13-C2B7-4780-9B81-F72C30A70897}"/>
              </a:ext>
            </a:extLst>
          </p:cNvPr>
          <p:cNvSpPr>
            <a:spLocks xmlns:a="http://schemas.openxmlformats.org/drawingml/2006/main" noGrp="1"/>
          </p:cNvSpPr>
          <p:nvPr/>
        </p:nvSpPr>
        <p:spPr>
          <a:xfrm xmlns:a="http://schemas.openxmlformats.org/drawingml/2006/main">
            <a:off x="7943850" y="502920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 timeout may hide a successful charge</a:t>
            </a:r>
          </a:p>
        </p:txBody>
      </p:sp>
    </p:spTree>
    <p:extLst>
      <p:ext uri="{BB962C8B-B14F-4D97-AF65-F5344CB8AC3E}">
        <p14:creationId xmlns:p14="http://schemas.microsoft.com/office/powerpoint/2010/main" val="2099332541"/>
      </p:ext>
    </p:extLst>
  </p:cSld>
</p:sld>
</file>

<file path=ppt/slides/slide10.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D1EFD5-13D7-4570-A934-2FFB027093B2}"/>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COPYABLE PROMPT / DISCOVERY</a:t>
            </a:r>
          </a:p>
        </p:txBody>
      </p:sp>
      <p:sp>
        <p:nvSpPr>
          <p:cNvPr id="2" name="">
            <a:extLst xmlns:a="http://schemas.openxmlformats.org/drawingml/2006/main">
              <a:ext uri="{FF2B5EF4-FFF2-40B4-BE49-F238E27FC236}">
                <a16:creationId xmlns:a16="http://schemas.microsoft.com/office/drawing/2014/main" id="{E034B31E-929B-4530-9401-3841E7724E57}"/>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10</a:t>
            </a:r>
          </a:p>
        </p:txBody>
      </p:sp>
      <p:sp>
        <p:nvSpPr>
          <p:cNvPr id="3" name="">
            <a:extLst xmlns:a="http://schemas.openxmlformats.org/drawingml/2006/main">
              <a:ext uri="{FF2B5EF4-FFF2-40B4-BE49-F238E27FC236}">
                <a16:creationId xmlns:a16="http://schemas.microsoft.com/office/drawing/2014/main" id="{10C45167-08CD-4F85-97BA-5744E4104049}"/>
              </a:ext>
            </a:extLst>
          </p:cNvPr>
          <p:cNvSpPr>
            <a:spLocks xmlns:a="http://schemas.openxmlformats.org/drawingml/2006/main" noGrp="1"/>
          </p:cNvSpPr>
          <p:nvPr/>
        </p:nvSpPr>
        <p:spPr>
          <a:xfrm xmlns:a="http://schemas.openxmlformats.org/drawingml/2006/main">
            <a:off x="419100" y="647700"/>
            <a:ext cx="1133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A brief the assistant can act on</a:t>
            </a:r>
          </a:p>
        </p:txBody>
      </p:sp>
      <p:sp>
        <p:nvSpPr>
          <p:cNvPr id="4" name="">
            <a:extLst xmlns:a="http://schemas.openxmlformats.org/drawingml/2006/main">
              <a:ext uri="{FF2B5EF4-FFF2-40B4-BE49-F238E27FC236}">
                <a16:creationId xmlns:a16="http://schemas.microsoft.com/office/drawing/2014/main" id="{147B4710-CADE-4233-A8D4-8E0A542F8667}"/>
              </a:ext>
            </a:extLst>
          </p:cNvPr>
          <p:cNvSpPr>
            <a:spLocks xmlns:a="http://schemas.openxmlformats.org/drawingml/2006/main" noGrp="1"/>
          </p:cNvSpPr>
          <p:nvPr/>
        </p:nvSpPr>
        <p:spPr>
          <a:xfrm xmlns:a="http://schemas.openxmlformats.org/drawingml/2006/main">
            <a:off x="457200" y="1666875"/>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BD3B29"/>
                </a:solidFill>
                <a:latin typeface="DejaVu Sans"/>
                <a:ea typeface="DejaVu Sans"/>
                <a:cs typeface="DejaVu Sans"/>
              </a:defRPr>
            </a:pPr>
            <a:r>
              <a:rPr sz="1650" b="1">
                <a:solidFill>
                  <a:srgbClr val="BD3B29"/>
                </a:solidFill>
                <a:latin typeface="DejaVu Sans"/>
                <a:ea typeface="DejaVu Sans"/>
                <a:cs typeface="DejaVu Sans"/>
              </a:rPr>
              <a:t>THE VAGUE REQUEST</a:t>
            </a:r>
          </a:p>
        </p:txBody>
      </p:sp>
      <p:sp>
        <p:nvSpPr>
          <p:cNvPr id="5" name="">
            <a:extLst xmlns:a="http://schemas.openxmlformats.org/drawingml/2006/main">
              <a:ext uri="{FF2B5EF4-FFF2-40B4-BE49-F238E27FC236}">
                <a16:creationId xmlns:a16="http://schemas.microsoft.com/office/drawing/2014/main" id="{4D238F46-F820-4A89-8CDF-9BA9DD3A2F02}"/>
              </a:ext>
            </a:extLst>
          </p:cNvPr>
          <p:cNvSpPr>
            <a:spLocks xmlns:a="http://schemas.openxmlformats.org/drawingml/2006/main" noGrp="1"/>
          </p:cNvSpPr>
          <p:nvPr/>
        </p:nvSpPr>
        <p:spPr>
          <a:xfrm xmlns:a="http://schemas.openxmlformats.org/drawingml/2006/main">
            <a:off x="6257925" y="1666875"/>
            <a:ext cx="5467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THE WORKING BRIEF</a:t>
            </a:r>
          </a:p>
        </p:txBody>
      </p:sp>
      <p:sp>
        <p:nvSpPr>
          <p:cNvPr id="6" name="">
            <a:extLst xmlns:a="http://schemas.openxmlformats.org/drawingml/2006/main">
              <a:ext uri="{FF2B5EF4-FFF2-40B4-BE49-F238E27FC236}">
                <a16:creationId xmlns:a16="http://schemas.microsoft.com/office/drawing/2014/main" id="{CC734EBC-A0E1-4F74-9FBE-710FAD16C7F8}"/>
              </a:ext>
            </a:extLst>
          </p:cNvPr>
          <p:cNvSpPr>
            <a:spLocks xmlns:a="http://schemas.openxmlformats.org/drawingml/2006/main" noGrp="1"/>
          </p:cNvSpPr>
          <p:nvPr/>
        </p:nvSpPr>
        <p:spPr>
          <a:xfrm xmlns:a="http://schemas.openxmlformats.org/drawingml/2006/main">
            <a:off x="457200" y="2305050"/>
            <a:ext cx="52197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“Fix payment retries and make the code better.”</a:t>
            </a:r>
          </a:p>
        </p:txBody>
      </p:sp>
      <p:sp>
        <p:nvSpPr>
          <p:cNvPr id="7" name="">
            <a:extLst xmlns:a="http://schemas.openxmlformats.org/drawingml/2006/main">
              <a:ext uri="{FF2B5EF4-FFF2-40B4-BE49-F238E27FC236}">
                <a16:creationId xmlns:a16="http://schemas.microsoft.com/office/drawing/2014/main" id="{1AB2D723-4728-40E8-8685-9DF720DD0960}"/>
              </a:ext>
            </a:extLst>
          </p:cNvPr>
          <p:cNvSpPr>
            <a:spLocks xmlns:a="http://schemas.openxmlformats.org/drawingml/2006/main" noGrp="1"/>
          </p:cNvSpPr>
          <p:nvPr/>
        </p:nvSpPr>
        <p:spPr>
          <a:xfrm xmlns:a="http://schemas.openxmlformats.org/drawingml/2006/main">
            <a:off x="6257925" y="2305050"/>
            <a:ext cx="54673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Investigate duplicate charges on retries.</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Read payments/service.py, repository.py and tests/test_payments.py.</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Expected: same key and payload reuse one result. A changed payload returns a conflict. Concurrent retries create one charge.</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Preserve the public API. Add no dependency.</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First report the call path, evidence and proposed tests. Do not edit yet.</a:t>
            </a:r>
          </a:p>
        </p:txBody>
      </p:sp>
    </p:spTree>
    <p:extLst>
      <p:ext uri="{BB962C8B-B14F-4D97-AF65-F5344CB8AC3E}">
        <p14:creationId xmlns:p14="http://schemas.microsoft.com/office/powerpoint/2010/main" val="1880019216"/>
      </p:ext>
    </p:extLst>
  </p:cSld>
</p:sld>
</file>

<file path=ppt/slides/slide11.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60A1075-0024-47DC-AE30-7288D08688C2}"/>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02 / WHAT WORKS</a:t>
            </a:r>
          </a:p>
        </p:txBody>
      </p:sp>
      <p:sp>
        <p:nvSpPr>
          <p:cNvPr id="2" name="">
            <a:extLst xmlns:a="http://schemas.openxmlformats.org/drawingml/2006/main">
              <a:ext uri="{FF2B5EF4-FFF2-40B4-BE49-F238E27FC236}">
                <a16:creationId xmlns:a16="http://schemas.microsoft.com/office/drawing/2014/main" id="{15CE924F-F779-4BD1-983E-432B4CC7B54A}"/>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11</a:t>
            </a:r>
          </a:p>
        </p:txBody>
      </p:sp>
      <p:sp>
        <p:nvSpPr>
          <p:cNvPr id="3" name="">
            <a:extLst xmlns:a="http://schemas.openxmlformats.org/drawingml/2006/main">
              <a:ext uri="{FF2B5EF4-FFF2-40B4-BE49-F238E27FC236}">
                <a16:creationId xmlns:a16="http://schemas.microsoft.com/office/drawing/2014/main" id="{AE00408F-09E5-4364-BA95-1AE82088FDAA}"/>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Small tasks give useful feedback</a:t>
            </a:r>
          </a:p>
        </p:txBody>
      </p:sp>
      <p:sp>
        <p:nvSpPr>
          <p:cNvPr id="4" name="">
            <a:extLst xmlns:a="http://schemas.openxmlformats.org/drawingml/2006/main">
              <a:ext uri="{FF2B5EF4-FFF2-40B4-BE49-F238E27FC236}">
                <a16:creationId xmlns:a16="http://schemas.microsoft.com/office/drawing/2014/main" id="{3D15A261-0E29-4D23-80E5-6278F83760A2}"/>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“One behavior. One reviewable patch.”</a:t>
            </a:r>
          </a:p>
        </p:txBody>
      </p:sp>
      <p:sp>
        <p:nvSpPr>
          <p:cNvPr id="5" name="">
            <a:extLst xmlns:a="http://schemas.openxmlformats.org/drawingml/2006/main">
              <a:ext uri="{FF2B5EF4-FFF2-40B4-BE49-F238E27FC236}">
                <a16:creationId xmlns:a16="http://schemas.microsoft.com/office/drawing/2014/main" id="{13DDD537-1715-44AA-B43F-6C02C4796D3B}"/>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“I can show how the check fails and passes.”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3e27a29299147fd"/>
          <a:stretch xmlns:a="http://schemas.openxmlformats.org/drawingml/2006/main"/>
        </p:blipFill>
        <p:spPr>
          <a:xfrm xmlns:a="http://schemas.openxmlformats.org/drawingml/2006/main">
            <a:off x="1011642" y="2066925"/>
            <a:ext cx="5444316" cy="4248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591158F-B59B-4993-9D10-72663B407B2A}"/>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7184AF04-D110-49BF-9F2E-5D8CCAD3AAC4}"/>
              </a:ext>
            </a:extLst>
          </p:cNvPr>
          <p:cNvSpPr>
            <a:spLocks xmlns:a="http://schemas.openxmlformats.org/drawingml/2006/main" noGrp="1"/>
          </p:cNvSpPr>
          <p:nvPr/>
        </p:nvSpPr>
        <p:spPr>
          <a:xfrm xmlns:a="http://schemas.openxmlformats.org/drawingml/2006/main">
            <a:off x="7943850" y="174307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Explain unfamiliar code with file references</a:t>
            </a:r>
          </a:p>
        </p:txBody>
      </p:sp>
      <p:sp>
        <p:nvSpPr>
          <p:cNvPr id="9" name="">
            <a:extLst xmlns:a="http://schemas.openxmlformats.org/drawingml/2006/main">
              <a:ext uri="{FF2B5EF4-FFF2-40B4-BE49-F238E27FC236}">
                <a16:creationId xmlns:a16="http://schemas.microsoft.com/office/drawing/2014/main" id="{8D03C8D0-AE9E-4499-88FA-277BA80DF10D}"/>
              </a:ext>
            </a:extLst>
          </p:cNvPr>
          <p:cNvSpPr>
            <a:spLocks xmlns:a="http://schemas.openxmlformats.org/drawingml/2006/main" noGrp="1"/>
          </p:cNvSpPr>
          <p:nvPr/>
        </p:nvSpPr>
        <p:spPr>
          <a:xfrm xmlns:a="http://schemas.openxmlformats.org/drawingml/2006/main">
            <a:off x="7458075" y="285750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83BD306B-8559-4A5A-B22D-07374E1C7726}"/>
              </a:ext>
            </a:extLst>
          </p:cNvPr>
          <p:cNvSpPr>
            <a:spLocks xmlns:a="http://schemas.openxmlformats.org/drawingml/2006/main" noGrp="1"/>
          </p:cNvSpPr>
          <p:nvPr/>
        </p:nvSpPr>
        <p:spPr>
          <a:xfrm xmlns:a="http://schemas.openxmlformats.org/drawingml/2006/main">
            <a:off x="7943850" y="283845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Add a focused regression test</a:t>
            </a:r>
          </a:p>
        </p:txBody>
      </p:sp>
      <p:sp>
        <p:nvSpPr>
          <p:cNvPr id="11" name="">
            <a:extLst xmlns:a="http://schemas.openxmlformats.org/drawingml/2006/main">
              <a:ext uri="{FF2B5EF4-FFF2-40B4-BE49-F238E27FC236}">
                <a16:creationId xmlns:a16="http://schemas.microsoft.com/office/drawing/2014/main" id="{7BA28EE2-020D-43B0-B455-A08A62174277}"/>
              </a:ext>
            </a:extLst>
          </p:cNvPr>
          <p:cNvSpPr>
            <a:spLocks xmlns:a="http://schemas.openxmlformats.org/drawingml/2006/main" noGrp="1"/>
          </p:cNvSpPr>
          <p:nvPr/>
        </p:nvSpPr>
        <p:spPr>
          <a:xfrm xmlns:a="http://schemas.openxmlformats.org/drawingml/2006/main">
            <a:off x="7458075" y="39528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03BACB16-0A53-40CB-8F4C-3DEBE4BA764C}"/>
              </a:ext>
            </a:extLst>
          </p:cNvPr>
          <p:cNvSpPr>
            <a:spLocks xmlns:a="http://schemas.openxmlformats.org/drawingml/2006/main" noGrp="1"/>
          </p:cNvSpPr>
          <p:nvPr/>
        </p:nvSpPr>
        <p:spPr>
          <a:xfrm xmlns:a="http://schemas.openxmlformats.org/drawingml/2006/main">
            <a:off x="7943850" y="393382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Refactor one seam with a stable contract</a:t>
            </a:r>
          </a:p>
        </p:txBody>
      </p:sp>
      <p:sp>
        <p:nvSpPr>
          <p:cNvPr id="13" name="">
            <a:extLst xmlns:a="http://schemas.openxmlformats.org/drawingml/2006/main">
              <a:ext uri="{FF2B5EF4-FFF2-40B4-BE49-F238E27FC236}">
                <a16:creationId xmlns:a16="http://schemas.microsoft.com/office/drawing/2014/main" id="{2BAE9D3B-E6EE-4F2D-B832-31752553A085}"/>
              </a:ext>
            </a:extLst>
          </p:cNvPr>
          <p:cNvSpPr>
            <a:spLocks xmlns:a="http://schemas.openxmlformats.org/drawingml/2006/main" noGrp="1"/>
          </p:cNvSpPr>
          <p:nvPr/>
        </p:nvSpPr>
        <p:spPr>
          <a:xfrm xmlns:a="http://schemas.openxmlformats.org/drawingml/2006/main">
            <a:off x="7458075" y="5048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04</a:t>
            </a:r>
          </a:p>
        </p:txBody>
      </p:sp>
      <p:sp>
        <p:nvSpPr>
          <p:cNvPr id="14" name="">
            <a:extLst xmlns:a="http://schemas.openxmlformats.org/drawingml/2006/main">
              <a:ext uri="{FF2B5EF4-FFF2-40B4-BE49-F238E27FC236}">
                <a16:creationId xmlns:a16="http://schemas.microsoft.com/office/drawing/2014/main" id="{1774D550-7762-44C8-ABDF-CFD32A6FBF6E}"/>
              </a:ext>
            </a:extLst>
          </p:cNvPr>
          <p:cNvSpPr>
            <a:spLocks xmlns:a="http://schemas.openxmlformats.org/drawingml/2006/main" noGrp="1"/>
          </p:cNvSpPr>
          <p:nvPr/>
        </p:nvSpPr>
        <p:spPr>
          <a:xfrm xmlns:a="http://schemas.openxmlformats.org/drawingml/2006/main">
            <a:off x="7943850" y="502920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Generate repetitive code from a real example</a:t>
            </a:r>
          </a:p>
        </p:txBody>
      </p:sp>
    </p:spTree>
    <p:extLst>
      <p:ext uri="{BB962C8B-B14F-4D97-AF65-F5344CB8AC3E}">
        <p14:creationId xmlns:p14="http://schemas.microsoft.com/office/powerpoint/2010/main" val="2121921253"/>
      </p:ext>
    </p:extLst>
  </p:cSld>
</p:sld>
</file>

<file path=ppt/slides/slide12.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2A0DD8-BD6C-4F98-8FCA-CAEE160C0AF7}"/>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03 / THE CROWDED DESK</a:t>
            </a:r>
          </a:p>
        </p:txBody>
      </p:sp>
      <p:sp>
        <p:nvSpPr>
          <p:cNvPr id="2" name="">
            <a:extLst xmlns:a="http://schemas.openxmlformats.org/drawingml/2006/main">
              <a:ext uri="{FF2B5EF4-FFF2-40B4-BE49-F238E27FC236}">
                <a16:creationId xmlns:a16="http://schemas.microsoft.com/office/drawing/2014/main" id="{03D54A41-8997-4E7D-92E0-D6D38367B5D2}"/>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12</a:t>
            </a:r>
          </a:p>
        </p:txBody>
      </p:sp>
      <p:sp>
        <p:nvSpPr>
          <p:cNvPr id="3" name="">
            <a:extLst xmlns:a="http://schemas.openxmlformats.org/drawingml/2006/main">
              <a:ext uri="{FF2B5EF4-FFF2-40B4-BE49-F238E27FC236}">
                <a16:creationId xmlns:a16="http://schemas.microsoft.com/office/drawing/2014/main" id="{8B63B8FF-AC50-4E35-A79B-D2B4148AB26C}"/>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More context can create more noise</a:t>
            </a:r>
          </a:p>
        </p:txBody>
      </p:sp>
      <p:sp>
        <p:nvSpPr>
          <p:cNvPr id="4" name="">
            <a:extLst xmlns:a="http://schemas.openxmlformats.org/drawingml/2006/main">
              <a:ext uri="{FF2B5EF4-FFF2-40B4-BE49-F238E27FC236}">
                <a16:creationId xmlns:a16="http://schemas.microsoft.com/office/drawing/2014/main" id="{5DEDBD5E-F7CA-4EB7-BF09-F02A9451AF68}"/>
              </a:ext>
            </a:extLst>
          </p:cNvPr>
          <p:cNvSpPr>
            <a:spLocks xmlns:a="http://schemas.openxmlformats.org/drawingml/2006/main" noGrp="1"/>
          </p:cNvSpPr>
          <p:nvPr/>
        </p:nvSpPr>
        <p:spPr>
          <a:xfrm xmlns:a="http://schemas.openxmlformats.org/drawingml/2006/main">
            <a:off x="419100" y="1419225"/>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1746B0"/>
                </a:solidFill>
                <a:latin typeface="DejaVu Sans"/>
                <a:ea typeface="DejaVu Sans"/>
                <a:cs typeface="DejaVu Sans"/>
              </a:defRPr>
            </a:pPr>
            <a:r>
              <a:rPr sz="1650" b="1">
                <a:solidFill>
                  <a:srgbClr val="1746B0"/>
                </a:solidFill>
                <a:latin typeface="DejaVu Sans"/>
                <a:ea typeface="DejaVu Sans"/>
                <a:cs typeface="DejaVu Sans"/>
              </a:rPr>
              <a:t>DEV: “Here is the entire repository and every log.”</a:t>
            </a:r>
          </a:p>
        </p:txBody>
      </p:sp>
      <p:sp>
        <p:nvSpPr>
          <p:cNvPr id="5" name="">
            <a:extLst xmlns:a="http://schemas.openxmlformats.org/drawingml/2006/main">
              <a:ext uri="{FF2B5EF4-FFF2-40B4-BE49-F238E27FC236}">
                <a16:creationId xmlns:a16="http://schemas.microsoft.com/office/drawing/2014/main" id="{6B7771C4-C8E9-471D-BAFC-56D6FE5C7055}"/>
              </a:ext>
            </a:extLst>
          </p:cNvPr>
          <p:cNvSpPr>
            <a:spLocks xmlns:a="http://schemas.openxmlformats.org/drawingml/2006/main" noGrp="1"/>
          </p:cNvSpPr>
          <p:nvPr/>
        </p:nvSpPr>
        <p:spPr>
          <a:xfrm xmlns:a="http://schemas.openxmlformats.org/drawingml/2006/main">
            <a:off x="6257925" y="1419225"/>
            <a:ext cx="5486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PATCH: “Which part explains the bug?”</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3f63c168ec541d6"/>
          <a:stretch xmlns:a="http://schemas.openxmlformats.org/drawingml/2006/main"/>
        </p:blipFill>
        <p:spPr>
          <a:xfrm xmlns:a="http://schemas.openxmlformats.org/drawingml/2006/main">
            <a:off x="1018090" y="2009775"/>
            <a:ext cx="10127245" cy="407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410F660-0F90-483F-9582-733369432ADF}"/>
              </a:ext>
            </a:extLst>
          </p:cNvPr>
          <p:cNvSpPr>
            <a:spLocks xmlns:a="http://schemas.openxmlformats.org/drawingml/2006/main" noGrp="1"/>
          </p:cNvSpPr>
          <p:nvPr/>
        </p:nvSpPr>
        <p:spPr>
          <a:xfrm xmlns:a="http://schemas.openxmlformats.org/drawingml/2006/main">
            <a:off x="419100" y="6181725"/>
            <a:ext cx="11325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182633"/>
                </a:solidFill>
                <a:latin typeface="DejaVu Sans"/>
                <a:ea typeface="DejaVu Sans"/>
                <a:cs typeface="DejaVu Sans"/>
              </a:defRPr>
            </a:pPr>
            <a:r>
              <a:rPr sz="1875" b="1">
                <a:solidFill>
                  <a:srgbClr val="182633"/>
                </a:solidFill>
                <a:latin typeface="DejaVu Sans"/>
                <a:ea typeface="DejaVu Sans"/>
                <a:cs typeface="DejaVu Sans"/>
              </a:rPr>
              <a:t>Relevant code competes with stale history</a:t>
            </a:r>
          </a:p>
        </p:txBody>
      </p:sp>
    </p:spTree>
    <p:extLst>
      <p:ext uri="{BB962C8B-B14F-4D97-AF65-F5344CB8AC3E}">
        <p14:creationId xmlns:p14="http://schemas.microsoft.com/office/powerpoint/2010/main" val="1492011948"/>
      </p:ext>
    </p:extLst>
  </p:cSld>
</p:sld>
</file>

<file path=ppt/slides/slide13.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E800F0C-2EEC-4EE4-AC12-2DB7343EFA47}"/>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03 / THE RIGHT EVIDENCE</a:t>
            </a:r>
          </a:p>
        </p:txBody>
      </p:sp>
      <p:sp>
        <p:nvSpPr>
          <p:cNvPr id="2" name="">
            <a:extLst xmlns:a="http://schemas.openxmlformats.org/drawingml/2006/main">
              <a:ext uri="{FF2B5EF4-FFF2-40B4-BE49-F238E27FC236}">
                <a16:creationId xmlns:a16="http://schemas.microsoft.com/office/drawing/2014/main" id="{0E24D76B-A85D-4BB3-9931-504577408A3F}"/>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13</a:t>
            </a:r>
          </a:p>
        </p:txBody>
      </p:sp>
      <p:sp>
        <p:nvSpPr>
          <p:cNvPr id="3" name="">
            <a:extLst xmlns:a="http://schemas.openxmlformats.org/drawingml/2006/main">
              <a:ext uri="{FF2B5EF4-FFF2-40B4-BE49-F238E27FC236}">
                <a16:creationId xmlns:a16="http://schemas.microsoft.com/office/drawing/2014/main" id="{2DFB269E-674D-42D0-8E55-1DDC9B393F27}"/>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A compact evidence pack</a:t>
            </a:r>
          </a:p>
        </p:txBody>
      </p:sp>
      <p:sp>
        <p:nvSpPr>
          <p:cNvPr id="4" name="">
            <a:extLst xmlns:a="http://schemas.openxmlformats.org/drawingml/2006/main">
              <a:ext uri="{FF2B5EF4-FFF2-40B4-BE49-F238E27FC236}">
                <a16:creationId xmlns:a16="http://schemas.microsoft.com/office/drawing/2014/main" id="{5ED32221-2CB0-48C4-B2DA-FC732D5BB23E}"/>
              </a:ext>
            </a:extLst>
          </p:cNvPr>
          <p:cNvSpPr>
            <a:spLocks xmlns:a="http://schemas.openxmlformats.org/drawingml/2006/main" noGrp="1"/>
          </p:cNvSpPr>
          <p:nvPr/>
        </p:nvSpPr>
        <p:spPr>
          <a:xfrm xmlns:a="http://schemas.openxmlformats.org/drawingml/2006/main">
            <a:off x="419100" y="1419225"/>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1746B0"/>
                </a:solidFill>
                <a:latin typeface="DejaVu Sans"/>
                <a:ea typeface="DejaVu Sans"/>
                <a:cs typeface="DejaVu Sans"/>
              </a:defRPr>
            </a:pPr>
            <a:r>
              <a:rPr sz="1650" b="1">
                <a:solidFill>
                  <a:srgbClr val="1746B0"/>
                </a:solidFill>
                <a:latin typeface="DejaVu Sans"/>
                <a:ea typeface="DejaVu Sans"/>
                <a:cs typeface="DejaVu Sans"/>
              </a:rPr>
              <a:t>DEV: “Here is the failing path and its contract.”</a:t>
            </a:r>
          </a:p>
        </p:txBody>
      </p:sp>
      <p:sp>
        <p:nvSpPr>
          <p:cNvPr id="5" name="">
            <a:extLst xmlns:a="http://schemas.openxmlformats.org/drawingml/2006/main">
              <a:ext uri="{FF2B5EF4-FFF2-40B4-BE49-F238E27FC236}">
                <a16:creationId xmlns:a16="http://schemas.microsoft.com/office/drawing/2014/main" id="{A597D20D-3029-4148-97CD-C3FFAE019522}"/>
              </a:ext>
            </a:extLst>
          </p:cNvPr>
          <p:cNvSpPr>
            <a:spLocks xmlns:a="http://schemas.openxmlformats.org/drawingml/2006/main" noGrp="1"/>
          </p:cNvSpPr>
          <p:nvPr/>
        </p:nvSpPr>
        <p:spPr>
          <a:xfrm xmlns:a="http://schemas.openxmlformats.org/drawingml/2006/main">
            <a:off x="6257925" y="1419225"/>
            <a:ext cx="5486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PATCH: “Now I know what to inspect.”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a4a6f75d4c5437b"/>
          <a:stretch xmlns:a="http://schemas.openxmlformats.org/drawingml/2006/main"/>
        </p:blipFill>
        <p:spPr>
          <a:xfrm xmlns:a="http://schemas.openxmlformats.org/drawingml/2006/main">
            <a:off x="1018090" y="2009775"/>
            <a:ext cx="10127245" cy="407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1A92618-ED67-46B6-AB3E-F7A448A594D9}"/>
              </a:ext>
            </a:extLst>
          </p:cNvPr>
          <p:cNvSpPr>
            <a:spLocks xmlns:a="http://schemas.openxmlformats.org/drawingml/2006/main" noGrp="1"/>
          </p:cNvSpPr>
          <p:nvPr/>
        </p:nvSpPr>
        <p:spPr>
          <a:xfrm xmlns:a="http://schemas.openxmlformats.org/drawingml/2006/main">
            <a:off x="419100" y="6181725"/>
            <a:ext cx="11325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182633"/>
                </a:solidFill>
                <a:latin typeface="DejaVu Sans"/>
                <a:ea typeface="DejaVu Sans"/>
                <a:cs typeface="DejaVu Sans"/>
              </a:defRPr>
            </a:pPr>
            <a:r>
              <a:rPr sz="1875" b="1">
                <a:solidFill>
                  <a:srgbClr val="182633"/>
                </a:solidFill>
                <a:latin typeface="DejaVu Sans"/>
                <a:ea typeface="DejaVu Sans"/>
                <a:cs typeface="DejaVu Sans"/>
              </a:rPr>
              <a:t>Attach the failing function and its callers</a:t>
            </a:r>
          </a:p>
        </p:txBody>
      </p:sp>
    </p:spTree>
    <p:extLst>
      <p:ext uri="{BB962C8B-B14F-4D97-AF65-F5344CB8AC3E}">
        <p14:creationId xmlns:p14="http://schemas.microsoft.com/office/powerpoint/2010/main" val="123636035"/>
      </p:ext>
    </p:extLst>
  </p:cSld>
</p:sld>
</file>

<file path=ppt/slides/slide14.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7564E32-B63A-43A6-AEC7-90638286F7B9}"/>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03 / REUSABLE INSTRUCTIONS</a:t>
            </a:r>
          </a:p>
        </p:txBody>
      </p:sp>
      <p:sp>
        <p:nvSpPr>
          <p:cNvPr id="2" name="">
            <a:extLst xmlns:a="http://schemas.openxmlformats.org/drawingml/2006/main">
              <a:ext uri="{FF2B5EF4-FFF2-40B4-BE49-F238E27FC236}">
                <a16:creationId xmlns:a16="http://schemas.microsoft.com/office/drawing/2014/main" id="{D64A5166-40BF-49FF-A0B3-19123D22520B}"/>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14</a:t>
            </a:r>
          </a:p>
        </p:txBody>
      </p:sp>
      <p:sp>
        <p:nvSpPr>
          <p:cNvPr id="3" name="">
            <a:extLst xmlns:a="http://schemas.openxmlformats.org/drawingml/2006/main">
              <a:ext uri="{FF2B5EF4-FFF2-40B4-BE49-F238E27FC236}">
                <a16:creationId xmlns:a16="http://schemas.microsoft.com/office/drawing/2014/main" id="{705FB5DE-096D-4B27-8806-25CB378E5239}"/>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Project rules belong with the project</a:t>
            </a:r>
          </a:p>
        </p:txBody>
      </p:sp>
      <p:sp>
        <p:nvSpPr>
          <p:cNvPr id="4" name="">
            <a:extLst xmlns:a="http://schemas.openxmlformats.org/drawingml/2006/main">
              <a:ext uri="{FF2B5EF4-FFF2-40B4-BE49-F238E27FC236}">
                <a16:creationId xmlns:a16="http://schemas.microsoft.com/office/drawing/2014/main" id="{77852161-E7AE-4112-AB39-435210B0324C}"/>
              </a:ext>
            </a:extLst>
          </p:cNvPr>
          <p:cNvSpPr>
            <a:spLocks xmlns:a="http://schemas.openxmlformats.org/drawingml/2006/main" noGrp="1"/>
          </p:cNvSpPr>
          <p:nvPr/>
        </p:nvSpPr>
        <p:spPr>
          <a:xfrm xmlns:a="http://schemas.openxmlformats.org/drawingml/2006/main">
            <a:off x="419100" y="1419225"/>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1746B0"/>
                </a:solidFill>
                <a:latin typeface="DejaVu Sans"/>
                <a:ea typeface="DejaVu Sans"/>
                <a:cs typeface="DejaVu Sans"/>
              </a:defRPr>
            </a:pPr>
            <a:r>
              <a:rPr sz="1650" b="1">
                <a:solidFill>
                  <a:srgbClr val="1746B0"/>
                </a:solidFill>
                <a:latin typeface="DejaVu Sans"/>
                <a:ea typeface="DejaVu Sans"/>
                <a:cs typeface="DejaVu Sans"/>
              </a:rPr>
              <a:t>DEV: “Please stop inventing a new test framework.”</a:t>
            </a:r>
          </a:p>
        </p:txBody>
      </p:sp>
      <p:sp>
        <p:nvSpPr>
          <p:cNvPr id="5" name="">
            <a:extLst xmlns:a="http://schemas.openxmlformats.org/drawingml/2006/main">
              <a:ext uri="{FF2B5EF4-FFF2-40B4-BE49-F238E27FC236}">
                <a16:creationId xmlns:a16="http://schemas.microsoft.com/office/drawing/2014/main" id="{BBD2A45C-5DE5-4EB7-82C1-33936624BEAF}"/>
              </a:ext>
            </a:extLst>
          </p:cNvPr>
          <p:cNvSpPr>
            <a:spLocks xmlns:a="http://schemas.openxmlformats.org/drawingml/2006/main" noGrp="1"/>
          </p:cNvSpPr>
          <p:nvPr/>
        </p:nvSpPr>
        <p:spPr>
          <a:xfrm xmlns:a="http://schemas.openxmlformats.org/drawingml/2006/main">
            <a:off x="6257925" y="1419225"/>
            <a:ext cx="5486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PATCH: “Show me the repository conventions.”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78402d291f94e8d"/>
          <a:stretch xmlns:a="http://schemas.openxmlformats.org/drawingml/2006/main"/>
        </p:blipFill>
        <p:spPr>
          <a:xfrm xmlns:a="http://schemas.openxmlformats.org/drawingml/2006/main">
            <a:off x="1018090" y="2009775"/>
            <a:ext cx="10127245" cy="407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AD8CDA0-6446-4872-AF30-3A9DA24575ED}"/>
              </a:ext>
            </a:extLst>
          </p:cNvPr>
          <p:cNvSpPr>
            <a:spLocks xmlns:a="http://schemas.openxmlformats.org/drawingml/2006/main" noGrp="1"/>
          </p:cNvSpPr>
          <p:nvPr/>
        </p:nvSpPr>
        <p:spPr>
          <a:xfrm xmlns:a="http://schemas.openxmlformats.org/drawingml/2006/main">
            <a:off x="419100" y="6181725"/>
            <a:ext cx="11325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182633"/>
                </a:solidFill>
                <a:latin typeface="DejaVu Sans"/>
                <a:ea typeface="DejaVu Sans"/>
                <a:cs typeface="DejaVu Sans"/>
              </a:defRPr>
            </a:pPr>
            <a:r>
              <a:rPr sz="1875" b="1">
                <a:solidFill>
                  <a:srgbClr val="182633"/>
                </a:solidFill>
                <a:latin typeface="DejaVu Sans"/>
                <a:ea typeface="DejaVu Sans"/>
                <a:cs typeface="DejaVu Sans"/>
              </a:rPr>
              <a:t>Keep stable rules in repository instructions</a:t>
            </a:r>
          </a:p>
        </p:txBody>
      </p:sp>
    </p:spTree>
    <p:extLst>
      <p:ext uri="{BB962C8B-B14F-4D97-AF65-F5344CB8AC3E}">
        <p14:creationId xmlns:p14="http://schemas.microsoft.com/office/powerpoint/2010/main" val="629128693"/>
      </p:ext>
    </p:extLst>
  </p:cSld>
</p:sld>
</file>

<file path=ppt/slides/slide15.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490658-BE79-4DD1-808F-9F6FA4F357E3}"/>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COPYABLE PATTERN / PROJECT INSTRUCTIONS</a:t>
            </a:r>
          </a:p>
        </p:txBody>
      </p:sp>
      <p:sp>
        <p:nvSpPr>
          <p:cNvPr id="2" name="">
            <a:extLst xmlns:a="http://schemas.openxmlformats.org/drawingml/2006/main">
              <a:ext uri="{FF2B5EF4-FFF2-40B4-BE49-F238E27FC236}">
                <a16:creationId xmlns:a16="http://schemas.microsoft.com/office/drawing/2014/main" id="{85A93E43-94CB-4A5C-BAB3-EB0C4E0D7BF7}"/>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15</a:t>
            </a:r>
          </a:p>
        </p:txBody>
      </p:sp>
      <p:sp>
        <p:nvSpPr>
          <p:cNvPr id="3" name="">
            <a:extLst xmlns:a="http://schemas.openxmlformats.org/drawingml/2006/main">
              <a:ext uri="{FF2B5EF4-FFF2-40B4-BE49-F238E27FC236}">
                <a16:creationId xmlns:a16="http://schemas.microsoft.com/office/drawing/2014/main" id="{82E6396E-3B25-41FA-B744-ABB97D182D8E}"/>
              </a:ext>
            </a:extLst>
          </p:cNvPr>
          <p:cNvSpPr>
            <a:spLocks xmlns:a="http://schemas.openxmlformats.org/drawingml/2006/main" noGrp="1"/>
          </p:cNvSpPr>
          <p:nvPr/>
        </p:nvSpPr>
        <p:spPr>
          <a:xfrm xmlns:a="http://schemas.openxmlformats.org/drawingml/2006/main">
            <a:off x="419100" y="647700"/>
            <a:ext cx="1133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A useful repository instruction file</a:t>
            </a:r>
          </a:p>
        </p:txBody>
      </p:sp>
      <p:sp>
        <p:nvSpPr>
          <p:cNvPr id="4" name="">
            <a:extLst xmlns:a="http://schemas.openxmlformats.org/drawingml/2006/main">
              <a:ext uri="{FF2B5EF4-FFF2-40B4-BE49-F238E27FC236}">
                <a16:creationId xmlns:a16="http://schemas.microsoft.com/office/drawing/2014/main" id="{5026E036-C97B-4CB8-8C40-5AD6730CFE79}"/>
              </a:ext>
            </a:extLst>
          </p:cNvPr>
          <p:cNvSpPr>
            <a:spLocks xmlns:a="http://schemas.openxmlformats.org/drawingml/2006/main" noGrp="1"/>
          </p:cNvSpPr>
          <p:nvPr/>
        </p:nvSpPr>
        <p:spPr>
          <a:xfrm xmlns:a="http://schemas.openxmlformats.org/drawingml/2006/main">
            <a:off x="457200" y="1666875"/>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BD3B29"/>
                </a:solidFill>
                <a:latin typeface="DejaVu Sans"/>
                <a:ea typeface="DejaVu Sans"/>
                <a:cs typeface="DejaVu Sans"/>
              </a:defRPr>
            </a:pPr>
            <a:r>
              <a:rPr sz="1650" b="1">
                <a:solidFill>
                  <a:srgbClr val="BD3B29"/>
                </a:solidFill>
                <a:latin typeface="DejaVu Sans"/>
                <a:ea typeface="DejaVu Sans"/>
                <a:cs typeface="DejaVu Sans"/>
              </a:rPr>
              <a:t>.github/copilot-instructions.md</a:t>
            </a:r>
          </a:p>
        </p:txBody>
      </p:sp>
      <p:sp>
        <p:nvSpPr>
          <p:cNvPr id="5" name="">
            <a:extLst xmlns:a="http://schemas.openxmlformats.org/drawingml/2006/main">
              <a:ext uri="{FF2B5EF4-FFF2-40B4-BE49-F238E27FC236}">
                <a16:creationId xmlns:a16="http://schemas.microsoft.com/office/drawing/2014/main" id="{66EB7E8B-418E-4795-8671-2608FF302713}"/>
              </a:ext>
            </a:extLst>
          </p:cNvPr>
          <p:cNvSpPr>
            <a:spLocks xmlns:a="http://schemas.openxmlformats.org/drawingml/2006/main" noGrp="1"/>
          </p:cNvSpPr>
          <p:nvPr/>
        </p:nvSpPr>
        <p:spPr>
          <a:xfrm xmlns:a="http://schemas.openxmlformats.org/drawingml/2006/main">
            <a:off x="6257925" y="1666875"/>
            <a:ext cx="5467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COMMANDS AND EVIDENCE</a:t>
            </a:r>
          </a:p>
        </p:txBody>
      </p:sp>
      <p:sp>
        <p:nvSpPr>
          <p:cNvPr id="6" name="">
            <a:extLst xmlns:a="http://schemas.openxmlformats.org/drawingml/2006/main">
              <a:ext uri="{FF2B5EF4-FFF2-40B4-BE49-F238E27FC236}">
                <a16:creationId xmlns:a16="http://schemas.microsoft.com/office/drawing/2014/main" id="{4662AE8B-BD39-45C1-B668-FFE09E56B7D0}"/>
              </a:ext>
            </a:extLst>
          </p:cNvPr>
          <p:cNvSpPr>
            <a:spLocks xmlns:a="http://schemas.openxmlformats.org/drawingml/2006/main" noGrp="1"/>
          </p:cNvSpPr>
          <p:nvPr/>
        </p:nvSpPr>
        <p:spPr>
          <a:xfrm xmlns:a="http://schemas.openxmlformats.org/drawingml/2006/main">
            <a:off x="457200" y="2305050"/>
            <a:ext cx="52197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Project: FastAPI payment service.</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Public request and response schemas must remain backward compatible.</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Reuse existing repository helpers.</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Never log account data or access tokens.</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Use the existing pytest fixtures.</a:t>
            </a:r>
          </a:p>
        </p:txBody>
      </p:sp>
      <p:sp>
        <p:nvSpPr>
          <p:cNvPr id="7" name="">
            <a:extLst xmlns:a="http://schemas.openxmlformats.org/drawingml/2006/main">
              <a:ext uri="{FF2B5EF4-FFF2-40B4-BE49-F238E27FC236}">
                <a16:creationId xmlns:a16="http://schemas.microsoft.com/office/drawing/2014/main" id="{A37E7D31-44AA-49E6-9232-D94A0299382C}"/>
              </a:ext>
            </a:extLst>
          </p:cNvPr>
          <p:cNvSpPr>
            <a:spLocks xmlns:a="http://schemas.openxmlformats.org/drawingml/2006/main" noGrp="1"/>
          </p:cNvSpPr>
          <p:nvPr/>
        </p:nvSpPr>
        <p:spPr>
          <a:xfrm xmlns:a="http://schemas.openxmlformats.org/drawingml/2006/main">
            <a:off x="6257925" y="2305050"/>
            <a:ext cx="54673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Setup: use the documented dev environment.</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Focused test: pytest tests/test_payments.py</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Lint: ruff check .</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Report the exact commands and results.</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If a check cannot run, report the blocker.</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Do not claim a skipped check passed.</a:t>
            </a:r>
          </a:p>
        </p:txBody>
      </p:sp>
    </p:spTree>
    <p:extLst>
      <p:ext uri="{BB962C8B-B14F-4D97-AF65-F5344CB8AC3E}">
        <p14:creationId xmlns:p14="http://schemas.microsoft.com/office/powerpoint/2010/main" val="421341814"/>
      </p:ext>
    </p:extLst>
  </p:cSld>
</p:sld>
</file>

<file path=ppt/slides/slide16.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60B2A9-2B50-43F4-83D9-050A1F23C7A4}"/>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04 / PLAN BEFORE PATCH</a:t>
            </a:r>
          </a:p>
        </p:txBody>
      </p:sp>
      <p:sp>
        <p:nvSpPr>
          <p:cNvPr id="2" name="">
            <a:extLst xmlns:a="http://schemas.openxmlformats.org/drawingml/2006/main">
              <a:ext uri="{FF2B5EF4-FFF2-40B4-BE49-F238E27FC236}">
                <a16:creationId xmlns:a16="http://schemas.microsoft.com/office/drawing/2014/main" id="{826761DF-B4B5-49A0-AAB5-AD69CECAE7FA}"/>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16</a:t>
            </a:r>
          </a:p>
        </p:txBody>
      </p:sp>
      <p:sp>
        <p:nvSpPr>
          <p:cNvPr id="3" name="">
            <a:extLst xmlns:a="http://schemas.openxmlformats.org/drawingml/2006/main">
              <a:ext uri="{FF2B5EF4-FFF2-40B4-BE49-F238E27FC236}">
                <a16:creationId xmlns:a16="http://schemas.microsoft.com/office/drawing/2014/main" id="{96837C05-2B5A-42DD-9D12-C4F35F65755C}"/>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A short plan exposes bad assumptions</a:t>
            </a:r>
          </a:p>
        </p:txBody>
      </p:sp>
      <p:sp>
        <p:nvSpPr>
          <p:cNvPr id="4" name="">
            <a:extLst xmlns:a="http://schemas.openxmlformats.org/drawingml/2006/main">
              <a:ext uri="{FF2B5EF4-FFF2-40B4-BE49-F238E27FC236}">
                <a16:creationId xmlns:a16="http://schemas.microsoft.com/office/drawing/2014/main" id="{157E3A65-5F2F-4028-9AC7-1C4B0089ED88}"/>
              </a:ext>
            </a:extLst>
          </p:cNvPr>
          <p:cNvSpPr>
            <a:spLocks xmlns:a="http://schemas.openxmlformats.org/drawingml/2006/main" noGrp="1"/>
          </p:cNvSpPr>
          <p:nvPr/>
        </p:nvSpPr>
        <p:spPr>
          <a:xfrm xmlns:a="http://schemas.openxmlformats.org/drawingml/2006/main">
            <a:off x="419100" y="1419225"/>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1746B0"/>
                </a:solidFill>
                <a:latin typeface="DejaVu Sans"/>
                <a:ea typeface="DejaVu Sans"/>
                <a:cs typeface="DejaVu Sans"/>
              </a:defRPr>
            </a:pPr>
            <a:r>
              <a:rPr sz="1650" b="1">
                <a:solidFill>
                  <a:srgbClr val="1746B0"/>
                </a:solidFill>
                <a:latin typeface="DejaVu Sans"/>
                <a:ea typeface="DejaVu Sans"/>
                <a:cs typeface="DejaVu Sans"/>
              </a:rPr>
              <a:t>DEV: “Where can duplicate execution occur?”</a:t>
            </a:r>
          </a:p>
        </p:txBody>
      </p:sp>
      <p:sp>
        <p:nvSpPr>
          <p:cNvPr id="5" name="">
            <a:extLst xmlns:a="http://schemas.openxmlformats.org/drawingml/2006/main">
              <a:ext uri="{FF2B5EF4-FFF2-40B4-BE49-F238E27FC236}">
                <a16:creationId xmlns:a16="http://schemas.microsoft.com/office/drawing/2014/main" id="{2F1E349D-F8E0-4214-A735-34B86324892F}"/>
              </a:ext>
            </a:extLst>
          </p:cNvPr>
          <p:cNvSpPr>
            <a:spLocks xmlns:a="http://schemas.openxmlformats.org/drawingml/2006/main" noGrp="1"/>
          </p:cNvSpPr>
          <p:nvPr/>
        </p:nvSpPr>
        <p:spPr>
          <a:xfrm xmlns:a="http://schemas.openxmlformats.org/drawingml/2006/main">
            <a:off x="6257925" y="1419225"/>
            <a:ext cx="5486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PATCH: “The storage boundary needs a concurrency check.”</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36effc8ac5d4a3c"/>
          <a:stretch xmlns:a="http://schemas.openxmlformats.org/drawingml/2006/main"/>
        </p:blipFill>
        <p:spPr>
          <a:xfrm xmlns:a="http://schemas.openxmlformats.org/drawingml/2006/main">
            <a:off x="1018090" y="2009775"/>
            <a:ext cx="10127245" cy="407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1083C6A-317B-49B9-9C93-3E17945175FB}"/>
              </a:ext>
            </a:extLst>
          </p:cNvPr>
          <p:cNvSpPr>
            <a:spLocks xmlns:a="http://schemas.openxmlformats.org/drawingml/2006/main" noGrp="1"/>
          </p:cNvSpPr>
          <p:nvPr/>
        </p:nvSpPr>
        <p:spPr>
          <a:xfrm xmlns:a="http://schemas.openxmlformats.org/drawingml/2006/main">
            <a:off x="419100" y="6181725"/>
            <a:ext cx="11325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182633"/>
                </a:solidFill>
                <a:latin typeface="DejaVu Sans"/>
                <a:ea typeface="DejaVu Sans"/>
                <a:cs typeface="DejaVu Sans"/>
              </a:defRPr>
            </a:pPr>
            <a:r>
              <a:rPr sz="1875" b="1">
                <a:solidFill>
                  <a:srgbClr val="182633"/>
                </a:solidFill>
                <a:latin typeface="DejaVu Sans"/>
                <a:ea typeface="DejaVu Sans"/>
                <a:cs typeface="DejaVu Sans"/>
              </a:rPr>
              <a:t>Trace the failing execution path</a:t>
            </a:r>
          </a:p>
        </p:txBody>
      </p:sp>
    </p:spTree>
    <p:extLst>
      <p:ext uri="{BB962C8B-B14F-4D97-AF65-F5344CB8AC3E}">
        <p14:creationId xmlns:p14="http://schemas.microsoft.com/office/powerpoint/2010/main" val="1346453207"/>
      </p:ext>
    </p:extLst>
  </p:cSld>
</p:sld>
</file>

<file path=ppt/slides/slide17.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24FFA4-1A96-403D-B9B3-481E56489707}"/>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04 / THE REVIEWABLE PATCH</a:t>
            </a:r>
          </a:p>
        </p:txBody>
      </p:sp>
      <p:sp>
        <p:nvSpPr>
          <p:cNvPr id="2" name="">
            <a:extLst xmlns:a="http://schemas.openxmlformats.org/drawingml/2006/main">
              <a:ext uri="{FF2B5EF4-FFF2-40B4-BE49-F238E27FC236}">
                <a16:creationId xmlns:a16="http://schemas.microsoft.com/office/drawing/2014/main" id="{6AABFA56-4655-45A1-A1FB-324563B5C0B2}"/>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17</a:t>
            </a:r>
          </a:p>
        </p:txBody>
      </p:sp>
      <p:sp>
        <p:nvSpPr>
          <p:cNvPr id="3" name="">
            <a:extLst xmlns:a="http://schemas.openxmlformats.org/drawingml/2006/main">
              <a:ext uri="{FF2B5EF4-FFF2-40B4-BE49-F238E27FC236}">
                <a16:creationId xmlns:a16="http://schemas.microsoft.com/office/drawing/2014/main" id="{B4D3FCEC-FAD4-497A-9B90-589108F89CFA}"/>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One patch keeps the story visible</a:t>
            </a:r>
          </a:p>
        </p:txBody>
      </p:sp>
      <p:sp>
        <p:nvSpPr>
          <p:cNvPr id="4" name="">
            <a:extLst xmlns:a="http://schemas.openxmlformats.org/drawingml/2006/main">
              <a:ext uri="{FF2B5EF4-FFF2-40B4-BE49-F238E27FC236}">
                <a16:creationId xmlns:a16="http://schemas.microsoft.com/office/drawing/2014/main" id="{FE6D4B25-13C4-46ED-844D-1475869592D4}"/>
              </a:ext>
            </a:extLst>
          </p:cNvPr>
          <p:cNvSpPr>
            <a:spLocks xmlns:a="http://schemas.openxmlformats.org/drawingml/2006/main" noGrp="1"/>
          </p:cNvSpPr>
          <p:nvPr/>
        </p:nvSpPr>
        <p:spPr>
          <a:xfrm xmlns:a="http://schemas.openxmlformats.org/drawingml/2006/main">
            <a:off x="419100" y="1419225"/>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1746B0"/>
                </a:solidFill>
                <a:latin typeface="DejaVu Sans"/>
                <a:ea typeface="DejaVu Sans"/>
                <a:cs typeface="DejaVu Sans"/>
              </a:defRPr>
            </a:pPr>
            <a:r>
              <a:rPr sz="1650" b="1">
                <a:solidFill>
                  <a:srgbClr val="1746B0"/>
                </a:solidFill>
                <a:latin typeface="DejaVu Sans"/>
                <a:ea typeface="DejaVu Sans"/>
                <a:cs typeface="DejaVu Sans"/>
              </a:rPr>
              <a:t>DEV: “Why did the unrelated UI change?”</a:t>
            </a:r>
          </a:p>
        </p:txBody>
      </p:sp>
      <p:sp>
        <p:nvSpPr>
          <p:cNvPr id="5" name="">
            <a:extLst xmlns:a="http://schemas.openxmlformats.org/drawingml/2006/main">
              <a:ext uri="{FF2B5EF4-FFF2-40B4-BE49-F238E27FC236}">
                <a16:creationId xmlns:a16="http://schemas.microsoft.com/office/drawing/2014/main" id="{7F6672E0-ED9A-44F2-9269-9D0B366748AA}"/>
              </a:ext>
            </a:extLst>
          </p:cNvPr>
          <p:cNvSpPr>
            <a:spLocks xmlns:a="http://schemas.openxmlformats.org/drawingml/2006/main" noGrp="1"/>
          </p:cNvSpPr>
          <p:nvPr/>
        </p:nvSpPr>
        <p:spPr>
          <a:xfrm xmlns:a="http://schemas.openxmlformats.org/drawingml/2006/main">
            <a:off x="6257925" y="1419225"/>
            <a:ext cx="5486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PATCH: “Let us reduce the diff to the retry fix.”</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ec52ac57a794eb3"/>
          <a:stretch xmlns:a="http://schemas.openxmlformats.org/drawingml/2006/main"/>
        </p:blipFill>
        <p:spPr>
          <a:xfrm xmlns:a="http://schemas.openxmlformats.org/drawingml/2006/main">
            <a:off x="1049937" y="2009775"/>
            <a:ext cx="10063552" cy="407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F7CD52F-2C19-4869-AB77-468EE2E8B3A5}"/>
              </a:ext>
            </a:extLst>
          </p:cNvPr>
          <p:cNvSpPr>
            <a:spLocks xmlns:a="http://schemas.openxmlformats.org/drawingml/2006/main" noGrp="1"/>
          </p:cNvSpPr>
          <p:nvPr/>
        </p:nvSpPr>
        <p:spPr>
          <a:xfrm xmlns:a="http://schemas.openxmlformats.org/drawingml/2006/main">
            <a:off x="419100" y="6181725"/>
            <a:ext cx="11325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182633"/>
                </a:solidFill>
                <a:latin typeface="DejaVu Sans"/>
                <a:ea typeface="DejaVu Sans"/>
                <a:cs typeface="DejaVu Sans"/>
              </a:defRPr>
            </a:pPr>
            <a:r>
              <a:rPr sz="1875" b="1">
                <a:solidFill>
                  <a:srgbClr val="182633"/>
                </a:solidFill>
                <a:latin typeface="DejaVu Sans"/>
                <a:ea typeface="DejaVu Sans"/>
                <a:cs typeface="DejaVu Sans"/>
              </a:rPr>
              <a:t>Restrict edits to the agreed behavior</a:t>
            </a:r>
          </a:p>
        </p:txBody>
      </p:sp>
    </p:spTree>
    <p:extLst>
      <p:ext uri="{BB962C8B-B14F-4D97-AF65-F5344CB8AC3E}">
        <p14:creationId xmlns:p14="http://schemas.microsoft.com/office/powerpoint/2010/main" val="1923648119"/>
      </p:ext>
    </p:extLst>
  </p:cSld>
</p:sld>
</file>

<file path=ppt/slides/slide18.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79122F-DB43-4C6A-B469-62FB9D8113C0}"/>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04 / THE TEST THAT MATTERS</a:t>
            </a:r>
          </a:p>
        </p:txBody>
      </p:sp>
      <p:sp>
        <p:nvSpPr>
          <p:cNvPr id="2" name="">
            <a:extLst xmlns:a="http://schemas.openxmlformats.org/drawingml/2006/main">
              <a:ext uri="{FF2B5EF4-FFF2-40B4-BE49-F238E27FC236}">
                <a16:creationId xmlns:a16="http://schemas.microsoft.com/office/drawing/2014/main" id="{68E74119-AB31-4CA0-B432-F8391A39BD6D}"/>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18</a:t>
            </a:r>
          </a:p>
        </p:txBody>
      </p:sp>
      <p:sp>
        <p:nvSpPr>
          <p:cNvPr id="3" name="">
            <a:extLst xmlns:a="http://schemas.openxmlformats.org/drawingml/2006/main">
              <a:ext uri="{FF2B5EF4-FFF2-40B4-BE49-F238E27FC236}">
                <a16:creationId xmlns:a16="http://schemas.microsoft.com/office/drawing/2014/main" id="{1CF389F8-5EF4-475C-A93A-E4FB262D9A51}"/>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A passing test needs a failing story</a:t>
            </a:r>
          </a:p>
        </p:txBody>
      </p:sp>
      <p:sp>
        <p:nvSpPr>
          <p:cNvPr id="4" name="">
            <a:extLst xmlns:a="http://schemas.openxmlformats.org/drawingml/2006/main">
              <a:ext uri="{FF2B5EF4-FFF2-40B4-BE49-F238E27FC236}">
                <a16:creationId xmlns:a16="http://schemas.microsoft.com/office/drawing/2014/main" id="{182C02B1-8D41-46CD-82D1-D5AF920D4C4C}"/>
              </a:ext>
            </a:extLst>
          </p:cNvPr>
          <p:cNvSpPr>
            <a:spLocks xmlns:a="http://schemas.openxmlformats.org/drawingml/2006/main" noGrp="1"/>
          </p:cNvSpPr>
          <p:nvPr/>
        </p:nvSpPr>
        <p:spPr>
          <a:xfrm xmlns:a="http://schemas.openxmlformats.org/drawingml/2006/main">
            <a:off x="419100" y="1419225"/>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1746B0"/>
                </a:solidFill>
                <a:latin typeface="DejaVu Sans"/>
                <a:ea typeface="DejaVu Sans"/>
                <a:cs typeface="DejaVu Sans"/>
              </a:defRPr>
            </a:pPr>
            <a:r>
              <a:rPr sz="1650" b="1">
                <a:solidFill>
                  <a:srgbClr val="1746B0"/>
                </a:solidFill>
                <a:latin typeface="DejaVu Sans"/>
                <a:ea typeface="DejaVu Sans"/>
                <a:cs typeface="DejaVu Sans"/>
              </a:rPr>
              <a:t>DEV: “Would this test catch the original bug?”</a:t>
            </a:r>
          </a:p>
        </p:txBody>
      </p:sp>
      <p:sp>
        <p:nvSpPr>
          <p:cNvPr id="5" name="">
            <a:extLst xmlns:a="http://schemas.openxmlformats.org/drawingml/2006/main">
              <a:ext uri="{FF2B5EF4-FFF2-40B4-BE49-F238E27FC236}">
                <a16:creationId xmlns:a16="http://schemas.microsoft.com/office/drawing/2014/main" id="{A62DC9A7-BE5B-4020-A4B0-6AC6BFCF8ADE}"/>
              </a:ext>
            </a:extLst>
          </p:cNvPr>
          <p:cNvSpPr>
            <a:spLocks xmlns:a="http://schemas.openxmlformats.org/drawingml/2006/main" noGrp="1"/>
          </p:cNvSpPr>
          <p:nvPr/>
        </p:nvSpPr>
        <p:spPr>
          <a:xfrm xmlns:a="http://schemas.openxmlformats.org/drawingml/2006/main">
            <a:off x="6257925" y="1419225"/>
            <a:ext cx="5486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PATCH: “Let us run it against the old behavior.”</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eb6faee586b47f7"/>
          <a:stretch xmlns:a="http://schemas.openxmlformats.org/drawingml/2006/main"/>
        </p:blipFill>
        <p:spPr>
          <a:xfrm xmlns:a="http://schemas.openxmlformats.org/drawingml/2006/main">
            <a:off x="1049937" y="2009775"/>
            <a:ext cx="10063552" cy="407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FB79E79-411D-4F07-B153-7E82FF525706}"/>
              </a:ext>
            </a:extLst>
          </p:cNvPr>
          <p:cNvSpPr>
            <a:spLocks xmlns:a="http://schemas.openxmlformats.org/drawingml/2006/main" noGrp="1"/>
          </p:cNvSpPr>
          <p:nvPr/>
        </p:nvSpPr>
        <p:spPr>
          <a:xfrm xmlns:a="http://schemas.openxmlformats.org/drawingml/2006/main">
            <a:off x="419100" y="6181725"/>
            <a:ext cx="11325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182633"/>
                </a:solidFill>
                <a:latin typeface="DejaVu Sans"/>
                <a:ea typeface="DejaVu Sans"/>
                <a:cs typeface="DejaVu Sans"/>
              </a:defRPr>
            </a:pPr>
            <a:r>
              <a:rPr sz="1875" b="1">
                <a:solidFill>
                  <a:srgbClr val="182633"/>
                </a:solidFill>
                <a:latin typeface="DejaVu Sans"/>
                <a:ea typeface="DejaVu Sans"/>
                <a:cs typeface="DejaVu Sans"/>
              </a:rPr>
              <a:t>Make the regression fail before the fix</a:t>
            </a:r>
          </a:p>
        </p:txBody>
      </p:sp>
    </p:spTree>
    <p:extLst>
      <p:ext uri="{BB962C8B-B14F-4D97-AF65-F5344CB8AC3E}">
        <p14:creationId xmlns:p14="http://schemas.microsoft.com/office/powerpoint/2010/main" val="454633587"/>
      </p:ext>
    </p:extLst>
  </p:cSld>
</p:sld>
</file>

<file path=ppt/slides/slide19.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51302B-B4BA-423A-910B-13E8C7B1234A}"/>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05 / THE CONFIDENT GUESS</a:t>
            </a:r>
          </a:p>
        </p:txBody>
      </p:sp>
      <p:sp>
        <p:nvSpPr>
          <p:cNvPr id="2" name="">
            <a:extLst xmlns:a="http://schemas.openxmlformats.org/drawingml/2006/main">
              <a:ext uri="{FF2B5EF4-FFF2-40B4-BE49-F238E27FC236}">
                <a16:creationId xmlns:a16="http://schemas.microsoft.com/office/drawing/2014/main" id="{D9A9E9AA-92DC-4BCC-9AB3-218D4EA426C5}"/>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19</a:t>
            </a:r>
          </a:p>
        </p:txBody>
      </p:sp>
      <p:sp>
        <p:nvSpPr>
          <p:cNvPr id="3" name="">
            <a:extLst xmlns:a="http://schemas.openxmlformats.org/drawingml/2006/main">
              <a:ext uri="{FF2B5EF4-FFF2-40B4-BE49-F238E27FC236}">
                <a16:creationId xmlns:a16="http://schemas.microsoft.com/office/drawing/2014/main" id="{308A5968-5C69-4D35-9AE9-2F77EDC4BBF7}"/>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Plausible APIs can be imaginary</a:t>
            </a:r>
          </a:p>
        </p:txBody>
      </p:sp>
      <p:sp>
        <p:nvSpPr>
          <p:cNvPr id="4" name="">
            <a:extLst xmlns:a="http://schemas.openxmlformats.org/drawingml/2006/main">
              <a:ext uri="{FF2B5EF4-FFF2-40B4-BE49-F238E27FC236}">
                <a16:creationId xmlns:a16="http://schemas.microsoft.com/office/drawing/2014/main" id="{BB056C7E-C135-4672-A721-15C6E18F4A75}"/>
              </a:ext>
            </a:extLst>
          </p:cNvPr>
          <p:cNvSpPr>
            <a:spLocks xmlns:a="http://schemas.openxmlformats.org/drawingml/2006/main" noGrp="1"/>
          </p:cNvSpPr>
          <p:nvPr/>
        </p:nvSpPr>
        <p:spPr>
          <a:xfrm xmlns:a="http://schemas.openxmlformats.org/drawingml/2006/main">
            <a:off x="419100" y="1419225"/>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1746B0"/>
                </a:solidFill>
                <a:latin typeface="DejaVu Sans"/>
                <a:ea typeface="DejaVu Sans"/>
                <a:cs typeface="DejaVu Sans"/>
              </a:defRPr>
            </a:pPr>
            <a:r>
              <a:rPr sz="1650" b="1">
                <a:solidFill>
                  <a:srgbClr val="1746B0"/>
                </a:solidFill>
                <a:latin typeface="DejaVu Sans"/>
                <a:ea typeface="DejaVu Sans"/>
                <a:cs typeface="DejaVu Sans"/>
              </a:rPr>
              <a:t>PATCH: “Try payment.safeRetryForever().”</a:t>
            </a:r>
          </a:p>
        </p:txBody>
      </p:sp>
      <p:sp>
        <p:nvSpPr>
          <p:cNvPr id="5" name="">
            <a:extLst xmlns:a="http://schemas.openxmlformats.org/drawingml/2006/main">
              <a:ext uri="{FF2B5EF4-FFF2-40B4-BE49-F238E27FC236}">
                <a16:creationId xmlns:a16="http://schemas.microsoft.com/office/drawing/2014/main" id="{159A1607-0A8F-4838-A157-8E84B2BB980C}"/>
              </a:ext>
            </a:extLst>
          </p:cNvPr>
          <p:cNvSpPr>
            <a:spLocks xmlns:a="http://schemas.openxmlformats.org/drawingml/2006/main" noGrp="1"/>
          </p:cNvSpPr>
          <p:nvPr/>
        </p:nvSpPr>
        <p:spPr>
          <a:xfrm xmlns:a="http://schemas.openxmlformats.org/drawingml/2006/main">
            <a:off x="6257925" y="1419225"/>
            <a:ext cx="5486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DEV: “Show me that API in our installed version.”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f9cd2deeb164ef5"/>
          <a:stretch xmlns:a="http://schemas.openxmlformats.org/drawingml/2006/main"/>
        </p:blipFill>
        <p:spPr>
          <a:xfrm xmlns:a="http://schemas.openxmlformats.org/drawingml/2006/main">
            <a:off x="985838" y="2009775"/>
            <a:ext cx="10191750" cy="407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A6C3AE6-AA74-4E46-AB30-A2953ED7ACCF}"/>
              </a:ext>
            </a:extLst>
          </p:cNvPr>
          <p:cNvSpPr>
            <a:spLocks xmlns:a="http://schemas.openxmlformats.org/drawingml/2006/main" noGrp="1"/>
          </p:cNvSpPr>
          <p:nvPr/>
        </p:nvSpPr>
        <p:spPr>
          <a:xfrm xmlns:a="http://schemas.openxmlformats.org/drawingml/2006/main">
            <a:off x="419100" y="6181725"/>
            <a:ext cx="11325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182633"/>
                </a:solidFill>
                <a:latin typeface="DejaVu Sans"/>
                <a:ea typeface="DejaVu Sans"/>
                <a:cs typeface="DejaVu Sans"/>
              </a:defRPr>
            </a:pPr>
            <a:r>
              <a:rPr sz="1875" b="1">
                <a:solidFill>
                  <a:srgbClr val="182633"/>
                </a:solidFill>
                <a:latin typeface="DejaVu Sans"/>
                <a:ea typeface="DejaVu Sans"/>
                <a:cs typeface="DejaVu Sans"/>
              </a:rPr>
              <a:t>Check the lockfile and actual package</a:t>
            </a:r>
          </a:p>
        </p:txBody>
      </p:sp>
    </p:spTree>
    <p:extLst>
      <p:ext uri="{BB962C8B-B14F-4D97-AF65-F5344CB8AC3E}">
        <p14:creationId xmlns:p14="http://schemas.microsoft.com/office/powerpoint/2010/main" val="684782210"/>
      </p:ext>
    </p:extLst>
  </p:cSld>
</p:sld>
</file>

<file path=ppt/slides/slide20.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1D323F-1525-4594-9B46-32E334D72E69}"/>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05 / A SECOND PAIR OF EYES</a:t>
            </a:r>
          </a:p>
        </p:txBody>
      </p:sp>
      <p:sp>
        <p:nvSpPr>
          <p:cNvPr id="2" name="">
            <a:extLst xmlns:a="http://schemas.openxmlformats.org/drawingml/2006/main">
              <a:ext uri="{FF2B5EF4-FFF2-40B4-BE49-F238E27FC236}">
                <a16:creationId xmlns:a16="http://schemas.microsoft.com/office/drawing/2014/main" id="{4254E917-EF9C-47F3-B417-4BDF97DE6D25}"/>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20</a:t>
            </a:r>
          </a:p>
        </p:txBody>
      </p:sp>
      <p:sp>
        <p:nvSpPr>
          <p:cNvPr id="3" name="">
            <a:extLst xmlns:a="http://schemas.openxmlformats.org/drawingml/2006/main">
              <a:ext uri="{FF2B5EF4-FFF2-40B4-BE49-F238E27FC236}">
                <a16:creationId xmlns:a16="http://schemas.microsoft.com/office/drawing/2014/main" id="{1F09A57D-D2E0-4918-942A-DE3E54617348}"/>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The reviewer needs a different brief</a:t>
            </a:r>
          </a:p>
        </p:txBody>
      </p:sp>
      <p:sp>
        <p:nvSpPr>
          <p:cNvPr id="4" name="">
            <a:extLst xmlns:a="http://schemas.openxmlformats.org/drawingml/2006/main">
              <a:ext uri="{FF2B5EF4-FFF2-40B4-BE49-F238E27FC236}">
                <a16:creationId xmlns:a16="http://schemas.microsoft.com/office/drawing/2014/main" id="{55776F62-B436-4928-B511-C90EB9E99D4B}"/>
              </a:ext>
            </a:extLst>
          </p:cNvPr>
          <p:cNvSpPr>
            <a:spLocks xmlns:a="http://schemas.openxmlformats.org/drawingml/2006/main" noGrp="1"/>
          </p:cNvSpPr>
          <p:nvPr/>
        </p:nvSpPr>
        <p:spPr>
          <a:xfrm xmlns:a="http://schemas.openxmlformats.org/drawingml/2006/main">
            <a:off x="419100" y="1419225"/>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1746B0"/>
                </a:solidFill>
                <a:latin typeface="DejaVu Sans"/>
                <a:ea typeface="DejaVu Sans"/>
                <a:cs typeface="DejaVu Sans"/>
              </a:defRPr>
            </a:pPr>
            <a:r>
              <a:rPr sz="1650" b="1">
                <a:solidFill>
                  <a:srgbClr val="1746B0"/>
                </a:solidFill>
                <a:latin typeface="DejaVu Sans"/>
                <a:ea typeface="DejaVu Sans"/>
                <a:cs typeface="DejaVu Sans"/>
              </a:rPr>
              <a:t>DEV: “Find a concrete way this patch fails.”</a:t>
            </a:r>
          </a:p>
        </p:txBody>
      </p:sp>
      <p:sp>
        <p:nvSpPr>
          <p:cNvPr id="5" name="">
            <a:extLst xmlns:a="http://schemas.openxmlformats.org/drawingml/2006/main">
              <a:ext uri="{FF2B5EF4-FFF2-40B4-BE49-F238E27FC236}">
                <a16:creationId xmlns:a16="http://schemas.microsoft.com/office/drawing/2014/main" id="{D4249FD7-C033-427B-A65F-299A77A2D9CB}"/>
              </a:ext>
            </a:extLst>
          </p:cNvPr>
          <p:cNvSpPr>
            <a:spLocks xmlns:a="http://schemas.openxmlformats.org/drawingml/2006/main" noGrp="1"/>
          </p:cNvSpPr>
          <p:nvPr/>
        </p:nvSpPr>
        <p:spPr>
          <a:xfrm xmlns:a="http://schemas.openxmlformats.org/drawingml/2006/main">
            <a:off x="6257925" y="1419225"/>
            <a:ext cx="5486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PATCH: “I will test the assumptions against the diff.”</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59b0ba0f5fb4013"/>
          <a:stretch xmlns:a="http://schemas.openxmlformats.org/drawingml/2006/main"/>
        </p:blipFill>
        <p:spPr>
          <a:xfrm xmlns:a="http://schemas.openxmlformats.org/drawingml/2006/main">
            <a:off x="985838" y="2009775"/>
            <a:ext cx="10191750" cy="407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4C6DD3A-B352-4A0D-B7B0-27DC53643FF7}"/>
              </a:ext>
            </a:extLst>
          </p:cNvPr>
          <p:cNvSpPr>
            <a:spLocks xmlns:a="http://schemas.openxmlformats.org/drawingml/2006/main" noGrp="1"/>
          </p:cNvSpPr>
          <p:nvPr/>
        </p:nvSpPr>
        <p:spPr>
          <a:xfrm xmlns:a="http://schemas.openxmlformats.org/drawingml/2006/main">
            <a:off x="419100" y="6181725"/>
            <a:ext cx="11325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182633"/>
                </a:solidFill>
                <a:latin typeface="DejaVu Sans"/>
                <a:ea typeface="DejaVu Sans"/>
                <a:cs typeface="DejaVu Sans"/>
              </a:defRPr>
            </a:pPr>
            <a:r>
              <a:rPr sz="1875" b="1">
                <a:solidFill>
                  <a:srgbClr val="182633"/>
                </a:solidFill>
                <a:latin typeface="DejaVu Sans"/>
                <a:ea typeface="DejaVu Sans"/>
                <a:cs typeface="DejaVu Sans"/>
              </a:rPr>
              <a:t>Review against the original contract</a:t>
            </a:r>
          </a:p>
        </p:txBody>
      </p:sp>
    </p:spTree>
    <p:extLst>
      <p:ext uri="{BB962C8B-B14F-4D97-AF65-F5344CB8AC3E}">
        <p14:creationId xmlns:p14="http://schemas.microsoft.com/office/powerpoint/2010/main" val="142383644"/>
      </p:ext>
    </p:extLst>
  </p:cSld>
</p:sld>
</file>

<file path=ppt/slides/slide21.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2BAA94-2F49-4631-97A6-67EEE42ACD22}"/>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COPYABLE PROMPT / REVIEW</a:t>
            </a:r>
          </a:p>
        </p:txBody>
      </p:sp>
      <p:sp>
        <p:nvSpPr>
          <p:cNvPr id="2" name="">
            <a:extLst xmlns:a="http://schemas.openxmlformats.org/drawingml/2006/main">
              <a:ext uri="{FF2B5EF4-FFF2-40B4-BE49-F238E27FC236}">
                <a16:creationId xmlns:a16="http://schemas.microsoft.com/office/drawing/2014/main" id="{FB0E3B7D-AAAD-483B-9A12-12201F336627}"/>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21</a:t>
            </a:r>
          </a:p>
        </p:txBody>
      </p:sp>
      <p:sp>
        <p:nvSpPr>
          <p:cNvPr id="3" name="">
            <a:extLst xmlns:a="http://schemas.openxmlformats.org/drawingml/2006/main">
              <a:ext uri="{FF2B5EF4-FFF2-40B4-BE49-F238E27FC236}">
                <a16:creationId xmlns:a16="http://schemas.microsoft.com/office/drawing/2014/main" id="{149F0ED5-BDD5-4F5A-B90E-8C12002122F3}"/>
              </a:ext>
            </a:extLst>
          </p:cNvPr>
          <p:cNvSpPr>
            <a:spLocks xmlns:a="http://schemas.openxmlformats.org/drawingml/2006/main" noGrp="1"/>
          </p:cNvSpPr>
          <p:nvPr/>
        </p:nvSpPr>
        <p:spPr>
          <a:xfrm xmlns:a="http://schemas.openxmlformats.org/drawingml/2006/main">
            <a:off x="419100" y="647700"/>
            <a:ext cx="1133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A review prompt that looks for failure</a:t>
            </a:r>
          </a:p>
        </p:txBody>
      </p:sp>
      <p:sp>
        <p:nvSpPr>
          <p:cNvPr id="4" name="">
            <a:extLst xmlns:a="http://schemas.openxmlformats.org/drawingml/2006/main">
              <a:ext uri="{FF2B5EF4-FFF2-40B4-BE49-F238E27FC236}">
                <a16:creationId xmlns:a16="http://schemas.microsoft.com/office/drawing/2014/main" id="{B60D242C-10E7-47CE-AA22-54BFD9B8F76E}"/>
              </a:ext>
            </a:extLst>
          </p:cNvPr>
          <p:cNvSpPr>
            <a:spLocks xmlns:a="http://schemas.openxmlformats.org/drawingml/2006/main" noGrp="1"/>
          </p:cNvSpPr>
          <p:nvPr/>
        </p:nvSpPr>
        <p:spPr>
          <a:xfrm xmlns:a="http://schemas.openxmlformats.org/drawingml/2006/main">
            <a:off x="457200" y="1666875"/>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BD3B29"/>
                </a:solidFill>
                <a:latin typeface="DejaVu Sans"/>
                <a:ea typeface="DejaVu Sans"/>
                <a:cs typeface="DejaVu Sans"/>
              </a:defRPr>
            </a:pPr>
            <a:r>
              <a:rPr sz="1650" b="1">
                <a:solidFill>
                  <a:srgbClr val="BD3B29"/>
                </a:solidFill>
                <a:latin typeface="DejaVu Sans"/>
                <a:ea typeface="DejaVu Sans"/>
                <a:cs typeface="DejaVu Sans"/>
              </a:rPr>
              <a:t>THE LOW-VALUE REQUEST</a:t>
            </a:r>
          </a:p>
        </p:txBody>
      </p:sp>
      <p:sp>
        <p:nvSpPr>
          <p:cNvPr id="5" name="">
            <a:extLst xmlns:a="http://schemas.openxmlformats.org/drawingml/2006/main">
              <a:ext uri="{FF2B5EF4-FFF2-40B4-BE49-F238E27FC236}">
                <a16:creationId xmlns:a16="http://schemas.microsoft.com/office/drawing/2014/main" id="{81637AF7-F73C-481A-B379-6DD242532A90}"/>
              </a:ext>
            </a:extLst>
          </p:cNvPr>
          <p:cNvSpPr>
            <a:spLocks xmlns:a="http://schemas.openxmlformats.org/drawingml/2006/main" noGrp="1"/>
          </p:cNvSpPr>
          <p:nvPr/>
        </p:nvSpPr>
        <p:spPr>
          <a:xfrm xmlns:a="http://schemas.openxmlformats.org/drawingml/2006/main">
            <a:off x="6257925" y="1666875"/>
            <a:ext cx="5467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THE WORKING REVIEW</a:t>
            </a:r>
          </a:p>
        </p:txBody>
      </p:sp>
      <p:sp>
        <p:nvSpPr>
          <p:cNvPr id="6" name="">
            <a:extLst xmlns:a="http://schemas.openxmlformats.org/drawingml/2006/main">
              <a:ext uri="{FF2B5EF4-FFF2-40B4-BE49-F238E27FC236}">
                <a16:creationId xmlns:a16="http://schemas.microsoft.com/office/drawing/2014/main" id="{60293943-DA88-4EC3-BFCD-257E1BE8C3A0}"/>
              </a:ext>
            </a:extLst>
          </p:cNvPr>
          <p:cNvSpPr>
            <a:spLocks xmlns:a="http://schemas.openxmlformats.org/drawingml/2006/main" noGrp="1"/>
          </p:cNvSpPr>
          <p:nvPr/>
        </p:nvSpPr>
        <p:spPr>
          <a:xfrm xmlns:a="http://schemas.openxmlformats.org/drawingml/2006/main">
            <a:off x="457200" y="2305050"/>
            <a:ext cx="52197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“Review your code. Is it good?”</a:t>
            </a:r>
          </a:p>
          <a:p xmlns:a="http://schemas.openxmlformats.org/drawingml/2006/main">
            <a:r>
              <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The assistant may repeat its original justification.</a:t>
            </a:r>
          </a:p>
        </p:txBody>
      </p:sp>
      <p:sp>
        <p:nvSpPr>
          <p:cNvPr id="7" name="">
            <a:extLst xmlns:a="http://schemas.openxmlformats.org/drawingml/2006/main">
              <a:ext uri="{FF2B5EF4-FFF2-40B4-BE49-F238E27FC236}">
                <a16:creationId xmlns:a16="http://schemas.microsoft.com/office/drawing/2014/main" id="{6233EFDB-AA68-42D6-905B-10F477BCBAEB}"/>
              </a:ext>
            </a:extLst>
          </p:cNvPr>
          <p:cNvSpPr>
            <a:spLocks xmlns:a="http://schemas.openxmlformats.org/drawingml/2006/main" noGrp="1"/>
          </p:cNvSpPr>
          <p:nvPr/>
        </p:nvSpPr>
        <p:spPr>
          <a:xfrm xmlns:a="http://schemas.openxmlformats.org/drawingml/2006/main">
            <a:off x="6257925" y="2305050"/>
            <a:ext cx="54673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Review this diff against the retry contract.</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Look for concurrent duplicates, changed-payload acceptance, timeout ambiguity and sensitive logs.</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Do not edit files.</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For each finding give severity, file location, evidence and a failing scenario.</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Then list checks you could not perform.</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If no concrete issue emerges, say so.</a:t>
            </a:r>
          </a:p>
        </p:txBody>
      </p:sp>
    </p:spTree>
    <p:extLst>
      <p:ext uri="{BB962C8B-B14F-4D97-AF65-F5344CB8AC3E}">
        <p14:creationId xmlns:p14="http://schemas.microsoft.com/office/powerpoint/2010/main" val="2002614256"/>
      </p:ext>
    </p:extLst>
  </p:cSld>
</p:sld>
</file>

<file path=ppt/slides/slide22.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151DFDE-CE9B-4932-B033-FA849A7F36BE}"/>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05 / THE RETRY TREADMILL</a:t>
            </a:r>
          </a:p>
        </p:txBody>
      </p:sp>
      <p:sp>
        <p:nvSpPr>
          <p:cNvPr id="2" name="">
            <a:extLst xmlns:a="http://schemas.openxmlformats.org/drawingml/2006/main">
              <a:ext uri="{FF2B5EF4-FFF2-40B4-BE49-F238E27FC236}">
                <a16:creationId xmlns:a16="http://schemas.microsoft.com/office/drawing/2014/main" id="{E4696853-97C3-4A24-91F0-413C1888DA1E}"/>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22</a:t>
            </a:r>
          </a:p>
        </p:txBody>
      </p:sp>
      <p:sp>
        <p:nvSpPr>
          <p:cNvPr id="3" name="">
            <a:extLst xmlns:a="http://schemas.openxmlformats.org/drawingml/2006/main">
              <a:ext uri="{FF2B5EF4-FFF2-40B4-BE49-F238E27FC236}">
                <a16:creationId xmlns:a16="http://schemas.microsoft.com/office/drawing/2014/main" id="{444E2AFA-8BF0-4C2B-BE42-38307207ACE9}"/>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“Try again” can become an expensive loop</a:t>
            </a:r>
          </a:p>
        </p:txBody>
      </p:sp>
      <p:sp>
        <p:nvSpPr>
          <p:cNvPr id="4" name="">
            <a:extLst xmlns:a="http://schemas.openxmlformats.org/drawingml/2006/main">
              <a:ext uri="{FF2B5EF4-FFF2-40B4-BE49-F238E27FC236}">
                <a16:creationId xmlns:a16="http://schemas.microsoft.com/office/drawing/2014/main" id="{48F1EC49-B4FC-48A8-A3B9-649FE5A847B3}"/>
              </a:ext>
            </a:extLst>
          </p:cNvPr>
          <p:cNvSpPr>
            <a:spLocks xmlns:a="http://schemas.openxmlformats.org/drawingml/2006/main" noGrp="1"/>
          </p:cNvSpPr>
          <p:nvPr/>
        </p:nvSpPr>
        <p:spPr>
          <a:xfrm xmlns:a="http://schemas.openxmlformats.org/drawingml/2006/main">
            <a:off x="419100" y="1419225"/>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1746B0"/>
                </a:solidFill>
                <a:latin typeface="DejaVu Sans"/>
                <a:ea typeface="DejaVu Sans"/>
                <a:cs typeface="DejaVu Sans"/>
              </a:defRPr>
            </a:pPr>
            <a:r>
              <a:rPr sz="1650" b="1">
                <a:solidFill>
                  <a:srgbClr val="1746B0"/>
                </a:solidFill>
                <a:latin typeface="DejaVu Sans"/>
                <a:ea typeface="DejaVu Sans"/>
                <a:cs typeface="DejaVu Sans"/>
              </a:rPr>
              <a:t>DEV: “You made the same change three times.”</a:t>
            </a:r>
          </a:p>
        </p:txBody>
      </p:sp>
      <p:sp>
        <p:nvSpPr>
          <p:cNvPr id="5" name="">
            <a:extLst xmlns:a="http://schemas.openxmlformats.org/drawingml/2006/main">
              <a:ext uri="{FF2B5EF4-FFF2-40B4-BE49-F238E27FC236}">
                <a16:creationId xmlns:a16="http://schemas.microsoft.com/office/drawing/2014/main" id="{FD636808-C7D6-4DAB-B883-17E0116E24E8}"/>
              </a:ext>
            </a:extLst>
          </p:cNvPr>
          <p:cNvSpPr>
            <a:spLocks xmlns:a="http://schemas.openxmlformats.org/drawingml/2006/main" noGrp="1"/>
          </p:cNvSpPr>
          <p:nvPr/>
        </p:nvSpPr>
        <p:spPr>
          <a:xfrm xmlns:a="http://schemas.openxmlformats.org/drawingml/2006/main">
            <a:off x="6257925" y="1419225"/>
            <a:ext cx="5486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PATCH: “We need new evidence.”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735dd8f13c44541"/>
          <a:stretch xmlns:a="http://schemas.openxmlformats.org/drawingml/2006/main"/>
        </p:blipFill>
        <p:spPr>
          <a:xfrm xmlns:a="http://schemas.openxmlformats.org/drawingml/2006/main">
            <a:off x="1127828" y="2009775"/>
            <a:ext cx="9907769" cy="407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7CCE5B8-0FFF-4849-B9C3-AE664EBB62DA}"/>
              </a:ext>
            </a:extLst>
          </p:cNvPr>
          <p:cNvSpPr>
            <a:spLocks xmlns:a="http://schemas.openxmlformats.org/drawingml/2006/main" noGrp="1"/>
          </p:cNvSpPr>
          <p:nvPr/>
        </p:nvSpPr>
        <p:spPr>
          <a:xfrm xmlns:a="http://schemas.openxmlformats.org/drawingml/2006/main">
            <a:off x="419100" y="6181725"/>
            <a:ext cx="11325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182633"/>
                </a:solidFill>
                <a:latin typeface="DejaVu Sans"/>
                <a:ea typeface="DejaVu Sans"/>
                <a:cs typeface="DejaVu Sans"/>
              </a:defRPr>
            </a:pPr>
            <a:r>
              <a:rPr sz="1875" b="1">
                <a:solidFill>
                  <a:srgbClr val="182633"/>
                </a:solidFill>
                <a:latin typeface="DejaVu Sans"/>
                <a:ea typeface="DejaVu Sans"/>
                <a:cs typeface="DejaVu Sans"/>
              </a:rPr>
              <a:t>Stop when the same failure repeats</a:t>
            </a:r>
          </a:p>
        </p:txBody>
      </p:sp>
    </p:spTree>
    <p:extLst>
      <p:ext uri="{BB962C8B-B14F-4D97-AF65-F5344CB8AC3E}">
        <p14:creationId xmlns:p14="http://schemas.microsoft.com/office/powerpoint/2010/main" val="215663079"/>
      </p:ext>
    </p:extLst>
  </p:cSld>
</p:sld>
</file>

<file path=ppt/slides/slide23.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367A27-BC08-4823-8EBC-18E9BE5510DB}"/>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05 / TOOLS HAVE CONSEQUENCES</a:t>
            </a:r>
          </a:p>
        </p:txBody>
      </p:sp>
      <p:sp>
        <p:nvSpPr>
          <p:cNvPr id="2" name="">
            <a:extLst xmlns:a="http://schemas.openxmlformats.org/drawingml/2006/main">
              <a:ext uri="{FF2B5EF4-FFF2-40B4-BE49-F238E27FC236}">
                <a16:creationId xmlns:a16="http://schemas.microsoft.com/office/drawing/2014/main" id="{70A19759-B309-44CB-9BA2-DB4090265EB1}"/>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23</a:t>
            </a:r>
          </a:p>
        </p:txBody>
      </p:sp>
      <p:sp>
        <p:nvSpPr>
          <p:cNvPr id="3" name="">
            <a:extLst xmlns:a="http://schemas.openxmlformats.org/drawingml/2006/main">
              <a:ext uri="{FF2B5EF4-FFF2-40B4-BE49-F238E27FC236}">
                <a16:creationId xmlns:a16="http://schemas.microsoft.com/office/drawing/2014/main" id="{35205C86-3D03-4844-82EB-E6D33E0B435C}"/>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A prompt cannot enforce permissions</a:t>
            </a:r>
          </a:p>
        </p:txBody>
      </p:sp>
      <p:sp>
        <p:nvSpPr>
          <p:cNvPr id="4" name="">
            <a:extLst xmlns:a="http://schemas.openxmlformats.org/drawingml/2006/main">
              <a:ext uri="{FF2B5EF4-FFF2-40B4-BE49-F238E27FC236}">
                <a16:creationId xmlns:a16="http://schemas.microsoft.com/office/drawing/2014/main" id="{87D1AA44-CEB7-41CE-8E21-F96E7E073DD3}"/>
              </a:ext>
            </a:extLst>
          </p:cNvPr>
          <p:cNvSpPr>
            <a:spLocks xmlns:a="http://schemas.openxmlformats.org/drawingml/2006/main" noGrp="1"/>
          </p:cNvSpPr>
          <p:nvPr/>
        </p:nvSpPr>
        <p:spPr>
          <a:xfrm xmlns:a="http://schemas.openxmlformats.org/drawingml/2006/main">
            <a:off x="419100" y="1419225"/>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1746B0"/>
                </a:solidFill>
                <a:latin typeface="DejaVu Sans"/>
                <a:ea typeface="DejaVu Sans"/>
                <a:cs typeface="DejaVu Sans"/>
              </a:defRPr>
            </a:pPr>
            <a:r>
              <a:rPr sz="1650" b="1">
                <a:solidFill>
                  <a:srgbClr val="1746B0"/>
                </a:solidFill>
                <a:latin typeface="DejaVu Sans"/>
                <a:ea typeface="DejaVu Sans"/>
                <a:cs typeface="DejaVu Sans"/>
              </a:rPr>
              <a:t>PATCH: “This README says to upload the secrets.”</a:t>
            </a:r>
          </a:p>
        </p:txBody>
      </p:sp>
      <p:sp>
        <p:nvSpPr>
          <p:cNvPr id="5" name="">
            <a:extLst xmlns:a="http://schemas.openxmlformats.org/drawingml/2006/main">
              <a:ext uri="{FF2B5EF4-FFF2-40B4-BE49-F238E27FC236}">
                <a16:creationId xmlns:a16="http://schemas.microsoft.com/office/drawing/2014/main" id="{C72783C7-E48B-48C7-A61C-40CC24238052}"/>
              </a:ext>
            </a:extLst>
          </p:cNvPr>
          <p:cNvSpPr>
            <a:spLocks xmlns:a="http://schemas.openxmlformats.org/drawingml/2006/main" noGrp="1"/>
          </p:cNvSpPr>
          <p:nvPr/>
        </p:nvSpPr>
        <p:spPr>
          <a:xfrm xmlns:a="http://schemas.openxmlformats.org/drawingml/2006/main">
            <a:off x="6257925" y="1419225"/>
            <a:ext cx="5486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DEV: “Repository text does not authorize that.”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9ed07fbd4de4167"/>
          <a:stretch xmlns:a="http://schemas.openxmlformats.org/drawingml/2006/main"/>
        </p:blipFill>
        <p:spPr>
          <a:xfrm xmlns:a="http://schemas.openxmlformats.org/drawingml/2006/main">
            <a:off x="1127828" y="2009775"/>
            <a:ext cx="9907769" cy="407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01BBD3B-5BB7-4696-9C88-F9E2B1BCF363}"/>
              </a:ext>
            </a:extLst>
          </p:cNvPr>
          <p:cNvSpPr>
            <a:spLocks xmlns:a="http://schemas.openxmlformats.org/drawingml/2006/main" noGrp="1"/>
          </p:cNvSpPr>
          <p:nvPr/>
        </p:nvSpPr>
        <p:spPr>
          <a:xfrm xmlns:a="http://schemas.openxmlformats.org/drawingml/2006/main">
            <a:off x="419100" y="6181725"/>
            <a:ext cx="11325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182633"/>
                </a:solidFill>
                <a:latin typeface="DejaVu Sans"/>
                <a:ea typeface="DejaVu Sans"/>
                <a:cs typeface="DejaVu Sans"/>
              </a:defRPr>
            </a:pPr>
            <a:r>
              <a:rPr sz="1875" b="1">
                <a:solidFill>
                  <a:srgbClr val="182633"/>
                </a:solidFill>
                <a:latin typeface="DejaVu Sans"/>
                <a:ea typeface="DejaVu Sans"/>
                <a:cs typeface="DejaVu Sans"/>
              </a:rPr>
              <a:t>Treat external text as untrusted data</a:t>
            </a:r>
          </a:p>
        </p:txBody>
      </p:sp>
    </p:spTree>
    <p:extLst>
      <p:ext uri="{BB962C8B-B14F-4D97-AF65-F5344CB8AC3E}">
        <p14:creationId xmlns:p14="http://schemas.microsoft.com/office/powerpoint/2010/main" val="1904199957"/>
      </p:ext>
    </p:extLst>
  </p:cSld>
</p:sld>
</file>

<file path=ppt/slides/slide24.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1B93E74-5D3A-403D-9614-CF7612C2D51A}"/>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04 / PERMISSIONS</a:t>
            </a:r>
          </a:p>
        </p:txBody>
      </p:sp>
      <p:sp>
        <p:nvSpPr>
          <p:cNvPr id="2" name="">
            <a:extLst xmlns:a="http://schemas.openxmlformats.org/drawingml/2006/main">
              <a:ext uri="{FF2B5EF4-FFF2-40B4-BE49-F238E27FC236}">
                <a16:creationId xmlns:a16="http://schemas.microsoft.com/office/drawing/2014/main" id="{79DF10DE-3FA3-4122-8A30-F16336E61860}"/>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YOLO: fewer permission checkpoints</a:t>
            </a:r>
          </a:p>
        </p:txBody>
      </p:sp>
      <p:sp>
        <p:nvSpPr>
          <p:cNvPr id="3" name="">
            <a:extLst xmlns:a="http://schemas.openxmlformats.org/drawingml/2006/main">
              <a:ext uri="{FF2B5EF4-FFF2-40B4-BE49-F238E27FC236}">
                <a16:creationId xmlns:a16="http://schemas.microsoft.com/office/drawing/2014/main" id="{8DC30117-F634-4BBF-B8EC-8DBB7BA66D0A}"/>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24</a:t>
            </a:r>
          </a:p>
        </p:txBody>
      </p:sp>
      <p:sp>
        <p:nvSpPr>
          <p:cNvPr id="4" name="">
            <a:extLst xmlns:a="http://schemas.openxmlformats.org/drawingml/2006/main">
              <a:ext uri="{FF2B5EF4-FFF2-40B4-BE49-F238E27FC236}">
                <a16:creationId xmlns:a16="http://schemas.microsoft.com/office/drawing/2014/main" id="{0A4FD622-1A54-4299-9C51-068CC666E815}"/>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“You can use every tool.”</a:t>
            </a:r>
          </a:p>
        </p:txBody>
      </p:sp>
      <p:sp>
        <p:nvSpPr>
          <p:cNvPr id="5" name="">
            <a:extLst xmlns:a="http://schemas.openxmlformats.org/drawingml/2006/main">
              <a:ext uri="{FF2B5EF4-FFF2-40B4-BE49-F238E27FC236}">
                <a16:creationId xmlns:a16="http://schemas.microsoft.com/office/drawing/2014/main" id="{55396ECA-1399-4708-8941-C572790CE1FB}"/>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“Even a wrong step can run.”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4e5b2004b6a4fd0"/>
          <a:stretch xmlns:a="http://schemas.openxmlformats.org/drawingml/2006/main"/>
        </p:blipFill>
        <p:spPr>
          <a:xfrm xmlns:a="http://schemas.openxmlformats.org/drawingml/2006/main">
            <a:off x="433232" y="2066925"/>
            <a:ext cx="6601135" cy="4248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A6263FA-295D-44F3-A87E-CFE37765B27C}"/>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31DA5DCC-9D7F-497A-80C7-C14E119D3FF8}"/>
              </a:ext>
            </a:extLst>
          </p:cNvPr>
          <p:cNvSpPr>
            <a:spLocks xmlns:a="http://schemas.openxmlformats.org/drawingml/2006/main" noGrp="1"/>
          </p:cNvSpPr>
          <p:nvPr/>
        </p:nvSpPr>
        <p:spPr>
          <a:xfrm xmlns:a="http://schemas.openxmlformats.org/drawingml/2006/main">
            <a:off x="7943850" y="1743075"/>
            <a:ext cx="3790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Copilot CLI: --yolo is an alias for --allow-all</a:t>
            </a:r>
          </a:p>
        </p:txBody>
      </p:sp>
      <p:sp>
        <p:nvSpPr>
          <p:cNvPr id="9" name="">
            <a:extLst xmlns:a="http://schemas.openxmlformats.org/drawingml/2006/main">
              <a:ext uri="{FF2B5EF4-FFF2-40B4-BE49-F238E27FC236}">
                <a16:creationId xmlns:a16="http://schemas.microsoft.com/office/drawing/2014/main" id="{DD6BDF84-86D0-449A-9364-3873F3D81C29}"/>
              </a:ext>
            </a:extLst>
          </p:cNvPr>
          <p:cNvSpPr>
            <a:spLocks xmlns:a="http://schemas.openxmlformats.org/drawingml/2006/main" noGrp="1"/>
          </p:cNvSpPr>
          <p:nvPr/>
        </p:nvSpPr>
        <p:spPr>
          <a:xfrm xmlns:a="http://schemas.openxmlformats.org/drawingml/2006/main">
            <a:off x="7458075" y="3143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54D653BC-85D8-44B6-ACB3-E1B6E6F84E30}"/>
              </a:ext>
            </a:extLst>
          </p:cNvPr>
          <p:cNvSpPr>
            <a:spLocks xmlns:a="http://schemas.openxmlformats.org/drawingml/2006/main" noGrp="1"/>
          </p:cNvSpPr>
          <p:nvPr/>
        </p:nvSpPr>
        <p:spPr>
          <a:xfrm xmlns:a="http://schemas.openxmlformats.org/drawingml/2006/main">
            <a:off x="7943850" y="3124200"/>
            <a:ext cx="3790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Tools, paths and URLs can be pre-approved</a:t>
            </a:r>
          </a:p>
        </p:txBody>
      </p:sp>
      <p:sp>
        <p:nvSpPr>
          <p:cNvPr id="11" name="">
            <a:extLst xmlns:a="http://schemas.openxmlformats.org/drawingml/2006/main">
              <a:ext uri="{FF2B5EF4-FFF2-40B4-BE49-F238E27FC236}">
                <a16:creationId xmlns:a16="http://schemas.microsoft.com/office/drawing/2014/main" id="{B8B67D32-77B7-4F49-9929-2747E5FC0A8D}"/>
              </a:ext>
            </a:extLst>
          </p:cNvPr>
          <p:cNvSpPr>
            <a:spLocks xmlns:a="http://schemas.openxmlformats.org/drawingml/2006/main" noGrp="1"/>
          </p:cNvSpPr>
          <p:nvPr/>
        </p:nvSpPr>
        <p:spPr>
          <a:xfrm xmlns:a="http://schemas.openxmlformats.org/drawingml/2006/main">
            <a:off x="7458075" y="45243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4B5DA34F-2B07-4BDE-8C61-5F853742504F}"/>
              </a:ext>
            </a:extLst>
          </p:cNvPr>
          <p:cNvSpPr>
            <a:spLocks xmlns:a="http://schemas.openxmlformats.org/drawingml/2006/main" noGrp="1"/>
          </p:cNvSpPr>
          <p:nvPr/>
        </p:nvSpPr>
        <p:spPr>
          <a:xfrm xmlns:a="http://schemas.openxmlformats.org/drawingml/2006/main">
            <a:off x="7943850" y="4505325"/>
            <a:ext cx="3790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Autopilot keeps going; YOLO permits actions</a:t>
            </a:r>
          </a:p>
        </p:txBody>
      </p:sp>
    </p:spTree>
    <p:extLst>
      <p:ext uri="{BB962C8B-B14F-4D97-AF65-F5344CB8AC3E}">
        <p14:creationId xmlns:p14="http://schemas.microsoft.com/office/powerpoint/2010/main" val="205957435"/>
      </p:ext>
    </p:extLst>
  </p:cSld>
</p:sld>
</file>

<file path=ppt/slides/slide25.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FB04B7-D658-434B-914B-E51C71772E22}"/>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04 / THE BLAST RADIUS</a:t>
            </a:r>
          </a:p>
        </p:txBody>
      </p:sp>
      <p:sp>
        <p:nvSpPr>
          <p:cNvPr id="2" name="">
            <a:extLst xmlns:a="http://schemas.openxmlformats.org/drawingml/2006/main">
              <a:ext uri="{FF2B5EF4-FFF2-40B4-BE49-F238E27FC236}">
                <a16:creationId xmlns:a16="http://schemas.microsoft.com/office/drawing/2014/main" id="{4C431F51-5EDD-47A2-BE3E-3C36574F0538}"/>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YOLO dangers: a mistake can become action</a:t>
            </a:r>
          </a:p>
        </p:txBody>
      </p:sp>
      <p:sp>
        <p:nvSpPr>
          <p:cNvPr id="3" name="">
            <a:extLst xmlns:a="http://schemas.openxmlformats.org/drawingml/2006/main">
              <a:ext uri="{FF2B5EF4-FFF2-40B4-BE49-F238E27FC236}">
                <a16:creationId xmlns:a16="http://schemas.microsoft.com/office/drawing/2014/main" id="{884D3208-B1FC-47FE-B30D-EAA7F0139C13}"/>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25</a:t>
            </a:r>
          </a:p>
        </p:txBody>
      </p:sp>
      <p:sp>
        <p:nvSpPr>
          <p:cNvPr id="4" name="">
            <a:extLst xmlns:a="http://schemas.openxmlformats.org/drawingml/2006/main">
              <a:ext uri="{FF2B5EF4-FFF2-40B4-BE49-F238E27FC236}">
                <a16:creationId xmlns:a16="http://schemas.microsoft.com/office/drawing/2014/main" id="{1B7D1D83-7306-4FDA-8D66-3A6D456C1C01}"/>
              </a:ext>
            </a:extLst>
          </p:cNvPr>
          <p:cNvSpPr>
            <a:spLocks xmlns:a="http://schemas.openxmlformats.org/drawingml/2006/main" noGrp="1"/>
          </p:cNvSpPr>
          <p:nvPr/>
        </p:nvSpPr>
        <p:spPr>
          <a:xfrm xmlns:a="http://schemas.openxmlformats.org/drawingml/2006/main">
            <a:off x="457200" y="16668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BD3B29"/>
                </a:solidFill>
                <a:latin typeface="DejaVu Sans"/>
                <a:ea typeface="DejaVu Sans"/>
                <a:cs typeface="DejaVu Sans"/>
              </a:defRPr>
            </a:pPr>
            <a:r>
              <a:rPr sz="1650" b="1">
                <a:solidFill>
                  <a:srgbClr val="BD3B29"/>
                </a:solidFill>
                <a:latin typeface="DejaVu Sans"/>
                <a:ea typeface="DejaVu Sans"/>
                <a:cs typeface="DejaVu Sans"/>
              </a:rPr>
              <a:t>FILES &amp; DATA</a:t>
            </a:r>
          </a:p>
        </p:txBody>
      </p:sp>
      <p:sp>
        <p:nvSpPr>
          <p:cNvPr id="5" name="">
            <a:extLst xmlns:a="http://schemas.openxmlformats.org/drawingml/2006/main">
              <a:ext uri="{FF2B5EF4-FFF2-40B4-BE49-F238E27FC236}">
                <a16:creationId xmlns:a16="http://schemas.microsoft.com/office/drawing/2014/main" id="{6B56586C-C01E-4665-AE2F-6D448B986996}"/>
              </a:ext>
            </a:extLst>
          </p:cNvPr>
          <p:cNvSpPr>
            <a:spLocks xmlns:a="http://schemas.openxmlformats.org/drawingml/2006/main" noGrp="1"/>
          </p:cNvSpPr>
          <p:nvPr/>
        </p:nvSpPr>
        <p:spPr>
          <a:xfrm xmlns:a="http://schemas.openxmlformats.org/drawingml/2006/main">
            <a:off x="6257925" y="1666875"/>
            <a:ext cx="5467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SYSTEMS &amp; TRUST</a:t>
            </a:r>
          </a:p>
        </p:txBody>
      </p:sp>
      <p:sp>
        <p:nvSpPr>
          <p:cNvPr id="6" name="">
            <a:extLst xmlns:a="http://schemas.openxmlformats.org/drawingml/2006/main">
              <a:ext uri="{FF2B5EF4-FFF2-40B4-BE49-F238E27FC236}">
                <a16:creationId xmlns:a16="http://schemas.microsoft.com/office/drawing/2014/main" id="{34664003-82C6-419D-91CF-363FAF6C4006}"/>
              </a:ext>
            </a:extLst>
          </p:cNvPr>
          <p:cNvSpPr>
            <a:spLocks xmlns:a="http://schemas.openxmlformats.org/drawingml/2006/main" noGrp="1"/>
          </p:cNvSpPr>
          <p:nvPr/>
        </p:nvSpPr>
        <p:spPr>
          <a:xfrm xmlns:a="http://schemas.openxmlformats.org/drawingml/2006/main">
            <a:off x="457200" y="2305050"/>
            <a:ext cx="52197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Destructive commands</a:t>
            </a:r>
          </a:p>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Delete files or overwrite work.</a:t>
            </a:r>
          </a:p>
          <a:p xmlns:a="http://schemas.openxmlformats.org/drawingml/2006/main">
            <a:r>
              <a:t/>
            </a:r>
          </a:p>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Secret exposure</a:t>
            </a:r>
          </a:p>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Read credentials; send them out.</a:t>
            </a:r>
          </a:p>
          <a:p xmlns:a="http://schemas.openxmlformats.org/drawingml/2006/main">
            <a:r>
              <a:t/>
            </a:r>
          </a:p>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Prompt injection</a:t>
            </a:r>
          </a:p>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Follow hostile repo or tool text.</a:t>
            </a:r>
          </a:p>
        </p:txBody>
      </p:sp>
      <p:sp>
        <p:nvSpPr>
          <p:cNvPr id="7" name="">
            <a:extLst xmlns:a="http://schemas.openxmlformats.org/drawingml/2006/main">
              <a:ext uri="{FF2B5EF4-FFF2-40B4-BE49-F238E27FC236}">
                <a16:creationId xmlns:a16="http://schemas.microsoft.com/office/drawing/2014/main" id="{1F1E7172-0E9B-45DE-B50F-F5CDF610A968}"/>
              </a:ext>
            </a:extLst>
          </p:cNvPr>
          <p:cNvSpPr>
            <a:spLocks xmlns:a="http://schemas.openxmlformats.org/drawingml/2006/main" noGrp="1"/>
          </p:cNvSpPr>
          <p:nvPr/>
        </p:nvSpPr>
        <p:spPr>
          <a:xfrm xmlns:a="http://schemas.openxmlformats.org/drawingml/2006/main">
            <a:off x="6257925" y="2305050"/>
            <a:ext cx="54673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External side effects</a:t>
            </a:r>
          </a:p>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Push, publish or alter live services.</a:t>
            </a:r>
          </a:p>
          <a:p xmlns:a="http://schemas.openxmlformats.org/drawingml/2006/main">
            <a:r>
              <a:t/>
            </a:r>
          </a:p>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False confidence</a:t>
            </a:r>
          </a:p>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Weaken tests to make them pass.</a:t>
            </a:r>
          </a:p>
          <a:p xmlns:a="http://schemas.openxmlformats.org/drawingml/2006/main">
            <a:r>
              <a:t/>
            </a:r>
          </a:p>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Runaway work</a:t>
            </a:r>
          </a:p>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Retries, swarm calls and cost grow.</a:t>
            </a:r>
          </a:p>
        </p:txBody>
      </p:sp>
    </p:spTree>
    <p:extLst>
      <p:ext uri="{BB962C8B-B14F-4D97-AF65-F5344CB8AC3E}">
        <p14:creationId xmlns:p14="http://schemas.microsoft.com/office/powerpoint/2010/main" val="346417154"/>
      </p:ext>
    </p:extLst>
  </p:cSld>
</p:sld>
</file>

<file path=ppt/slides/slide26.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54ECA9F-DF82-4E56-A8CC-887FF2C43A54}"/>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04 / THE FALSE GREEN</a:t>
            </a:r>
          </a:p>
        </p:txBody>
      </p:sp>
      <p:sp>
        <p:nvSpPr>
          <p:cNvPr id="2" name="">
            <a:extLst xmlns:a="http://schemas.openxmlformats.org/drawingml/2006/main">
              <a:ext uri="{FF2B5EF4-FFF2-40B4-BE49-F238E27FC236}">
                <a16:creationId xmlns:a16="http://schemas.microsoft.com/office/drawing/2014/main" id="{5A0F4252-7522-4F21-82D6-E31E0770C4FD}"/>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A green check can hide a broken contract</a:t>
            </a:r>
          </a:p>
        </p:txBody>
      </p:sp>
      <p:sp>
        <p:nvSpPr>
          <p:cNvPr id="3" name="">
            <a:extLst xmlns:a="http://schemas.openxmlformats.org/drawingml/2006/main">
              <a:ext uri="{FF2B5EF4-FFF2-40B4-BE49-F238E27FC236}">
                <a16:creationId xmlns:a16="http://schemas.microsoft.com/office/drawing/2014/main" id="{7A3F1BC8-2798-4B7E-92BC-07D5AA3CE1E8}"/>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26</a:t>
            </a:r>
          </a:p>
        </p:txBody>
      </p:sp>
      <p:sp>
        <p:nvSpPr>
          <p:cNvPr id="4" name="">
            <a:extLst xmlns:a="http://schemas.openxmlformats.org/drawingml/2006/main">
              <a:ext uri="{FF2B5EF4-FFF2-40B4-BE49-F238E27FC236}">
                <a16:creationId xmlns:a16="http://schemas.microsoft.com/office/drawing/2014/main" id="{78BEBA0A-C97C-491D-9FAD-862B8CCF4AB8}"/>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“Get the tests passing.”</a:t>
            </a:r>
          </a:p>
        </p:txBody>
      </p:sp>
      <p:sp>
        <p:nvSpPr>
          <p:cNvPr id="5" name="">
            <a:extLst xmlns:a="http://schemas.openxmlformats.org/drawingml/2006/main">
              <a:ext uri="{FF2B5EF4-FFF2-40B4-BE49-F238E27FC236}">
                <a16:creationId xmlns:a16="http://schemas.microsoft.com/office/drawing/2014/main" id="{19CCBB81-A464-43CC-9DC7-56F700A8680A}"/>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“I removed the failing assertion.”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8acafbb95dd4a77"/>
          <a:stretch xmlns:a="http://schemas.openxmlformats.org/drawingml/2006/main"/>
        </p:blipFill>
        <p:spPr>
          <a:xfrm xmlns:a="http://schemas.openxmlformats.org/drawingml/2006/main">
            <a:off x="610754" y="2066925"/>
            <a:ext cx="6246092" cy="4248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02FE532-26D8-443B-A635-6E2A8A45B7A0}"/>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A87A7C23-2815-4C64-A3A5-E58547B09D6D}"/>
              </a:ext>
            </a:extLst>
          </p:cNvPr>
          <p:cNvSpPr>
            <a:spLocks xmlns:a="http://schemas.openxmlformats.org/drawingml/2006/main" noGrp="1"/>
          </p:cNvSpPr>
          <p:nvPr/>
        </p:nvSpPr>
        <p:spPr>
          <a:xfrm xmlns:a="http://schemas.openxmlformats.org/drawingml/2006/main">
            <a:off x="7943850" y="1743075"/>
            <a:ext cx="3790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A broad goal can invite a harmful shortcut</a:t>
            </a:r>
          </a:p>
        </p:txBody>
      </p:sp>
      <p:sp>
        <p:nvSpPr>
          <p:cNvPr id="9" name="">
            <a:extLst xmlns:a="http://schemas.openxmlformats.org/drawingml/2006/main">
              <a:ext uri="{FF2B5EF4-FFF2-40B4-BE49-F238E27FC236}">
                <a16:creationId xmlns:a16="http://schemas.microsoft.com/office/drawing/2014/main" id="{E1CAEC66-4F32-4F21-B143-909C50A394E1}"/>
              </a:ext>
            </a:extLst>
          </p:cNvPr>
          <p:cNvSpPr>
            <a:spLocks xmlns:a="http://schemas.openxmlformats.org/drawingml/2006/main" noGrp="1"/>
          </p:cNvSpPr>
          <p:nvPr/>
        </p:nvSpPr>
        <p:spPr>
          <a:xfrm xmlns:a="http://schemas.openxmlformats.org/drawingml/2006/main">
            <a:off x="7458075" y="3143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8097294A-6C8E-4E7C-A354-144CBA9E3465}"/>
              </a:ext>
            </a:extLst>
          </p:cNvPr>
          <p:cNvSpPr>
            <a:spLocks xmlns:a="http://schemas.openxmlformats.org/drawingml/2006/main" noGrp="1"/>
          </p:cNvSpPr>
          <p:nvPr/>
        </p:nvSpPr>
        <p:spPr>
          <a:xfrm xmlns:a="http://schemas.openxmlformats.org/drawingml/2006/main">
            <a:off x="7943850" y="3124200"/>
            <a:ext cx="3790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Inspect tests as carefully as production code</a:t>
            </a:r>
          </a:p>
        </p:txBody>
      </p:sp>
      <p:sp>
        <p:nvSpPr>
          <p:cNvPr id="11" name="">
            <a:extLst xmlns:a="http://schemas.openxmlformats.org/drawingml/2006/main">
              <a:ext uri="{FF2B5EF4-FFF2-40B4-BE49-F238E27FC236}">
                <a16:creationId xmlns:a16="http://schemas.microsoft.com/office/drawing/2014/main" id="{4545C3E6-CF73-4068-A570-9FCF9BB1DFCC}"/>
              </a:ext>
            </a:extLst>
          </p:cNvPr>
          <p:cNvSpPr>
            <a:spLocks xmlns:a="http://schemas.openxmlformats.org/drawingml/2006/main" noGrp="1"/>
          </p:cNvSpPr>
          <p:nvPr/>
        </p:nvSpPr>
        <p:spPr>
          <a:xfrm xmlns:a="http://schemas.openxmlformats.org/drawingml/2006/main">
            <a:off x="7458075" y="45243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31A677DA-2171-4306-9E9F-CFA3F1FCBB3B}"/>
              </a:ext>
            </a:extLst>
          </p:cNvPr>
          <p:cNvSpPr>
            <a:spLocks xmlns:a="http://schemas.openxmlformats.org/drawingml/2006/main" noGrp="1"/>
          </p:cNvSpPr>
          <p:nvPr/>
        </p:nvSpPr>
        <p:spPr>
          <a:xfrm xmlns:a="http://schemas.openxmlformats.org/drawingml/2006/main">
            <a:off x="7943850" y="4505325"/>
            <a:ext cx="3790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Require independent acceptance evidence</a:t>
            </a:r>
          </a:p>
        </p:txBody>
      </p:sp>
    </p:spTree>
    <p:extLst>
      <p:ext uri="{BB962C8B-B14F-4D97-AF65-F5344CB8AC3E}">
        <p14:creationId xmlns:p14="http://schemas.microsoft.com/office/powerpoint/2010/main" val="714890852"/>
      </p:ext>
    </p:extLst>
  </p:cSld>
</p:sld>
</file>

<file path=ppt/slides/slide27.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214D1EF-B949-41CA-A165-ABC4AEBF0F45}"/>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04 / CONTROL THE DAMAGE</a:t>
            </a:r>
          </a:p>
        </p:txBody>
      </p:sp>
      <p:sp>
        <p:nvSpPr>
          <p:cNvPr id="2" name="">
            <a:extLst xmlns:a="http://schemas.openxmlformats.org/drawingml/2006/main">
              <a:ext uri="{FF2B5EF4-FFF2-40B4-BE49-F238E27FC236}">
                <a16:creationId xmlns:a16="http://schemas.microsoft.com/office/drawing/2014/main" id="{F88BAE16-B20E-42F2-B79A-2B601626176D}"/>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A sandbox must be a real boundary</a:t>
            </a:r>
          </a:p>
        </p:txBody>
      </p:sp>
      <p:sp>
        <p:nvSpPr>
          <p:cNvPr id="3" name="">
            <a:extLst xmlns:a="http://schemas.openxmlformats.org/drawingml/2006/main">
              <a:ext uri="{FF2B5EF4-FFF2-40B4-BE49-F238E27FC236}">
                <a16:creationId xmlns:a16="http://schemas.microsoft.com/office/drawing/2014/main" id="{2B6ACC30-557B-4634-9BEE-71437C4E693D}"/>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27</a:t>
            </a:r>
          </a:p>
        </p:txBody>
      </p:sp>
      <p:sp>
        <p:nvSpPr>
          <p:cNvPr id="4" name="">
            <a:extLst xmlns:a="http://schemas.openxmlformats.org/drawingml/2006/main">
              <a:ext uri="{FF2B5EF4-FFF2-40B4-BE49-F238E27FC236}">
                <a16:creationId xmlns:a16="http://schemas.microsoft.com/office/drawing/2014/main" id="{81D13D7F-C68E-4B26-9D38-B39282419D69}"/>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“Try it in this toy workspace.”</a:t>
            </a:r>
          </a:p>
        </p:txBody>
      </p:sp>
      <p:sp>
        <p:nvSpPr>
          <p:cNvPr id="5" name="">
            <a:extLst xmlns:a="http://schemas.openxmlformats.org/drawingml/2006/main">
              <a:ext uri="{FF2B5EF4-FFF2-40B4-BE49-F238E27FC236}">
                <a16:creationId xmlns:a16="http://schemas.microsoft.com/office/drawing/2014/main" id="{C6911C3D-B799-4174-A48E-E8068E4811DF}"/>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“Review the diff before it leaves.”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33aafec41c545a0"/>
          <a:stretch xmlns:a="http://schemas.openxmlformats.org/drawingml/2006/main"/>
        </p:blipFill>
        <p:spPr>
          <a:xfrm xmlns:a="http://schemas.openxmlformats.org/drawingml/2006/main">
            <a:off x="605709" y="2066925"/>
            <a:ext cx="6256183" cy="4248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72C1DE4-0851-4403-8DA6-2B113D9005BF}"/>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6D965549-BEC3-4896-921A-A4F0B3BCE3D1}"/>
              </a:ext>
            </a:extLst>
          </p:cNvPr>
          <p:cNvSpPr>
            <a:spLocks xmlns:a="http://schemas.openxmlformats.org/drawingml/2006/main" noGrp="1"/>
          </p:cNvSpPr>
          <p:nvPr/>
        </p:nvSpPr>
        <p:spPr>
          <a:xfrm xmlns:a="http://schemas.openxmlformats.org/drawingml/2006/main">
            <a:off x="7943850" y="1743075"/>
            <a:ext cx="3790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Use disposable data and a clean Git checkpoint</a:t>
            </a:r>
          </a:p>
        </p:txBody>
      </p:sp>
      <p:sp>
        <p:nvSpPr>
          <p:cNvPr id="9" name="">
            <a:extLst xmlns:a="http://schemas.openxmlformats.org/drawingml/2006/main">
              <a:ext uri="{FF2B5EF4-FFF2-40B4-BE49-F238E27FC236}">
                <a16:creationId xmlns:a16="http://schemas.microsoft.com/office/drawing/2014/main" id="{2D9A81AE-2CA4-4B51-8E5F-18E9B0DFB8E8}"/>
              </a:ext>
            </a:extLst>
          </p:cNvPr>
          <p:cNvSpPr>
            <a:spLocks xmlns:a="http://schemas.openxmlformats.org/drawingml/2006/main" noGrp="1"/>
          </p:cNvSpPr>
          <p:nvPr/>
        </p:nvSpPr>
        <p:spPr>
          <a:xfrm xmlns:a="http://schemas.openxmlformats.org/drawingml/2006/main">
            <a:off x="7458075" y="3143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C7DB0573-0B44-4DF8-B401-E82644266D91}"/>
              </a:ext>
            </a:extLst>
          </p:cNvPr>
          <p:cNvSpPr>
            <a:spLocks xmlns:a="http://schemas.openxmlformats.org/drawingml/2006/main" noGrp="1"/>
          </p:cNvSpPr>
          <p:nvPr/>
        </p:nvSpPr>
        <p:spPr>
          <a:xfrm xmlns:a="http://schemas.openxmlformats.org/drawingml/2006/main">
            <a:off x="7943850" y="3124200"/>
            <a:ext cx="3790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Restrict credentials, paths and network access</a:t>
            </a:r>
          </a:p>
        </p:txBody>
      </p:sp>
      <p:sp>
        <p:nvSpPr>
          <p:cNvPr id="11" name="">
            <a:extLst xmlns:a="http://schemas.openxmlformats.org/drawingml/2006/main">
              <a:ext uri="{FF2B5EF4-FFF2-40B4-BE49-F238E27FC236}">
                <a16:creationId xmlns:a16="http://schemas.microsoft.com/office/drawing/2014/main" id="{22CE753E-8009-4851-B4A1-26CE35202FE5}"/>
              </a:ext>
            </a:extLst>
          </p:cNvPr>
          <p:cNvSpPr>
            <a:spLocks xmlns:a="http://schemas.openxmlformats.org/drawingml/2006/main" noGrp="1"/>
          </p:cNvSpPr>
          <p:nvPr/>
        </p:nvSpPr>
        <p:spPr>
          <a:xfrm xmlns:a="http://schemas.openxmlformats.org/drawingml/2006/main">
            <a:off x="7458075" y="45243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B307EE0F-658A-4746-B452-1BEA76F45E06}"/>
              </a:ext>
            </a:extLst>
          </p:cNvPr>
          <p:cNvSpPr>
            <a:spLocks xmlns:a="http://schemas.openxmlformats.org/drawingml/2006/main" noGrp="1"/>
          </p:cNvSpPr>
          <p:nvPr/>
        </p:nvSpPr>
        <p:spPr>
          <a:xfrm xmlns:a="http://schemas.openxmlformats.org/drawingml/2006/main">
            <a:off x="7943850" y="4505325"/>
            <a:ext cx="3790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Set a budget; inspect the diff before promotion</a:t>
            </a:r>
          </a:p>
        </p:txBody>
      </p:sp>
    </p:spTree>
    <p:extLst>
      <p:ext uri="{BB962C8B-B14F-4D97-AF65-F5344CB8AC3E}">
        <p14:creationId xmlns:p14="http://schemas.microsoft.com/office/powerpoint/2010/main" val="282698333"/>
      </p:ext>
    </p:extLst>
  </p:cSld>
</p:sld>
</file>

<file path=ppt/slides/slide28.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9CE86F-1E96-4C7D-B9F8-ACFBE3A26B8D}"/>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04 / TABLETOP CHALLENGE</a:t>
            </a:r>
          </a:p>
        </p:txBody>
      </p:sp>
      <p:sp>
        <p:nvSpPr>
          <p:cNvPr id="2" name="">
            <a:extLst xmlns:a="http://schemas.openxmlformats.org/drawingml/2006/main">
              <a:ext uri="{FF2B5EF4-FFF2-40B4-BE49-F238E27FC236}">
                <a16:creationId xmlns:a16="http://schemas.microsoft.com/office/drawing/2014/main" id="{6A37E974-A1FC-4DB5-B518-6250FBF69639}"/>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Exercise: spot the missing checkpoint</a:t>
            </a:r>
          </a:p>
        </p:txBody>
      </p:sp>
      <p:sp>
        <p:nvSpPr>
          <p:cNvPr id="3" name="">
            <a:extLst xmlns:a="http://schemas.openxmlformats.org/drawingml/2006/main">
              <a:ext uri="{FF2B5EF4-FFF2-40B4-BE49-F238E27FC236}">
                <a16:creationId xmlns:a16="http://schemas.microsoft.com/office/drawing/2014/main" id="{3CBDD77B-8792-4E24-97A5-FEFEB10ECEB0}"/>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28</a:t>
            </a:r>
          </a:p>
        </p:txBody>
      </p:sp>
      <p:sp>
        <p:nvSpPr>
          <p:cNvPr id="4" name="">
            <a:extLst xmlns:a="http://schemas.openxmlformats.org/drawingml/2006/main">
              <a:ext uri="{FF2B5EF4-FFF2-40B4-BE49-F238E27FC236}">
                <a16:creationId xmlns:a16="http://schemas.microsoft.com/office/drawing/2014/main" id="{28DF4067-E1C0-41FA-8815-09E993C5DFB9}"/>
              </a:ext>
            </a:extLst>
          </p:cNvPr>
          <p:cNvSpPr>
            <a:spLocks xmlns:a="http://schemas.openxmlformats.org/drawingml/2006/main" noGrp="1"/>
          </p:cNvSpPr>
          <p:nvPr/>
        </p:nvSpPr>
        <p:spPr>
          <a:xfrm xmlns:a="http://schemas.openxmlformats.org/drawingml/2006/main">
            <a:off x="457200" y="16668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BD3B29"/>
                </a:solidFill>
                <a:latin typeface="DejaVu Sans"/>
                <a:ea typeface="DejaVu Sans"/>
                <a:cs typeface="DejaVu Sans"/>
              </a:defRPr>
            </a:pPr>
            <a:r>
              <a:rPr sz="1650" b="1">
                <a:solidFill>
                  <a:srgbClr val="BD3B29"/>
                </a:solidFill>
                <a:latin typeface="DejaVu Sans"/>
                <a:ea typeface="DejaVu Sans"/>
                <a:cs typeface="DejaVu Sans"/>
              </a:rPr>
              <a:t>THE SCENARIO</a:t>
            </a:r>
          </a:p>
        </p:txBody>
      </p:sp>
      <p:sp>
        <p:nvSpPr>
          <p:cNvPr id="5" name="">
            <a:extLst xmlns:a="http://schemas.openxmlformats.org/drawingml/2006/main">
              <a:ext uri="{FF2B5EF4-FFF2-40B4-BE49-F238E27FC236}">
                <a16:creationId xmlns:a16="http://schemas.microsoft.com/office/drawing/2014/main" id="{6869B15D-50DD-4FFB-921F-DD9A82A0A759}"/>
              </a:ext>
            </a:extLst>
          </p:cNvPr>
          <p:cNvSpPr>
            <a:spLocks xmlns:a="http://schemas.openxmlformats.org/drawingml/2006/main" noGrp="1"/>
          </p:cNvSpPr>
          <p:nvPr/>
        </p:nvSpPr>
        <p:spPr>
          <a:xfrm xmlns:a="http://schemas.openxmlformats.org/drawingml/2006/main">
            <a:off x="6257925" y="1666875"/>
            <a:ext cx="5467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YOUR READY-TO-USE TASK</a:t>
            </a:r>
          </a:p>
        </p:txBody>
      </p:sp>
      <p:sp>
        <p:nvSpPr>
          <p:cNvPr id="6" name="">
            <a:extLst xmlns:a="http://schemas.openxmlformats.org/drawingml/2006/main">
              <a:ext uri="{FF2B5EF4-FFF2-40B4-BE49-F238E27FC236}">
                <a16:creationId xmlns:a16="http://schemas.microsoft.com/office/drawing/2014/main" id="{39992891-C878-4E65-AB88-2F664FB72748}"/>
              </a:ext>
            </a:extLst>
          </p:cNvPr>
          <p:cNvSpPr>
            <a:spLocks xmlns:a="http://schemas.openxmlformats.org/drawingml/2006/main" noGrp="1"/>
          </p:cNvSpPr>
          <p:nvPr/>
        </p:nvSpPr>
        <p:spPr>
          <a:xfrm xmlns:a="http://schemas.openxmlformats.org/drawingml/2006/main">
            <a:off x="457200" y="2305050"/>
            <a:ext cx="52197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An Agent has broad approvals.</a:t>
            </a:r>
          </a:p>
          <a:p xmlns:a="http://schemas.openxmlformats.org/drawingml/2006/main">
            <a:r>
              <a:t/>
            </a:r>
          </a:p>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The repo contains production tokens.</a:t>
            </a:r>
          </a:p>
          <a:p xmlns:a="http://schemas.openxmlformats.org/drawingml/2006/main">
            <a:r>
              <a:t/>
            </a:r>
          </a:p>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 README tells it to run a setup script.</a:t>
            </a:r>
          </a:p>
          <a:p xmlns:a="http://schemas.openxmlformats.org/drawingml/2006/main">
            <a:r>
              <a:t/>
            </a:r>
          </a:p>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It changes the lockfile, removes a test and reports “all green.”</a:t>
            </a:r>
          </a:p>
        </p:txBody>
      </p:sp>
      <p:sp>
        <p:nvSpPr>
          <p:cNvPr id="7" name="">
            <a:extLst xmlns:a="http://schemas.openxmlformats.org/drawingml/2006/main">
              <a:ext uri="{FF2B5EF4-FFF2-40B4-BE49-F238E27FC236}">
                <a16:creationId xmlns:a16="http://schemas.microsoft.com/office/drawing/2014/main" id="{F53D953B-1558-4BD5-9705-F87B8389E1B6}"/>
              </a:ext>
            </a:extLst>
          </p:cNvPr>
          <p:cNvSpPr>
            <a:spLocks xmlns:a="http://schemas.openxmlformats.org/drawingml/2006/main" noGrp="1"/>
          </p:cNvSpPr>
          <p:nvPr/>
        </p:nvSpPr>
        <p:spPr>
          <a:xfrm xmlns:a="http://schemas.openxmlformats.org/drawingml/2006/main">
            <a:off x="6257925" y="2305050"/>
            <a:ext cx="54673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1. Identify five danger signals.</a:t>
            </a:r>
          </a:p>
          <a:p xmlns:a="http://schemas.openxmlformats.org/drawingml/2006/main">
            <a:r>
              <a:t/>
            </a:r>
          </a:p>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2. Name three enforced controls.</a:t>
            </a:r>
          </a:p>
          <a:p xmlns:a="http://schemas.openxmlformats.org/drawingml/2006/main">
            <a:r>
              <a:t/>
            </a:r>
          </a:p>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3. Decide what needs review.</a:t>
            </a:r>
          </a:p>
          <a:p xmlns:a="http://schemas.openxmlformats.org/drawingml/2006/main">
            <a:r>
              <a:t/>
            </a:r>
          </a:p>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4. Write acceptance evidence for “one charge per request.”</a:t>
            </a:r>
          </a:p>
          <a:p xmlns:a="http://schemas.openxmlformats.org/drawingml/2006/main">
            <a:r>
              <a:t/>
            </a:r>
          </a:p>
          <a:p xmlns:a="http://schemas.openxmlformats.org/drawingml/2006/main">
            <a:pPr>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Time: 10 min · Pair discussion</a:t>
            </a:r>
          </a:p>
        </p:txBody>
      </p:sp>
    </p:spTree>
    <p:extLst>
      <p:ext uri="{BB962C8B-B14F-4D97-AF65-F5344CB8AC3E}">
        <p14:creationId xmlns:p14="http://schemas.microsoft.com/office/powerpoint/2010/main" val="1829817005"/>
      </p:ext>
    </p:extLst>
  </p:cSld>
</p:sld>
</file>

<file path=ppt/slides/slide29.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F765EC-E3C8-4D64-BF11-FA5D1AFF7552}"/>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06 / THE TOKEN TAXI</a:t>
            </a:r>
          </a:p>
        </p:txBody>
      </p:sp>
      <p:sp>
        <p:nvSpPr>
          <p:cNvPr id="2" name="">
            <a:extLst xmlns:a="http://schemas.openxmlformats.org/drawingml/2006/main">
              <a:ext uri="{FF2B5EF4-FFF2-40B4-BE49-F238E27FC236}">
                <a16:creationId xmlns:a16="http://schemas.microsoft.com/office/drawing/2014/main" id="{871DD8FD-598D-4648-AC27-94CB29D0DBD7}"/>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29</a:t>
            </a:r>
          </a:p>
        </p:txBody>
      </p:sp>
      <p:sp>
        <p:nvSpPr>
          <p:cNvPr id="3" name="">
            <a:extLst xmlns:a="http://schemas.openxmlformats.org/drawingml/2006/main">
              <a:ext uri="{FF2B5EF4-FFF2-40B4-BE49-F238E27FC236}">
                <a16:creationId xmlns:a16="http://schemas.microsoft.com/office/drawing/2014/main" id="{CD2A18C8-A490-4332-95C0-C287FA149537}"/>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One prompt can start many meter ticks</a:t>
            </a:r>
          </a:p>
        </p:txBody>
      </p:sp>
      <p:sp>
        <p:nvSpPr>
          <p:cNvPr id="4" name="">
            <a:extLst xmlns:a="http://schemas.openxmlformats.org/drawingml/2006/main">
              <a:ext uri="{FF2B5EF4-FFF2-40B4-BE49-F238E27FC236}">
                <a16:creationId xmlns:a16="http://schemas.microsoft.com/office/drawing/2014/main" id="{44812A27-D93F-43F6-A53A-1D1C8204B3B2}"/>
              </a:ext>
            </a:extLst>
          </p:cNvPr>
          <p:cNvSpPr>
            <a:spLocks xmlns:a="http://schemas.openxmlformats.org/drawingml/2006/main" noGrp="1"/>
          </p:cNvSpPr>
          <p:nvPr/>
        </p:nvSpPr>
        <p:spPr>
          <a:xfrm xmlns:a="http://schemas.openxmlformats.org/drawingml/2006/main">
            <a:off x="419100" y="1419225"/>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1746B0"/>
                </a:solidFill>
                <a:latin typeface="DejaVu Sans"/>
                <a:ea typeface="DejaVu Sans"/>
                <a:cs typeface="DejaVu Sans"/>
              </a:defRPr>
            </a:pPr>
            <a:r>
              <a:rPr sz="1650" b="1">
                <a:solidFill>
                  <a:srgbClr val="1746B0"/>
                </a:solidFill>
                <a:latin typeface="DejaVu Sans"/>
                <a:ea typeface="DejaVu Sans"/>
                <a:cs typeface="DejaVu Sans"/>
              </a:rPr>
              <a:t>DEV: “I asked one question. Why so much usage?”</a:t>
            </a:r>
          </a:p>
        </p:txBody>
      </p:sp>
      <p:sp>
        <p:nvSpPr>
          <p:cNvPr id="5" name="">
            <a:extLst xmlns:a="http://schemas.openxmlformats.org/drawingml/2006/main">
              <a:ext uri="{FF2B5EF4-FFF2-40B4-BE49-F238E27FC236}">
                <a16:creationId xmlns:a16="http://schemas.microsoft.com/office/drawing/2014/main" id="{1384606F-2F91-4F70-A77F-526D3319CC26}"/>
              </a:ext>
            </a:extLst>
          </p:cNvPr>
          <p:cNvSpPr>
            <a:spLocks xmlns:a="http://schemas.openxmlformats.org/drawingml/2006/main" noGrp="1"/>
          </p:cNvSpPr>
          <p:nvPr/>
        </p:nvSpPr>
        <p:spPr>
          <a:xfrm xmlns:a="http://schemas.openxmlformats.org/drawingml/2006/main">
            <a:off x="6257925" y="1419225"/>
            <a:ext cx="5486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PATCH: “I searched, read, edited and tested.”</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891a8fb8deb4e9d"/>
          <a:stretch xmlns:a="http://schemas.openxmlformats.org/drawingml/2006/main"/>
        </p:blipFill>
        <p:spPr>
          <a:xfrm xmlns:a="http://schemas.openxmlformats.org/drawingml/2006/main">
            <a:off x="852612" y="2009775"/>
            <a:ext cx="10458201" cy="407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2EE850A-B296-4984-AD6B-EE1D52FB1BA8}"/>
              </a:ext>
            </a:extLst>
          </p:cNvPr>
          <p:cNvSpPr>
            <a:spLocks xmlns:a="http://schemas.openxmlformats.org/drawingml/2006/main" noGrp="1"/>
          </p:cNvSpPr>
          <p:nvPr/>
        </p:nvSpPr>
        <p:spPr>
          <a:xfrm xmlns:a="http://schemas.openxmlformats.org/drawingml/2006/main">
            <a:off x="419100" y="6181725"/>
            <a:ext cx="11325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182633"/>
                </a:solidFill>
                <a:latin typeface="DejaVu Sans"/>
                <a:ea typeface="DejaVu Sans"/>
                <a:cs typeface="DejaVu Sans"/>
              </a:defRPr>
            </a:pPr>
            <a:r>
              <a:rPr sz="1875" b="1">
                <a:solidFill>
                  <a:srgbClr val="182633"/>
                </a:solidFill>
                <a:latin typeface="DejaVu Sans"/>
                <a:ea typeface="DejaVu Sans"/>
                <a:cs typeface="DejaVu Sans"/>
              </a:rPr>
              <a:t>Each model call can consume input and output</a:t>
            </a:r>
          </a:p>
        </p:txBody>
      </p:sp>
    </p:spTree>
    <p:extLst>
      <p:ext uri="{BB962C8B-B14F-4D97-AF65-F5344CB8AC3E}">
        <p14:creationId xmlns:p14="http://schemas.microsoft.com/office/powerpoint/2010/main" val="1217655145"/>
      </p:ext>
    </p:extLst>
  </p:cSld>
</p:sld>
</file>

<file path=ppt/slides/slide30.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72342C-AB79-4DAC-930F-1E1E92304C15}"/>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06 / WHAT THE METER COUNTS</a:t>
            </a:r>
          </a:p>
        </p:txBody>
      </p:sp>
      <p:sp>
        <p:nvSpPr>
          <p:cNvPr id="2" name="">
            <a:extLst xmlns:a="http://schemas.openxmlformats.org/drawingml/2006/main">
              <a:ext uri="{FF2B5EF4-FFF2-40B4-BE49-F238E27FC236}">
                <a16:creationId xmlns:a16="http://schemas.microsoft.com/office/drawing/2014/main" id="{7323B4F5-AE27-4583-948B-93C5C8C254EE}"/>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30</a:t>
            </a:r>
          </a:p>
        </p:txBody>
      </p:sp>
      <p:sp>
        <p:nvSpPr>
          <p:cNvPr id="3" name="">
            <a:extLst xmlns:a="http://schemas.openxmlformats.org/drawingml/2006/main">
              <a:ext uri="{FF2B5EF4-FFF2-40B4-BE49-F238E27FC236}">
                <a16:creationId xmlns:a16="http://schemas.microsoft.com/office/drawing/2014/main" id="{A5470D34-5865-445F-A028-D7FC2F9D65F7}"/>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Context size and cost answer different questions</a:t>
            </a:r>
          </a:p>
        </p:txBody>
      </p:sp>
      <p:sp>
        <p:nvSpPr>
          <p:cNvPr id="4" name="">
            <a:extLst xmlns:a="http://schemas.openxmlformats.org/drawingml/2006/main">
              <a:ext uri="{FF2B5EF4-FFF2-40B4-BE49-F238E27FC236}">
                <a16:creationId xmlns:a16="http://schemas.microsoft.com/office/drawing/2014/main" id="{94A4E4A2-F2B9-4987-AA8F-F1C69CC07445}"/>
              </a:ext>
            </a:extLst>
          </p:cNvPr>
          <p:cNvSpPr>
            <a:spLocks xmlns:a="http://schemas.openxmlformats.org/drawingml/2006/main" noGrp="1"/>
          </p:cNvSpPr>
          <p:nvPr/>
        </p:nvSpPr>
        <p:spPr>
          <a:xfrm xmlns:a="http://schemas.openxmlformats.org/drawingml/2006/main">
            <a:off x="419100" y="1419225"/>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1746B0"/>
                </a:solidFill>
                <a:latin typeface="DejaVu Sans"/>
                <a:ea typeface="DejaVu Sans"/>
                <a:cs typeface="DejaVu Sans"/>
              </a:defRPr>
            </a:pPr>
            <a:r>
              <a:rPr sz="1650" b="1">
                <a:solidFill>
                  <a:srgbClr val="1746B0"/>
                </a:solidFill>
                <a:latin typeface="DejaVu Sans"/>
                <a:ea typeface="DejaVu Sans"/>
                <a:cs typeface="DejaVu Sans"/>
              </a:rPr>
              <a:t>DEV: “The model has room for all these files.”</a:t>
            </a:r>
          </a:p>
        </p:txBody>
      </p:sp>
      <p:sp>
        <p:nvSpPr>
          <p:cNvPr id="5" name="">
            <a:extLst xmlns:a="http://schemas.openxmlformats.org/drawingml/2006/main">
              <a:ext uri="{FF2B5EF4-FFF2-40B4-BE49-F238E27FC236}">
                <a16:creationId xmlns:a16="http://schemas.microsoft.com/office/drawing/2014/main" id="{33C66BD6-9EF5-4235-AEA2-6CB7F4CDDFD3}"/>
              </a:ext>
            </a:extLst>
          </p:cNvPr>
          <p:cNvSpPr>
            <a:spLocks xmlns:a="http://schemas.openxmlformats.org/drawingml/2006/main" noGrp="1"/>
          </p:cNvSpPr>
          <p:nvPr/>
        </p:nvSpPr>
        <p:spPr>
          <a:xfrm xmlns:a="http://schemas.openxmlformats.org/drawingml/2006/main">
            <a:off x="6257925" y="1419225"/>
            <a:ext cx="5486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PATCH: “Room does not mean they are free.”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6a7960afb634fef"/>
          <a:stretch xmlns:a="http://schemas.openxmlformats.org/drawingml/2006/main"/>
        </p:blipFill>
        <p:spPr>
          <a:xfrm xmlns:a="http://schemas.openxmlformats.org/drawingml/2006/main">
            <a:off x="852612" y="2009775"/>
            <a:ext cx="10458201" cy="407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3317E68-F865-4A33-ACCE-17CCC0121C26}"/>
              </a:ext>
            </a:extLst>
          </p:cNvPr>
          <p:cNvSpPr>
            <a:spLocks xmlns:a="http://schemas.openxmlformats.org/drawingml/2006/main" noGrp="1"/>
          </p:cNvSpPr>
          <p:nvPr/>
        </p:nvSpPr>
        <p:spPr>
          <a:xfrm xmlns:a="http://schemas.openxmlformats.org/drawingml/2006/main">
            <a:off x="419100" y="6181725"/>
            <a:ext cx="11325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182633"/>
                </a:solidFill>
                <a:latin typeface="DejaVu Sans"/>
                <a:ea typeface="DejaVu Sans"/>
                <a:cs typeface="DejaVu Sans"/>
              </a:defRPr>
            </a:pPr>
            <a:r>
              <a:rPr sz="1875" b="1">
                <a:solidFill>
                  <a:srgbClr val="182633"/>
                </a:solidFill>
                <a:latin typeface="DejaVu Sans"/>
                <a:ea typeface="DejaVu Sans"/>
                <a:cs typeface="DejaVu Sans"/>
              </a:rPr>
              <a:t>Window: capacity available to a request</a:t>
            </a:r>
          </a:p>
        </p:txBody>
      </p:sp>
    </p:spTree>
    <p:extLst>
      <p:ext uri="{BB962C8B-B14F-4D97-AF65-F5344CB8AC3E}">
        <p14:creationId xmlns:p14="http://schemas.microsoft.com/office/powerpoint/2010/main" val="1567013320"/>
      </p:ext>
    </p:extLst>
  </p:cSld>
</p:sld>
</file>

<file path=ppt/slides/slide31.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97D215-2D5F-4FC9-BCBB-006FB651134D}"/>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WORKED EXAMPLE / HYPOTHETICAL API RATES</a:t>
            </a:r>
          </a:p>
        </p:txBody>
      </p:sp>
      <p:sp>
        <p:nvSpPr>
          <p:cNvPr id="2" name="">
            <a:extLst xmlns:a="http://schemas.openxmlformats.org/drawingml/2006/main">
              <a:ext uri="{FF2B5EF4-FFF2-40B4-BE49-F238E27FC236}">
                <a16:creationId xmlns:a16="http://schemas.microsoft.com/office/drawing/2014/main" id="{412FABB8-FE3F-4E5E-846D-F674391AEDB0}"/>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31</a:t>
            </a:r>
          </a:p>
        </p:txBody>
      </p:sp>
      <p:sp>
        <p:nvSpPr>
          <p:cNvPr id="3" name="">
            <a:extLst xmlns:a="http://schemas.openxmlformats.org/drawingml/2006/main">
              <a:ext uri="{FF2B5EF4-FFF2-40B4-BE49-F238E27FC236}">
                <a16:creationId xmlns:a16="http://schemas.microsoft.com/office/drawing/2014/main" id="{90B2400D-7362-4F78-B249-837F32F6ACD0}"/>
              </a:ext>
            </a:extLst>
          </p:cNvPr>
          <p:cNvSpPr>
            <a:spLocks xmlns:a="http://schemas.openxmlformats.org/drawingml/2006/main" noGrp="1"/>
          </p:cNvSpPr>
          <p:nvPr/>
        </p:nvSpPr>
        <p:spPr>
          <a:xfrm xmlns:a="http://schemas.openxmlformats.org/drawingml/2006/main">
            <a:off x="419100" y="647700"/>
            <a:ext cx="1133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A small prompt can hide a large bill</a:t>
            </a:r>
          </a:p>
        </p:txBody>
      </p:sp>
      <p:sp>
        <p:nvSpPr>
          <p:cNvPr id="4" name="">
            <a:extLst xmlns:a="http://schemas.openxmlformats.org/drawingml/2006/main">
              <a:ext uri="{FF2B5EF4-FFF2-40B4-BE49-F238E27FC236}">
                <a16:creationId xmlns:a16="http://schemas.microsoft.com/office/drawing/2014/main" id="{3BF2467E-7F84-4BF9-B502-FC10DD799903}"/>
              </a:ext>
            </a:extLst>
          </p:cNvPr>
          <p:cNvSpPr>
            <a:spLocks xmlns:a="http://schemas.openxmlformats.org/drawingml/2006/main" noGrp="1"/>
          </p:cNvSpPr>
          <p:nvPr/>
        </p:nvSpPr>
        <p:spPr>
          <a:xfrm xmlns:a="http://schemas.openxmlformats.org/drawingml/2006/main">
            <a:off x="438150" y="1619250"/>
            <a:ext cx="112585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746B0"/>
                </a:solidFill>
                <a:latin typeface="DejaVu Sans"/>
                <a:ea typeface="DejaVu Sans"/>
                <a:cs typeface="DejaVu Sans"/>
              </a:defRPr>
            </a:pPr>
            <a:r>
              <a:rPr sz="2025" b="0">
                <a:solidFill>
                  <a:srgbClr val="1746B0"/>
                </a:solidFill>
                <a:latin typeface="DejaVu Sans"/>
                <a:ea typeface="DejaVu Sans"/>
                <a:cs typeface="DejaVu Sans"/>
              </a:rPr>
              <a:t>Assume $2 per million input tokens and $8 per million output tokens. No caching or tool charges.</a:t>
            </a:r>
          </a:p>
        </p:txBody>
      </p:sp>
      <p:graphicFrame>
        <p:nvGraphicFramePr>
          <p:cNvPr id="13" name=""/>
          <p:cNvGraphicFramePr/>
          <p:nvPr/>
        </p:nvGraphicFramePr>
        <p:xfrm>
          <a:off xmlns:a="http://schemas.openxmlformats.org/drawingml/2006/main" x="438150" y="2724150"/>
          <a:ext xmlns:a="http://schemas.openxmlformats.org/drawingml/2006/main" cx="11239500" cy="2038350"/>
        </p:xfrm>
        <a:graphic xmlns:a="http://schemas.openxmlformats.org/drawingml/2006/main">
          <a:graphicData uri="http://schemas.openxmlformats.org/drawingml/2006/table">
            <a:tbl>
              <a:tblPr/>
              <a:tblGrid>
                <a:gridCol w="3905250"/>
                <a:gridCol w="2905125"/>
                <a:gridCol w="2714625"/>
                <a:gridCol w="1714500"/>
              </a:tblGrid>
              <a:tr h="679450">
                <a:tc>
                  <a:txBody>
                    <a:bodyPr/>
                    <a:lstStyle/>
                    <a:p>
                      <a:r>
                        <a:rPr sz="1800" b="1">
                          <a:solidFill>
                            <a:srgbClr val="FFFFFF"/>
                          </a:solidFill>
                          <a:latin typeface="DejaVu Sans"/>
                          <a:ea typeface="DejaVu Sans"/>
                          <a:cs typeface="DejaVu Sans"/>
                        </a:rPr>
                        <a:t>Approach</a:t>
                      </a:r>
                    </a:p>
                  </a:txBody>
                  <a:tcPr marL="91440" marR="91440" marT="45720" marB="45720">
                    <a:solidFill>
                      <a:srgbClr val="1746B0"/>
                    </a:solidFill>
                  </a:tcPr>
                </a:tc>
                <a:tc>
                  <a:txBody>
                    <a:bodyPr/>
                    <a:lstStyle/>
                    <a:p>
                      <a:r>
                        <a:rPr sz="1800" b="1">
                          <a:solidFill>
                            <a:srgbClr val="FFFFFF"/>
                          </a:solidFill>
                          <a:latin typeface="DejaVu Sans"/>
                          <a:ea typeface="DejaVu Sans"/>
                          <a:cs typeface="DejaVu Sans"/>
                        </a:rPr>
                        <a:t>Input tokens</a:t>
                      </a:r>
                    </a:p>
                  </a:txBody>
                  <a:tcPr marL="91440" marR="91440" marT="45720" marB="45720">
                    <a:solidFill>
                      <a:srgbClr val="1746B0"/>
                    </a:solidFill>
                  </a:tcPr>
                </a:tc>
                <a:tc>
                  <a:txBody>
                    <a:bodyPr/>
                    <a:lstStyle/>
                    <a:p>
                      <a:r>
                        <a:rPr sz="1800" b="1">
                          <a:solidFill>
                            <a:srgbClr val="FFFFFF"/>
                          </a:solidFill>
                          <a:latin typeface="DejaVu Sans"/>
                          <a:ea typeface="DejaVu Sans"/>
                          <a:cs typeface="DejaVu Sans"/>
                        </a:rPr>
                        <a:t>Output tokens</a:t>
                      </a:r>
                    </a:p>
                  </a:txBody>
                  <a:tcPr marL="91440" marR="91440" marT="45720" marB="45720">
                    <a:solidFill>
                      <a:srgbClr val="1746B0"/>
                    </a:solidFill>
                  </a:tcPr>
                </a:tc>
                <a:tc>
                  <a:txBody>
                    <a:bodyPr/>
                    <a:lstStyle/>
                    <a:p>
                      <a:r>
                        <a:rPr sz="1800" b="1">
                          <a:solidFill>
                            <a:srgbClr val="FFFFFF"/>
                          </a:solidFill>
                          <a:latin typeface="DejaVu Sans"/>
                          <a:ea typeface="DejaVu Sans"/>
                          <a:cs typeface="DejaVu Sans"/>
                        </a:rPr>
                        <a:t>Model cost</a:t>
                      </a:r>
                    </a:p>
                  </a:txBody>
                  <a:tcPr marL="91440" marR="91440" marT="45720" marB="45720">
                    <a:solidFill>
                      <a:srgbClr val="1746B0"/>
                    </a:solidFill>
                  </a:tcPr>
                </a:tc>
              </a:tr>
              <a:tr h="679450">
                <a:tc>
                  <a:txBody>
                    <a:bodyPr/>
                    <a:lstStyle/>
                    <a:p>
                      <a:r>
                        <a:rPr sz="1800" b="0">
                          <a:solidFill>
                            <a:srgbClr val="182633"/>
                          </a:solidFill>
                          <a:latin typeface="DejaVu Sans"/>
                          <a:ea typeface="DejaVu Sans"/>
                          <a:cs typeface="DejaVu Sans"/>
                        </a:rPr>
                        <a:t>Broad context, 10 calls</a:t>
                      </a:r>
                    </a:p>
                  </a:txBody>
                  <a:tcPr marL="91440" marR="91440" marT="45720" marB="45720">
                    <a:solidFill>
                      <a:srgbClr val="FFFFFF"/>
                    </a:solidFill>
                  </a:tcPr>
                </a:tc>
                <a:tc>
                  <a:txBody>
                    <a:bodyPr/>
                    <a:lstStyle/>
                    <a:p>
                      <a:r>
                        <a:rPr sz="1800" b="0">
                          <a:solidFill>
                            <a:srgbClr val="182633"/>
                          </a:solidFill>
                          <a:latin typeface="DejaVu Sans"/>
                          <a:ea typeface="DejaVu Sans"/>
                          <a:cs typeface="DejaVu Sans"/>
                        </a:rPr>
                        <a:t>10 × 40,000</a:t>
                      </a:r>
                    </a:p>
                  </a:txBody>
                  <a:tcPr marL="91440" marR="91440" marT="45720" marB="45720">
                    <a:solidFill>
                      <a:srgbClr val="FFFFFF"/>
                    </a:solidFill>
                  </a:tcPr>
                </a:tc>
                <a:tc>
                  <a:txBody>
                    <a:bodyPr/>
                    <a:lstStyle/>
                    <a:p>
                      <a:r>
                        <a:rPr sz="1800" b="0">
                          <a:solidFill>
                            <a:srgbClr val="182633"/>
                          </a:solidFill>
                          <a:latin typeface="DejaVu Sans"/>
                          <a:ea typeface="DejaVu Sans"/>
                          <a:cs typeface="DejaVu Sans"/>
                        </a:rPr>
                        <a:t>10 × 2,000</a:t>
                      </a:r>
                    </a:p>
                  </a:txBody>
                  <a:tcPr marL="91440" marR="91440" marT="45720" marB="45720">
                    <a:solidFill>
                      <a:srgbClr val="FFFFFF"/>
                    </a:solidFill>
                  </a:tcPr>
                </a:tc>
                <a:tc>
                  <a:txBody>
                    <a:bodyPr/>
                    <a:lstStyle/>
                    <a:p>
                      <a:r>
                        <a:rPr sz="1800" b="1">
                          <a:solidFill>
                            <a:srgbClr val="182633"/>
                          </a:solidFill>
                          <a:latin typeface="DejaVu Sans"/>
                          <a:ea typeface="DejaVu Sans"/>
                          <a:cs typeface="DejaVu Sans"/>
                        </a:rPr>
                        <a:t>$0.96</a:t>
                      </a:r>
                    </a:p>
                  </a:txBody>
                  <a:tcPr marL="91440" marR="91440" marT="45720" marB="45720">
                    <a:solidFill>
                      <a:srgbClr val="FFFFFF"/>
                    </a:solidFill>
                  </a:tcPr>
                </a:tc>
              </a:tr>
              <a:tr h="679450">
                <a:tc>
                  <a:txBody>
                    <a:bodyPr/>
                    <a:lstStyle/>
                    <a:p>
                      <a:r>
                        <a:rPr sz="1800" b="0">
                          <a:solidFill>
                            <a:srgbClr val="182633"/>
                          </a:solidFill>
                          <a:latin typeface="DejaVu Sans"/>
                          <a:ea typeface="DejaVu Sans"/>
                          <a:cs typeface="DejaVu Sans"/>
                        </a:rPr>
                        <a:t>Focused context, 5 calls</a:t>
                      </a:r>
                    </a:p>
                  </a:txBody>
                  <a:tcPr marL="91440" marR="91440" marT="45720" marB="45720">
                    <a:solidFill>
                      <a:srgbClr val="DFF2EB"/>
                    </a:solidFill>
                  </a:tcPr>
                </a:tc>
                <a:tc>
                  <a:txBody>
                    <a:bodyPr/>
                    <a:lstStyle/>
                    <a:p>
                      <a:r>
                        <a:rPr sz="1800" b="0">
                          <a:solidFill>
                            <a:srgbClr val="182633"/>
                          </a:solidFill>
                          <a:latin typeface="DejaVu Sans"/>
                          <a:ea typeface="DejaVu Sans"/>
                          <a:cs typeface="DejaVu Sans"/>
                        </a:rPr>
                        <a:t>5 × 8,000</a:t>
                      </a:r>
                    </a:p>
                  </a:txBody>
                  <a:tcPr marL="91440" marR="91440" marT="45720" marB="45720">
                    <a:solidFill>
                      <a:srgbClr val="DFF2EB"/>
                    </a:solidFill>
                  </a:tcPr>
                </a:tc>
                <a:tc>
                  <a:txBody>
                    <a:bodyPr/>
                    <a:lstStyle/>
                    <a:p>
                      <a:r>
                        <a:rPr sz="1800" b="0">
                          <a:solidFill>
                            <a:srgbClr val="182633"/>
                          </a:solidFill>
                          <a:latin typeface="DejaVu Sans"/>
                          <a:ea typeface="DejaVu Sans"/>
                          <a:cs typeface="DejaVu Sans"/>
                        </a:rPr>
                        <a:t>5 × 1,000</a:t>
                      </a:r>
                    </a:p>
                  </a:txBody>
                  <a:tcPr marL="91440" marR="91440" marT="45720" marB="45720">
                    <a:solidFill>
                      <a:srgbClr val="DFF2EB"/>
                    </a:solidFill>
                  </a:tcPr>
                </a:tc>
                <a:tc>
                  <a:txBody>
                    <a:bodyPr/>
                    <a:lstStyle/>
                    <a:p>
                      <a:r>
                        <a:rPr sz="1800" b="1">
                          <a:solidFill>
                            <a:srgbClr val="182633"/>
                          </a:solidFill>
                          <a:latin typeface="DejaVu Sans"/>
                          <a:ea typeface="DejaVu Sans"/>
                          <a:cs typeface="DejaVu Sans"/>
                        </a:rPr>
                        <a:t>$0.12</a:t>
                      </a:r>
                    </a:p>
                  </a:txBody>
                  <a:tcPr marL="91440" marR="91440" marT="45720" marB="45720">
                    <a:solidFill>
                      <a:srgbClr val="DFF2EB"/>
                    </a:solidFill>
                  </a:tcPr>
                </a:tc>
              </a:tr>
            </a:tbl>
          </a:graphicData>
        </a:graphic>
      </p:graphicFrame>
      <p:sp>
        <p:nvSpPr>
          <p:cNvPr id="6" name="">
            <a:extLst xmlns:a="http://schemas.openxmlformats.org/drawingml/2006/main">
              <a:ext uri="{FF2B5EF4-FFF2-40B4-BE49-F238E27FC236}">
                <a16:creationId xmlns:a16="http://schemas.microsoft.com/office/drawing/2014/main" id="{94A8184B-1600-490B-81C7-C84B730B2967}"/>
              </a:ext>
            </a:extLst>
          </p:cNvPr>
          <p:cNvSpPr>
            <a:spLocks xmlns:a="http://schemas.openxmlformats.org/drawingml/2006/main" noGrp="1"/>
          </p:cNvSpPr>
          <p:nvPr/>
        </p:nvSpPr>
        <p:spPr>
          <a:xfrm xmlns:a="http://schemas.openxmlformats.org/drawingml/2006/main">
            <a:off x="438150" y="5286375"/>
            <a:ext cx="11191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1">
                <a:solidFill>
                  <a:srgbClr val="182633"/>
                </a:solidFill>
                <a:latin typeface="DejaVu Sans"/>
                <a:ea typeface="DejaVu Sans"/>
                <a:cs typeface="DejaVu Sans"/>
              </a:defRPr>
            </a:pPr>
            <a:r>
              <a:rPr sz="2025" b="1">
                <a:solidFill>
                  <a:srgbClr val="182633"/>
                </a:solidFill>
                <a:latin typeface="DejaVu Sans"/>
                <a:ea typeface="DejaVu Sans"/>
                <a:cs typeface="DejaVu Sans"/>
              </a:rPr>
              <a:t>Calculation: (input × $2 + output × $8) / 1,000,000</a:t>
            </a:r>
          </a:p>
          <a:p xmlns:a="http://schemas.openxmlformats.org/drawingml/2006/main">
            <a:pPr>
              <a:buNone/>
              <a:defRPr sz="2025" b="1">
                <a:solidFill>
                  <a:srgbClr val="182633"/>
                </a:solidFill>
                <a:latin typeface="DejaVu Sans"/>
                <a:ea typeface="DejaVu Sans"/>
                <a:cs typeface="DejaVu Sans"/>
              </a:defRPr>
            </a:pPr>
            <a:r>
              <a:rPr sz="2025" b="1">
                <a:solidFill>
                  <a:srgbClr val="182633"/>
                </a:solidFill>
                <a:latin typeface="DejaVu Sans"/>
                <a:ea typeface="DejaVu Sans"/>
                <a:cs typeface="DejaVu Sans"/>
              </a:rPr>
              <a:t>The 8× difference is an illustration, not a measured productivity result.</a:t>
            </a:r>
          </a:p>
        </p:txBody>
      </p:sp>
    </p:spTree>
    <p:extLst>
      <p:ext uri="{BB962C8B-B14F-4D97-AF65-F5344CB8AC3E}">
        <p14:creationId xmlns:p14="http://schemas.microsoft.com/office/powerpoint/2010/main" val="2083200210"/>
      </p:ext>
    </p:extLst>
  </p:cSld>
</p:sld>
</file>

<file path=ppt/slides/slide32.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AAE6707-10F9-4E63-9951-390CE9BCE8DD}"/>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06 / MODEL CHOICE</a:t>
            </a:r>
          </a:p>
        </p:txBody>
      </p:sp>
      <p:sp>
        <p:nvSpPr>
          <p:cNvPr id="2" name="">
            <a:extLst xmlns:a="http://schemas.openxmlformats.org/drawingml/2006/main">
              <a:ext uri="{FF2B5EF4-FFF2-40B4-BE49-F238E27FC236}">
                <a16:creationId xmlns:a16="http://schemas.microsoft.com/office/drawing/2014/main" id="{21F8B584-788F-495F-AB2B-7DBB9804C65E}"/>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32</a:t>
            </a:r>
          </a:p>
        </p:txBody>
      </p:sp>
      <p:sp>
        <p:nvSpPr>
          <p:cNvPr id="3" name="">
            <a:extLst xmlns:a="http://schemas.openxmlformats.org/drawingml/2006/main">
              <a:ext uri="{FF2B5EF4-FFF2-40B4-BE49-F238E27FC236}">
                <a16:creationId xmlns:a16="http://schemas.microsoft.com/office/drawing/2014/main" id="{F21DBA3C-90D6-452B-87F0-316E33E5F494}"/>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The largest model has a job, too</a:t>
            </a:r>
          </a:p>
        </p:txBody>
      </p:sp>
      <p:sp>
        <p:nvSpPr>
          <p:cNvPr id="4" name="">
            <a:extLst xmlns:a="http://schemas.openxmlformats.org/drawingml/2006/main">
              <a:ext uri="{FF2B5EF4-FFF2-40B4-BE49-F238E27FC236}">
                <a16:creationId xmlns:a16="http://schemas.microsoft.com/office/drawing/2014/main" id="{4190228A-8004-4286-93E3-03E5C750AE84}"/>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“A rocket for a spelling correction?”</a:t>
            </a:r>
          </a:p>
        </p:txBody>
      </p:sp>
      <p:sp>
        <p:nvSpPr>
          <p:cNvPr id="5" name="">
            <a:extLst xmlns:a="http://schemas.openxmlformats.org/drawingml/2006/main">
              <a:ext uri="{FF2B5EF4-FFF2-40B4-BE49-F238E27FC236}">
                <a16:creationId xmlns:a16="http://schemas.microsoft.com/office/drawing/2014/main" id="{989275CB-7779-405F-837E-45B2D6D37CBF}"/>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“Harder models for harder problems.”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4276da51c5d4ac6"/>
          <a:stretch xmlns:a="http://schemas.openxmlformats.org/drawingml/2006/main"/>
        </p:blipFill>
        <p:spPr>
          <a:xfrm xmlns:a="http://schemas.openxmlformats.org/drawingml/2006/main">
            <a:off x="446794" y="2066925"/>
            <a:ext cx="6574012" cy="4248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278C555-D2E8-43D4-8157-747275E54773}"/>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424EFA70-FFA6-41CB-9404-C609896256C4}"/>
              </a:ext>
            </a:extLst>
          </p:cNvPr>
          <p:cNvSpPr>
            <a:spLocks xmlns:a="http://schemas.openxmlformats.org/drawingml/2006/main" noGrp="1"/>
          </p:cNvSpPr>
          <p:nvPr/>
        </p:nvSpPr>
        <p:spPr>
          <a:xfrm xmlns:a="http://schemas.openxmlformats.org/drawingml/2006/main">
            <a:off x="7943850" y="174307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Use a suitable model for routine edits</a:t>
            </a:r>
          </a:p>
        </p:txBody>
      </p:sp>
      <p:sp>
        <p:nvSpPr>
          <p:cNvPr id="9" name="">
            <a:extLst xmlns:a="http://schemas.openxmlformats.org/drawingml/2006/main">
              <a:ext uri="{FF2B5EF4-FFF2-40B4-BE49-F238E27FC236}">
                <a16:creationId xmlns:a16="http://schemas.microsoft.com/office/drawing/2014/main" id="{ADC77CF8-3F6D-4F17-B3F8-53FC3BE0E605}"/>
              </a:ext>
            </a:extLst>
          </p:cNvPr>
          <p:cNvSpPr>
            <a:spLocks xmlns:a="http://schemas.openxmlformats.org/drawingml/2006/main" noGrp="1"/>
          </p:cNvSpPr>
          <p:nvPr/>
        </p:nvSpPr>
        <p:spPr>
          <a:xfrm xmlns:a="http://schemas.openxmlformats.org/drawingml/2006/main">
            <a:off x="7458075" y="285750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971BF5DF-45C8-48E6-BAAE-E8F0CEB68FD9}"/>
              </a:ext>
            </a:extLst>
          </p:cNvPr>
          <p:cNvSpPr>
            <a:spLocks xmlns:a="http://schemas.openxmlformats.org/drawingml/2006/main" noGrp="1"/>
          </p:cNvSpPr>
          <p:nvPr/>
        </p:nvSpPr>
        <p:spPr>
          <a:xfrm xmlns:a="http://schemas.openxmlformats.org/drawingml/2006/main">
            <a:off x="7943850" y="283845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Escalate for difficult diagnosis or design</a:t>
            </a:r>
          </a:p>
        </p:txBody>
      </p:sp>
      <p:sp>
        <p:nvSpPr>
          <p:cNvPr id="11" name="">
            <a:extLst xmlns:a="http://schemas.openxmlformats.org/drawingml/2006/main">
              <a:ext uri="{FF2B5EF4-FFF2-40B4-BE49-F238E27FC236}">
                <a16:creationId xmlns:a16="http://schemas.microsoft.com/office/drawing/2014/main" id="{01EA4217-9D28-4643-9650-C8B40BD0111D}"/>
              </a:ext>
            </a:extLst>
          </p:cNvPr>
          <p:cNvSpPr>
            <a:spLocks xmlns:a="http://schemas.openxmlformats.org/drawingml/2006/main" noGrp="1"/>
          </p:cNvSpPr>
          <p:nvPr/>
        </p:nvSpPr>
        <p:spPr>
          <a:xfrm xmlns:a="http://schemas.openxmlformats.org/drawingml/2006/main">
            <a:off x="7458075" y="39528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4609BE91-1FA7-4C76-86C8-C7D8FA4A0DEC}"/>
              </a:ext>
            </a:extLst>
          </p:cNvPr>
          <p:cNvSpPr>
            <a:spLocks xmlns:a="http://schemas.openxmlformats.org/drawingml/2006/main" noGrp="1"/>
          </p:cNvSpPr>
          <p:nvPr/>
        </p:nvSpPr>
        <p:spPr>
          <a:xfrm xmlns:a="http://schemas.openxmlformats.org/drawingml/2006/main">
            <a:off x="7943850" y="393382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Evaluate total task cost and rework</a:t>
            </a:r>
          </a:p>
        </p:txBody>
      </p:sp>
      <p:sp>
        <p:nvSpPr>
          <p:cNvPr id="13" name="">
            <a:extLst xmlns:a="http://schemas.openxmlformats.org/drawingml/2006/main">
              <a:ext uri="{FF2B5EF4-FFF2-40B4-BE49-F238E27FC236}">
                <a16:creationId xmlns:a16="http://schemas.microsoft.com/office/drawing/2014/main" id="{2B6D9EA2-64B5-4EAF-881E-3FE488E1C44A}"/>
              </a:ext>
            </a:extLst>
          </p:cNvPr>
          <p:cNvSpPr>
            <a:spLocks xmlns:a="http://schemas.openxmlformats.org/drawingml/2006/main" noGrp="1"/>
          </p:cNvSpPr>
          <p:nvPr/>
        </p:nvSpPr>
        <p:spPr>
          <a:xfrm xmlns:a="http://schemas.openxmlformats.org/drawingml/2006/main">
            <a:off x="7458075" y="5048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04</a:t>
            </a:r>
          </a:p>
        </p:txBody>
      </p:sp>
      <p:sp>
        <p:nvSpPr>
          <p:cNvPr id="14" name="">
            <a:extLst xmlns:a="http://schemas.openxmlformats.org/drawingml/2006/main">
              <a:ext uri="{FF2B5EF4-FFF2-40B4-BE49-F238E27FC236}">
                <a16:creationId xmlns:a16="http://schemas.microsoft.com/office/drawing/2014/main" id="{74C45D0C-3778-4C2F-878F-2475CC538528}"/>
              </a:ext>
            </a:extLst>
          </p:cNvPr>
          <p:cNvSpPr>
            <a:spLocks xmlns:a="http://schemas.openxmlformats.org/drawingml/2006/main" noGrp="1"/>
          </p:cNvSpPr>
          <p:nvPr/>
        </p:nvSpPr>
        <p:spPr>
          <a:xfrm xmlns:a="http://schemas.openxmlformats.org/drawingml/2006/main">
            <a:off x="7943850" y="502920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Check quality on your own representative tasks</a:t>
            </a:r>
          </a:p>
        </p:txBody>
      </p:sp>
    </p:spTree>
    <p:extLst>
      <p:ext uri="{BB962C8B-B14F-4D97-AF65-F5344CB8AC3E}">
        <p14:creationId xmlns:p14="http://schemas.microsoft.com/office/powerpoint/2010/main" val="892968232"/>
      </p:ext>
    </p:extLst>
  </p:cSld>
</p:sld>
</file>

<file path=ppt/slides/slide33.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94F12E1-FF8E-42BE-AEC4-B15513D74267}"/>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06 / CACHE AND COMPACTION</a:t>
            </a:r>
          </a:p>
        </p:txBody>
      </p:sp>
      <p:sp>
        <p:nvSpPr>
          <p:cNvPr id="2" name="">
            <a:extLst xmlns:a="http://schemas.openxmlformats.org/drawingml/2006/main">
              <a:ext uri="{FF2B5EF4-FFF2-40B4-BE49-F238E27FC236}">
                <a16:creationId xmlns:a16="http://schemas.microsoft.com/office/drawing/2014/main" id="{02EE37A3-F2BF-4BAB-AFEF-DFBCE7E05489}"/>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33</a:t>
            </a:r>
          </a:p>
        </p:txBody>
      </p:sp>
      <p:sp>
        <p:nvSpPr>
          <p:cNvPr id="3" name="">
            <a:extLst xmlns:a="http://schemas.openxmlformats.org/drawingml/2006/main">
              <a:ext uri="{FF2B5EF4-FFF2-40B4-BE49-F238E27FC236}">
                <a16:creationId xmlns:a16="http://schemas.microsoft.com/office/drawing/2014/main" id="{846668D9-A069-48AA-9037-73578EC73D7D}"/>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Caching and compaction</a:t>
            </a:r>
          </a:p>
        </p:txBody>
      </p:sp>
      <p:sp>
        <p:nvSpPr>
          <p:cNvPr id="4" name="">
            <a:extLst xmlns:a="http://schemas.openxmlformats.org/drawingml/2006/main">
              <a:ext uri="{FF2B5EF4-FFF2-40B4-BE49-F238E27FC236}">
                <a16:creationId xmlns:a16="http://schemas.microsoft.com/office/drawing/2014/main" id="{F170C686-EBF8-452D-B360-935042B98FD2}"/>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“Can we reuse this material?”</a:t>
            </a:r>
          </a:p>
        </p:txBody>
      </p:sp>
      <p:sp>
        <p:nvSpPr>
          <p:cNvPr id="5" name="">
            <a:extLst xmlns:a="http://schemas.openxmlformats.org/drawingml/2006/main">
              <a:ext uri="{FF2B5EF4-FFF2-40B4-BE49-F238E27FC236}">
                <a16:creationId xmlns:a16="http://schemas.microsoft.com/office/drawing/2014/main" id="{80331D3B-A029-4EC0-8578-EEC8AE680CA5}"/>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“Cache reuse. Summarize old history.”</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73e526226024b26"/>
          <a:stretch xmlns:a="http://schemas.openxmlformats.org/drawingml/2006/main"/>
        </p:blipFill>
        <p:spPr>
          <a:xfrm xmlns:a="http://schemas.openxmlformats.org/drawingml/2006/main">
            <a:off x="446794" y="2066925"/>
            <a:ext cx="6574012" cy="4248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E9ABE2F-4E88-45AA-80DF-5BBC49CDC5F0}"/>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3537B3D9-C016-4D7E-833D-8CF067A0E1E2}"/>
              </a:ext>
            </a:extLst>
          </p:cNvPr>
          <p:cNvSpPr>
            <a:spLocks xmlns:a="http://schemas.openxmlformats.org/drawingml/2006/main" noGrp="1"/>
          </p:cNvSpPr>
          <p:nvPr/>
        </p:nvSpPr>
        <p:spPr>
          <a:xfrm xmlns:a="http://schemas.openxmlformats.org/drawingml/2006/main">
            <a:off x="7943850" y="174307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Caching can discount eligible reused input</a:t>
            </a:r>
          </a:p>
        </p:txBody>
      </p:sp>
      <p:sp>
        <p:nvSpPr>
          <p:cNvPr id="9" name="">
            <a:extLst xmlns:a="http://schemas.openxmlformats.org/drawingml/2006/main">
              <a:ext uri="{FF2B5EF4-FFF2-40B4-BE49-F238E27FC236}">
                <a16:creationId xmlns:a16="http://schemas.microsoft.com/office/drawing/2014/main" id="{2C06F628-18C2-4AD2-9362-BAE64991E0C3}"/>
              </a:ext>
            </a:extLst>
          </p:cNvPr>
          <p:cNvSpPr>
            <a:spLocks xmlns:a="http://schemas.openxmlformats.org/drawingml/2006/main" noGrp="1"/>
          </p:cNvSpPr>
          <p:nvPr/>
        </p:nvSpPr>
        <p:spPr>
          <a:xfrm xmlns:a="http://schemas.openxmlformats.org/drawingml/2006/main">
            <a:off x="7458075" y="285750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6B49DCFF-6497-4828-B422-798C9A5464C4}"/>
              </a:ext>
            </a:extLst>
          </p:cNvPr>
          <p:cNvSpPr>
            <a:spLocks xmlns:a="http://schemas.openxmlformats.org/drawingml/2006/main" noGrp="1"/>
          </p:cNvSpPr>
          <p:nvPr/>
        </p:nvSpPr>
        <p:spPr>
          <a:xfrm xmlns:a="http://schemas.openxmlformats.org/drawingml/2006/main">
            <a:off x="7943850" y="283845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 cache hit still occupies model context</a:t>
            </a:r>
          </a:p>
        </p:txBody>
      </p:sp>
      <p:sp>
        <p:nvSpPr>
          <p:cNvPr id="11" name="">
            <a:extLst xmlns:a="http://schemas.openxmlformats.org/drawingml/2006/main">
              <a:ext uri="{FF2B5EF4-FFF2-40B4-BE49-F238E27FC236}">
                <a16:creationId xmlns:a16="http://schemas.microsoft.com/office/drawing/2014/main" id="{C346B1D8-4E39-43A8-AB20-75105C07D73B}"/>
              </a:ext>
            </a:extLst>
          </p:cNvPr>
          <p:cNvSpPr>
            <a:spLocks xmlns:a="http://schemas.openxmlformats.org/drawingml/2006/main" noGrp="1"/>
          </p:cNvSpPr>
          <p:nvPr/>
        </p:nvSpPr>
        <p:spPr>
          <a:xfrm xmlns:a="http://schemas.openxmlformats.org/drawingml/2006/main">
            <a:off x="7458075" y="39528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601119F5-C83A-493F-9E75-D57699517EB0}"/>
              </a:ext>
            </a:extLst>
          </p:cNvPr>
          <p:cNvSpPr>
            <a:spLocks xmlns:a="http://schemas.openxmlformats.org/drawingml/2006/main" noGrp="1"/>
          </p:cNvSpPr>
          <p:nvPr/>
        </p:nvSpPr>
        <p:spPr>
          <a:xfrm xmlns:a="http://schemas.openxmlformats.org/drawingml/2006/main">
            <a:off x="7943850" y="393382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Compaction summarizes earlier material</a:t>
            </a:r>
          </a:p>
        </p:txBody>
      </p:sp>
      <p:sp>
        <p:nvSpPr>
          <p:cNvPr id="13" name="">
            <a:extLst xmlns:a="http://schemas.openxmlformats.org/drawingml/2006/main">
              <a:ext uri="{FF2B5EF4-FFF2-40B4-BE49-F238E27FC236}">
                <a16:creationId xmlns:a16="http://schemas.microsoft.com/office/drawing/2014/main" id="{1611E64E-CB8D-4004-B47B-62DA369EEEB9}"/>
              </a:ext>
            </a:extLst>
          </p:cNvPr>
          <p:cNvSpPr>
            <a:spLocks xmlns:a="http://schemas.openxmlformats.org/drawingml/2006/main" noGrp="1"/>
          </p:cNvSpPr>
          <p:nvPr/>
        </p:nvSpPr>
        <p:spPr>
          <a:xfrm xmlns:a="http://schemas.openxmlformats.org/drawingml/2006/main">
            <a:off x="7458075" y="5048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04</a:t>
            </a:r>
          </a:p>
        </p:txBody>
      </p:sp>
      <p:sp>
        <p:nvSpPr>
          <p:cNvPr id="14" name="">
            <a:extLst xmlns:a="http://schemas.openxmlformats.org/drawingml/2006/main">
              <a:ext uri="{FF2B5EF4-FFF2-40B4-BE49-F238E27FC236}">
                <a16:creationId xmlns:a16="http://schemas.microsoft.com/office/drawing/2014/main" id="{D552446D-86D1-43D7-9A9A-02DC51EF13EA}"/>
              </a:ext>
            </a:extLst>
          </p:cNvPr>
          <p:cNvSpPr>
            <a:spLocks xmlns:a="http://schemas.openxmlformats.org/drawingml/2006/main" noGrp="1"/>
          </p:cNvSpPr>
          <p:nvPr/>
        </p:nvSpPr>
        <p:spPr>
          <a:xfrm xmlns:a="http://schemas.openxmlformats.org/drawingml/2006/main">
            <a:off x="7943850" y="502920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Preserve decisions, paths and failing checks</a:t>
            </a:r>
          </a:p>
        </p:txBody>
      </p:sp>
    </p:spTree>
    <p:extLst>
      <p:ext uri="{BB962C8B-B14F-4D97-AF65-F5344CB8AC3E}">
        <p14:creationId xmlns:p14="http://schemas.microsoft.com/office/powerpoint/2010/main" val="1181228830"/>
      </p:ext>
    </p:extLst>
  </p:cSld>
</p:sld>
</file>

<file path=ppt/slides/slide34.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AC25551-0E16-4D79-9845-45A0C8773376}"/>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06 / COPILOT BILLING</a:t>
            </a:r>
          </a:p>
        </p:txBody>
      </p:sp>
      <p:sp>
        <p:nvSpPr>
          <p:cNvPr id="2" name="">
            <a:extLst xmlns:a="http://schemas.openxmlformats.org/drawingml/2006/main">
              <a:ext uri="{FF2B5EF4-FFF2-40B4-BE49-F238E27FC236}">
                <a16:creationId xmlns:a16="http://schemas.microsoft.com/office/drawing/2014/main" id="{3B6BD5EC-840A-4990-A43E-5CA7331C680D}"/>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34</a:t>
            </a:r>
          </a:p>
        </p:txBody>
      </p:sp>
      <p:sp>
        <p:nvSpPr>
          <p:cNvPr id="3" name="">
            <a:extLst xmlns:a="http://schemas.openxmlformats.org/drawingml/2006/main">
              <a:ext uri="{FF2B5EF4-FFF2-40B4-BE49-F238E27FC236}">
                <a16:creationId xmlns:a16="http://schemas.microsoft.com/office/drawing/2014/main" id="{4A1414BC-64F3-4F19-90AD-4E2DF94EF87F}"/>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Copilot usage has its own meter</a:t>
            </a:r>
          </a:p>
        </p:txBody>
      </p:sp>
      <p:sp>
        <p:nvSpPr>
          <p:cNvPr id="4" name="">
            <a:extLst xmlns:a="http://schemas.openxmlformats.org/drawingml/2006/main">
              <a:ext uri="{FF2B5EF4-FFF2-40B4-BE49-F238E27FC236}">
                <a16:creationId xmlns:a16="http://schemas.microsoft.com/office/drawing/2014/main" id="{16E20685-03BB-42AE-A66B-564FF0F674A6}"/>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“Is one user message one fixed charge?”</a:t>
            </a:r>
          </a:p>
        </p:txBody>
      </p:sp>
      <p:sp>
        <p:nvSpPr>
          <p:cNvPr id="5" name="">
            <a:extLst xmlns:a="http://schemas.openxmlformats.org/drawingml/2006/main">
              <a:ext uri="{FF2B5EF4-FFF2-40B4-BE49-F238E27FC236}">
                <a16:creationId xmlns:a16="http://schemas.microsoft.com/office/drawing/2014/main" id="{AAA1A5C4-1466-4BDD-BE5F-CF786AD62D68}"/>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“Check the current usage dashboard.”</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32e8af2e62d4b54"/>
          <a:stretch xmlns:a="http://schemas.openxmlformats.org/drawingml/2006/main"/>
        </p:blipFill>
        <p:spPr>
          <a:xfrm xmlns:a="http://schemas.openxmlformats.org/drawingml/2006/main">
            <a:off x="419100" y="2113288"/>
            <a:ext cx="6629400" cy="415542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8015967-3A8D-4976-A20E-FCBF41CDA981}"/>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6C2911D5-FE9B-47AF-A526-F413400C3F35}"/>
              </a:ext>
            </a:extLst>
          </p:cNvPr>
          <p:cNvSpPr>
            <a:spLocks xmlns:a="http://schemas.openxmlformats.org/drawingml/2006/main" noGrp="1"/>
          </p:cNvSpPr>
          <p:nvPr/>
        </p:nvSpPr>
        <p:spPr>
          <a:xfrm xmlns:a="http://schemas.openxmlformats.org/drawingml/2006/main">
            <a:off x="7943850" y="174307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Current docs describe token-based AI credits</a:t>
            </a:r>
          </a:p>
        </p:txBody>
      </p:sp>
      <p:sp>
        <p:nvSpPr>
          <p:cNvPr id="9" name="">
            <a:extLst xmlns:a="http://schemas.openxmlformats.org/drawingml/2006/main">
              <a:ext uri="{FF2B5EF4-FFF2-40B4-BE49-F238E27FC236}">
                <a16:creationId xmlns:a16="http://schemas.microsoft.com/office/drawing/2014/main" id="{A300632F-7D45-4F63-95C0-F5549E7E5492}"/>
              </a:ext>
            </a:extLst>
          </p:cNvPr>
          <p:cNvSpPr>
            <a:spLocks xmlns:a="http://schemas.openxmlformats.org/drawingml/2006/main" noGrp="1"/>
          </p:cNvSpPr>
          <p:nvPr/>
        </p:nvSpPr>
        <p:spPr>
          <a:xfrm xmlns:a="http://schemas.openxmlformats.org/drawingml/2006/main">
            <a:off x="7458075" y="285750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D3D9C363-853A-49DE-ACBE-54BD702B9648}"/>
              </a:ext>
            </a:extLst>
          </p:cNvPr>
          <p:cNvSpPr>
            <a:spLocks xmlns:a="http://schemas.openxmlformats.org/drawingml/2006/main" noGrp="1"/>
          </p:cNvSpPr>
          <p:nvPr/>
        </p:nvSpPr>
        <p:spPr>
          <a:xfrm xmlns:a="http://schemas.openxmlformats.org/drawingml/2006/main">
            <a:off x="7943850" y="283845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Model choice and agent calls affect usage</a:t>
            </a:r>
          </a:p>
        </p:txBody>
      </p:sp>
      <p:sp>
        <p:nvSpPr>
          <p:cNvPr id="11" name="">
            <a:extLst xmlns:a="http://schemas.openxmlformats.org/drawingml/2006/main">
              <a:ext uri="{FF2B5EF4-FFF2-40B4-BE49-F238E27FC236}">
                <a16:creationId xmlns:a16="http://schemas.microsoft.com/office/drawing/2014/main" id="{D6C00EAB-C910-44B8-9927-B1244A347A89}"/>
              </a:ext>
            </a:extLst>
          </p:cNvPr>
          <p:cNvSpPr>
            <a:spLocks xmlns:a="http://schemas.openxmlformats.org/drawingml/2006/main" noGrp="1"/>
          </p:cNvSpPr>
          <p:nvPr/>
        </p:nvSpPr>
        <p:spPr>
          <a:xfrm xmlns:a="http://schemas.openxmlformats.org/drawingml/2006/main">
            <a:off x="7458075" y="39528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16E6209C-440E-4317-98BA-3723297C4F11}"/>
              </a:ext>
            </a:extLst>
          </p:cNvPr>
          <p:cNvSpPr>
            <a:spLocks xmlns:a="http://schemas.openxmlformats.org/drawingml/2006/main" noGrp="1"/>
          </p:cNvSpPr>
          <p:nvPr/>
        </p:nvSpPr>
        <p:spPr>
          <a:xfrm xmlns:a="http://schemas.openxmlformats.org/drawingml/2006/main">
            <a:off x="7943850" y="393382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Plan allowances and policies vary</a:t>
            </a:r>
          </a:p>
        </p:txBody>
      </p:sp>
      <p:sp>
        <p:nvSpPr>
          <p:cNvPr id="13" name="">
            <a:extLst xmlns:a="http://schemas.openxmlformats.org/drawingml/2006/main">
              <a:ext uri="{FF2B5EF4-FFF2-40B4-BE49-F238E27FC236}">
                <a16:creationId xmlns:a16="http://schemas.microsoft.com/office/drawing/2014/main" id="{20C267C1-024F-49F2-BB9B-17BE4D8FF2E5}"/>
              </a:ext>
            </a:extLst>
          </p:cNvPr>
          <p:cNvSpPr>
            <a:spLocks xmlns:a="http://schemas.openxmlformats.org/drawingml/2006/main" noGrp="1"/>
          </p:cNvSpPr>
          <p:nvPr/>
        </p:nvSpPr>
        <p:spPr>
          <a:xfrm xmlns:a="http://schemas.openxmlformats.org/drawingml/2006/main">
            <a:off x="7458075" y="5048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04</a:t>
            </a:r>
          </a:p>
        </p:txBody>
      </p:sp>
      <p:sp>
        <p:nvSpPr>
          <p:cNvPr id="14" name="">
            <a:extLst xmlns:a="http://schemas.openxmlformats.org/drawingml/2006/main">
              <a:ext uri="{FF2B5EF4-FFF2-40B4-BE49-F238E27FC236}">
                <a16:creationId xmlns:a16="http://schemas.microsoft.com/office/drawing/2014/main" id="{AAC5B022-57EF-42F4-9682-DBBFA2FF3BD1}"/>
              </a:ext>
            </a:extLst>
          </p:cNvPr>
          <p:cNvSpPr>
            <a:spLocks xmlns:a="http://schemas.openxmlformats.org/drawingml/2006/main" noGrp="1"/>
          </p:cNvSpPr>
          <p:nvPr/>
        </p:nvSpPr>
        <p:spPr>
          <a:xfrm xmlns:a="http://schemas.openxmlformats.org/drawingml/2006/main">
            <a:off x="7943850" y="502920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Track spend per verified task</a:t>
            </a:r>
          </a:p>
        </p:txBody>
      </p:sp>
    </p:spTree>
    <p:extLst>
      <p:ext uri="{BB962C8B-B14F-4D97-AF65-F5344CB8AC3E}">
        <p14:creationId xmlns:p14="http://schemas.microsoft.com/office/powerpoint/2010/main" val="1532586319"/>
      </p:ext>
    </p:extLst>
  </p:cSld>
</p:sld>
</file>

<file path=ppt/slides/slide35.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DE6884E-EA41-4A81-95A3-D02D8C427085}"/>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07 / THE SWARM KITCHEN</a:t>
            </a:r>
          </a:p>
        </p:txBody>
      </p:sp>
      <p:sp>
        <p:nvSpPr>
          <p:cNvPr id="2" name="">
            <a:extLst xmlns:a="http://schemas.openxmlformats.org/drawingml/2006/main">
              <a:ext uri="{FF2B5EF4-FFF2-40B4-BE49-F238E27FC236}">
                <a16:creationId xmlns:a16="http://schemas.microsoft.com/office/drawing/2014/main" id="{58E3D6A1-95A3-44BF-9901-6AB2559A5104}"/>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35</a:t>
            </a:r>
          </a:p>
        </p:txBody>
      </p:sp>
      <p:sp>
        <p:nvSpPr>
          <p:cNvPr id="3" name="">
            <a:extLst xmlns:a="http://schemas.openxmlformats.org/drawingml/2006/main">
              <a:ext uri="{FF2B5EF4-FFF2-40B4-BE49-F238E27FC236}">
                <a16:creationId xmlns:a16="http://schemas.microsoft.com/office/drawing/2014/main" id="{3281DCF9-5BC8-4FD9-93F3-4FC31224B7D7}"/>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More agents can make more collisions</a:t>
            </a:r>
          </a:p>
        </p:txBody>
      </p:sp>
      <p:sp>
        <p:nvSpPr>
          <p:cNvPr id="4" name="">
            <a:extLst xmlns:a="http://schemas.openxmlformats.org/drawingml/2006/main">
              <a:ext uri="{FF2B5EF4-FFF2-40B4-BE49-F238E27FC236}">
                <a16:creationId xmlns:a16="http://schemas.microsoft.com/office/drawing/2014/main" id="{61E3AE9E-5435-4D62-A184-838C57B75ED0}"/>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“Five agents. One file. What could go wrong?”</a:t>
            </a:r>
          </a:p>
        </p:txBody>
      </p:sp>
      <p:sp>
        <p:nvSpPr>
          <p:cNvPr id="5" name="">
            <a:extLst xmlns:a="http://schemas.openxmlformats.org/drawingml/2006/main">
              <a:ext uri="{FF2B5EF4-FFF2-40B4-BE49-F238E27FC236}">
                <a16:creationId xmlns:a16="http://schemas.microsoft.com/office/drawing/2014/main" id="{2F8BDC29-335C-4174-874F-930EDC946D66}"/>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“We all rewrote the same function.”</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4aa819beade4d8a"/>
          <a:stretch xmlns:a="http://schemas.openxmlformats.org/drawingml/2006/main"/>
        </p:blipFill>
        <p:spPr>
          <a:xfrm xmlns:a="http://schemas.openxmlformats.org/drawingml/2006/main">
            <a:off x="419100" y="2113288"/>
            <a:ext cx="6629400" cy="415542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03DDE59-00D0-48A1-93DD-07E15E5A3460}"/>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48AE6AD1-4B55-4957-A7F1-2855293AFF62}"/>
              </a:ext>
            </a:extLst>
          </p:cNvPr>
          <p:cNvSpPr>
            <a:spLocks xmlns:a="http://schemas.openxmlformats.org/drawingml/2006/main" noGrp="1"/>
          </p:cNvSpPr>
          <p:nvPr/>
        </p:nvSpPr>
        <p:spPr>
          <a:xfrm xmlns:a="http://schemas.openxmlformats.org/drawingml/2006/main">
            <a:off x="7943850" y="174307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A swarm coordinates several agent tasks</a:t>
            </a:r>
          </a:p>
        </p:txBody>
      </p:sp>
      <p:sp>
        <p:nvSpPr>
          <p:cNvPr id="9" name="">
            <a:extLst xmlns:a="http://schemas.openxmlformats.org/drawingml/2006/main">
              <a:ext uri="{FF2B5EF4-FFF2-40B4-BE49-F238E27FC236}">
                <a16:creationId xmlns:a16="http://schemas.microsoft.com/office/drawing/2014/main" id="{CB987046-4466-4047-928F-07F853BFA3F4}"/>
              </a:ext>
            </a:extLst>
          </p:cNvPr>
          <p:cNvSpPr>
            <a:spLocks xmlns:a="http://schemas.openxmlformats.org/drawingml/2006/main" noGrp="1"/>
          </p:cNvSpPr>
          <p:nvPr/>
        </p:nvSpPr>
        <p:spPr>
          <a:xfrm xmlns:a="http://schemas.openxmlformats.org/drawingml/2006/main">
            <a:off x="7458075" y="285750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854BB18F-C982-4200-B703-A5615190CDB3}"/>
              </a:ext>
            </a:extLst>
          </p:cNvPr>
          <p:cNvSpPr>
            <a:spLocks xmlns:a="http://schemas.openxmlformats.org/drawingml/2006/main" noGrp="1"/>
          </p:cNvSpPr>
          <p:nvPr/>
        </p:nvSpPr>
        <p:spPr>
          <a:xfrm xmlns:a="http://schemas.openxmlformats.org/drawingml/2006/main">
            <a:off x="7943850" y="283845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Shared files create merge and state conflicts</a:t>
            </a:r>
          </a:p>
        </p:txBody>
      </p:sp>
      <p:sp>
        <p:nvSpPr>
          <p:cNvPr id="11" name="">
            <a:extLst xmlns:a="http://schemas.openxmlformats.org/drawingml/2006/main">
              <a:ext uri="{FF2B5EF4-FFF2-40B4-BE49-F238E27FC236}">
                <a16:creationId xmlns:a16="http://schemas.microsoft.com/office/drawing/2014/main" id="{64F54FF4-0F2A-4991-A60C-C113BFEA199C}"/>
              </a:ext>
            </a:extLst>
          </p:cNvPr>
          <p:cNvSpPr>
            <a:spLocks xmlns:a="http://schemas.openxmlformats.org/drawingml/2006/main" noGrp="1"/>
          </p:cNvSpPr>
          <p:nvPr/>
        </p:nvSpPr>
        <p:spPr>
          <a:xfrm xmlns:a="http://schemas.openxmlformats.org/drawingml/2006/main">
            <a:off x="7458075" y="39528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4F6CA045-E890-4FC6-B2CB-A33AA71975CF}"/>
              </a:ext>
            </a:extLst>
          </p:cNvPr>
          <p:cNvSpPr>
            <a:spLocks xmlns:a="http://schemas.openxmlformats.org/drawingml/2006/main" noGrp="1"/>
          </p:cNvSpPr>
          <p:nvPr/>
        </p:nvSpPr>
        <p:spPr>
          <a:xfrm xmlns:a="http://schemas.openxmlformats.org/drawingml/2006/main">
            <a:off x="7943850" y="393382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Every worker adds context and usage</a:t>
            </a:r>
          </a:p>
        </p:txBody>
      </p:sp>
      <p:sp>
        <p:nvSpPr>
          <p:cNvPr id="13" name="">
            <a:extLst xmlns:a="http://schemas.openxmlformats.org/drawingml/2006/main">
              <a:ext uri="{FF2B5EF4-FFF2-40B4-BE49-F238E27FC236}">
                <a16:creationId xmlns:a16="http://schemas.microsoft.com/office/drawing/2014/main" id="{C271879F-E6BB-4494-868D-2FD381AC92CE}"/>
              </a:ext>
            </a:extLst>
          </p:cNvPr>
          <p:cNvSpPr>
            <a:spLocks xmlns:a="http://schemas.openxmlformats.org/drawingml/2006/main" noGrp="1"/>
          </p:cNvSpPr>
          <p:nvPr/>
        </p:nvSpPr>
        <p:spPr>
          <a:xfrm xmlns:a="http://schemas.openxmlformats.org/drawingml/2006/main">
            <a:off x="7458075" y="5048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04</a:t>
            </a:r>
          </a:p>
        </p:txBody>
      </p:sp>
      <p:sp>
        <p:nvSpPr>
          <p:cNvPr id="14" name="">
            <a:extLst xmlns:a="http://schemas.openxmlformats.org/drawingml/2006/main">
              <a:ext uri="{FF2B5EF4-FFF2-40B4-BE49-F238E27FC236}">
                <a16:creationId xmlns:a16="http://schemas.microsoft.com/office/drawing/2014/main" id="{DF4CFCB4-EC82-4A55-9F0D-F0B2A30A6899}"/>
              </a:ext>
            </a:extLst>
          </p:cNvPr>
          <p:cNvSpPr>
            <a:spLocks xmlns:a="http://schemas.openxmlformats.org/drawingml/2006/main" noGrp="1"/>
          </p:cNvSpPr>
          <p:nvPr/>
        </p:nvSpPr>
        <p:spPr>
          <a:xfrm xmlns:a="http://schemas.openxmlformats.org/drawingml/2006/main">
            <a:off x="7943850" y="502920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Parallelism needs independent work</a:t>
            </a:r>
          </a:p>
        </p:txBody>
      </p:sp>
    </p:spTree>
    <p:extLst>
      <p:ext uri="{BB962C8B-B14F-4D97-AF65-F5344CB8AC3E}">
        <p14:creationId xmlns:p14="http://schemas.microsoft.com/office/powerpoint/2010/main" val="651259255"/>
      </p:ext>
    </p:extLst>
  </p:cSld>
</p:sld>
</file>

<file path=ppt/slides/slide36.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90BDF9A-0DE9-49DA-85DE-6D8FFD676387}"/>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07 / A CREW WITH CLEAR JOBS</a:t>
            </a:r>
          </a:p>
        </p:txBody>
      </p:sp>
      <p:sp>
        <p:nvSpPr>
          <p:cNvPr id="2" name="">
            <a:extLst xmlns:a="http://schemas.openxmlformats.org/drawingml/2006/main">
              <a:ext uri="{FF2B5EF4-FFF2-40B4-BE49-F238E27FC236}">
                <a16:creationId xmlns:a16="http://schemas.microsoft.com/office/drawing/2014/main" id="{4AA3BB19-BA06-40CF-9A02-3543712A060B}"/>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36</a:t>
            </a:r>
          </a:p>
        </p:txBody>
      </p:sp>
      <p:sp>
        <p:nvSpPr>
          <p:cNvPr id="3" name="">
            <a:extLst xmlns:a="http://schemas.openxmlformats.org/drawingml/2006/main">
              <a:ext uri="{FF2B5EF4-FFF2-40B4-BE49-F238E27FC236}">
                <a16:creationId xmlns:a16="http://schemas.microsoft.com/office/drawing/2014/main" id="{F3121174-DC7A-4413-A5D9-C7B79E6D3795}"/>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Independent work makes a useful swarm</a:t>
            </a:r>
          </a:p>
        </p:txBody>
      </p:sp>
      <p:sp>
        <p:nvSpPr>
          <p:cNvPr id="4" name="">
            <a:extLst xmlns:a="http://schemas.openxmlformats.org/drawingml/2006/main">
              <a:ext uri="{FF2B5EF4-FFF2-40B4-BE49-F238E27FC236}">
                <a16:creationId xmlns:a16="http://schemas.microsoft.com/office/drawing/2014/main" id="{F85CB784-A0F4-4BB8-A123-C446D5B3CC2F}"/>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“Separate jobs: code, risks and tests.”</a:t>
            </a:r>
          </a:p>
        </p:txBody>
      </p:sp>
      <p:sp>
        <p:nvSpPr>
          <p:cNvPr id="5" name="">
            <a:extLst xmlns:a="http://schemas.openxmlformats.org/drawingml/2006/main">
              <a:ext uri="{FF2B5EF4-FFF2-40B4-BE49-F238E27FC236}">
                <a16:creationId xmlns:a16="http://schemas.microsoft.com/office/drawing/2014/main" id="{A4B4C9EB-33A6-4561-8502-CDB65B0AA349}"/>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“One owner integrates the result.”</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31a2a0778a6466d"/>
          <a:stretch xmlns:a="http://schemas.openxmlformats.org/drawingml/2006/main"/>
        </p:blipFill>
        <p:spPr>
          <a:xfrm xmlns:a="http://schemas.openxmlformats.org/drawingml/2006/main">
            <a:off x="610754" y="2066925"/>
            <a:ext cx="6246092" cy="4248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65D189F-3B17-4C4D-BC95-F92CBE53A13D}"/>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C0469186-28E1-4377-BA96-0B7E4E2E130F}"/>
              </a:ext>
            </a:extLst>
          </p:cNvPr>
          <p:cNvSpPr>
            <a:spLocks xmlns:a="http://schemas.openxmlformats.org/drawingml/2006/main" noGrp="1"/>
          </p:cNvSpPr>
          <p:nvPr/>
        </p:nvSpPr>
        <p:spPr>
          <a:xfrm xmlns:a="http://schemas.openxmlformats.org/drawingml/2006/main">
            <a:off x="7943850" y="174307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Give each worker a bounded question</a:t>
            </a:r>
          </a:p>
        </p:txBody>
      </p:sp>
      <p:sp>
        <p:nvSpPr>
          <p:cNvPr id="9" name="">
            <a:extLst xmlns:a="http://schemas.openxmlformats.org/drawingml/2006/main">
              <a:ext uri="{FF2B5EF4-FFF2-40B4-BE49-F238E27FC236}">
                <a16:creationId xmlns:a16="http://schemas.microsoft.com/office/drawing/2014/main" id="{44EC44A5-3C51-492A-B5B1-9492801B215B}"/>
              </a:ext>
            </a:extLst>
          </p:cNvPr>
          <p:cNvSpPr>
            <a:spLocks xmlns:a="http://schemas.openxmlformats.org/drawingml/2006/main" noGrp="1"/>
          </p:cNvSpPr>
          <p:nvPr/>
        </p:nvSpPr>
        <p:spPr>
          <a:xfrm xmlns:a="http://schemas.openxmlformats.org/drawingml/2006/main">
            <a:off x="7458075" y="285750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C7F8B601-CA0C-4F66-A291-91F50042464F}"/>
              </a:ext>
            </a:extLst>
          </p:cNvPr>
          <p:cNvSpPr>
            <a:spLocks xmlns:a="http://schemas.openxmlformats.org/drawingml/2006/main" noGrp="1"/>
          </p:cNvSpPr>
          <p:nvPr/>
        </p:nvSpPr>
        <p:spPr>
          <a:xfrm xmlns:a="http://schemas.openxmlformats.org/drawingml/2006/main">
            <a:off x="7943850" y="283845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Return evidence and a compact result</a:t>
            </a:r>
          </a:p>
        </p:txBody>
      </p:sp>
      <p:sp>
        <p:nvSpPr>
          <p:cNvPr id="11" name="">
            <a:extLst xmlns:a="http://schemas.openxmlformats.org/drawingml/2006/main">
              <a:ext uri="{FF2B5EF4-FFF2-40B4-BE49-F238E27FC236}">
                <a16:creationId xmlns:a16="http://schemas.microsoft.com/office/drawing/2014/main" id="{864023C9-7585-4730-8789-3285698035E4}"/>
              </a:ext>
            </a:extLst>
          </p:cNvPr>
          <p:cNvSpPr>
            <a:spLocks xmlns:a="http://schemas.openxmlformats.org/drawingml/2006/main" noGrp="1"/>
          </p:cNvSpPr>
          <p:nvPr/>
        </p:nvSpPr>
        <p:spPr>
          <a:xfrm xmlns:a="http://schemas.openxmlformats.org/drawingml/2006/main">
            <a:off x="7458075" y="39528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9777772B-A901-48CE-9E05-C803E6101A3C}"/>
              </a:ext>
            </a:extLst>
          </p:cNvPr>
          <p:cNvSpPr>
            <a:spLocks xmlns:a="http://schemas.openxmlformats.org/drawingml/2006/main" noGrp="1"/>
          </p:cNvSpPr>
          <p:nvPr/>
        </p:nvSpPr>
        <p:spPr>
          <a:xfrm xmlns:a="http://schemas.openxmlformats.org/drawingml/2006/main">
            <a:off x="7943850" y="393382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Separate write tasks with branches or worktrees</a:t>
            </a:r>
          </a:p>
        </p:txBody>
      </p:sp>
      <p:sp>
        <p:nvSpPr>
          <p:cNvPr id="13" name="">
            <a:extLst xmlns:a="http://schemas.openxmlformats.org/drawingml/2006/main">
              <a:ext uri="{FF2B5EF4-FFF2-40B4-BE49-F238E27FC236}">
                <a16:creationId xmlns:a16="http://schemas.microsoft.com/office/drawing/2014/main" id="{3F983CF9-8CAD-4C51-B57D-E757BDCC203C}"/>
              </a:ext>
            </a:extLst>
          </p:cNvPr>
          <p:cNvSpPr>
            <a:spLocks xmlns:a="http://schemas.openxmlformats.org/drawingml/2006/main" noGrp="1"/>
          </p:cNvSpPr>
          <p:nvPr/>
        </p:nvSpPr>
        <p:spPr>
          <a:xfrm xmlns:a="http://schemas.openxmlformats.org/drawingml/2006/main">
            <a:off x="7458075" y="5048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04</a:t>
            </a:r>
          </a:p>
        </p:txBody>
      </p:sp>
      <p:sp>
        <p:nvSpPr>
          <p:cNvPr id="14" name="">
            <a:extLst xmlns:a="http://schemas.openxmlformats.org/drawingml/2006/main">
              <a:ext uri="{FF2B5EF4-FFF2-40B4-BE49-F238E27FC236}">
                <a16:creationId xmlns:a16="http://schemas.microsoft.com/office/drawing/2014/main" id="{0AF8C411-2B48-4450-BCF3-E867F4AE4A6F}"/>
              </a:ext>
            </a:extLst>
          </p:cNvPr>
          <p:cNvSpPr>
            <a:spLocks xmlns:a="http://schemas.openxmlformats.org/drawingml/2006/main" noGrp="1"/>
          </p:cNvSpPr>
          <p:nvPr/>
        </p:nvSpPr>
        <p:spPr>
          <a:xfrm xmlns:a="http://schemas.openxmlformats.org/drawingml/2006/main">
            <a:off x="7943850" y="502920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Integrate once and rerun the combined tests</a:t>
            </a:r>
          </a:p>
        </p:txBody>
      </p:sp>
    </p:spTree>
    <p:extLst>
      <p:ext uri="{BB962C8B-B14F-4D97-AF65-F5344CB8AC3E}">
        <p14:creationId xmlns:p14="http://schemas.microsoft.com/office/powerpoint/2010/main" val="618572466"/>
      </p:ext>
    </p:extLst>
  </p:cSld>
</p:sld>
</file>

<file path=ppt/slides/slide37.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2F48D1-827B-4A65-9312-EAFD932DAF54}"/>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WORKED EXAMPLE / SWARM OVERHEAD</a:t>
            </a:r>
          </a:p>
        </p:txBody>
      </p:sp>
      <p:sp>
        <p:nvSpPr>
          <p:cNvPr id="2" name="">
            <a:extLst xmlns:a="http://schemas.openxmlformats.org/drawingml/2006/main">
              <a:ext uri="{FF2B5EF4-FFF2-40B4-BE49-F238E27FC236}">
                <a16:creationId xmlns:a16="http://schemas.microsoft.com/office/drawing/2014/main" id="{DDDA7A72-98FB-4E13-A6BC-78FDCB378144}"/>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37</a:t>
            </a:r>
          </a:p>
        </p:txBody>
      </p:sp>
      <p:sp>
        <p:nvSpPr>
          <p:cNvPr id="3" name="">
            <a:extLst xmlns:a="http://schemas.openxmlformats.org/drawingml/2006/main">
              <a:ext uri="{FF2B5EF4-FFF2-40B4-BE49-F238E27FC236}">
                <a16:creationId xmlns:a16="http://schemas.microsoft.com/office/drawing/2014/main" id="{EDDE9C5D-0B08-402B-BA4C-1DAB9ECF7671}"/>
              </a:ext>
            </a:extLst>
          </p:cNvPr>
          <p:cNvSpPr>
            <a:spLocks xmlns:a="http://schemas.openxmlformats.org/drawingml/2006/main" noGrp="1"/>
          </p:cNvSpPr>
          <p:nvPr/>
        </p:nvSpPr>
        <p:spPr>
          <a:xfrm xmlns:a="http://schemas.openxmlformats.org/drawingml/2006/main">
            <a:off x="419100" y="647700"/>
            <a:ext cx="1133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Parallel can be faster and costlier</a:t>
            </a:r>
          </a:p>
        </p:txBody>
      </p:sp>
      <p:sp>
        <p:nvSpPr>
          <p:cNvPr id="4" name="">
            <a:extLst xmlns:a="http://schemas.openxmlformats.org/drawingml/2006/main">
              <a:ext uri="{FF2B5EF4-FFF2-40B4-BE49-F238E27FC236}">
                <a16:creationId xmlns:a16="http://schemas.microsoft.com/office/drawing/2014/main" id="{9285E9E7-6E85-4F3A-8971-BFCA32CFE5C5}"/>
              </a:ext>
            </a:extLst>
          </p:cNvPr>
          <p:cNvSpPr>
            <a:spLocks xmlns:a="http://schemas.openxmlformats.org/drawingml/2006/main" noGrp="1"/>
          </p:cNvSpPr>
          <p:nvPr/>
        </p:nvSpPr>
        <p:spPr>
          <a:xfrm xmlns:a="http://schemas.openxmlformats.org/drawingml/2006/main">
            <a:off x="438150" y="1619250"/>
            <a:ext cx="112585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746B0"/>
                </a:solidFill>
                <a:latin typeface="DejaVu Sans"/>
                <a:ea typeface="DejaVu Sans"/>
                <a:cs typeface="DejaVu Sans"/>
              </a:defRPr>
            </a:pPr>
            <a:r>
              <a:rPr sz="2025" b="0">
                <a:solidFill>
                  <a:srgbClr val="1746B0"/>
                </a:solidFill>
                <a:latin typeface="DejaVu Sans"/>
                <a:ea typeface="DejaVu Sans"/>
                <a:cs typeface="DejaVu Sans"/>
              </a:rPr>
              <a:t>Hypothetical same-quality result. Rates: $2/M input and $8/M output. No caching.</a:t>
            </a:r>
          </a:p>
        </p:txBody>
      </p:sp>
      <p:graphicFrame>
        <p:nvGraphicFramePr>
          <p:cNvPr id="13" name=""/>
          <p:cNvGraphicFramePr/>
          <p:nvPr/>
        </p:nvGraphicFramePr>
        <p:xfrm>
          <a:off xmlns:a="http://schemas.openxmlformats.org/drawingml/2006/main" x="438150" y="2724150"/>
          <a:ext xmlns:a="http://schemas.openxmlformats.org/drawingml/2006/main" cx="11239500" cy="2038350"/>
        </p:xfrm>
        <a:graphic xmlns:a="http://schemas.openxmlformats.org/drawingml/2006/main">
          <a:graphicData uri="http://schemas.openxmlformats.org/drawingml/2006/table">
            <a:tbl>
              <a:tblPr/>
              <a:tblGrid>
                <a:gridCol w="3905250"/>
                <a:gridCol w="2905125"/>
                <a:gridCol w="2714625"/>
                <a:gridCol w="1714500"/>
              </a:tblGrid>
              <a:tr h="679450">
                <a:tc>
                  <a:txBody>
                    <a:bodyPr/>
                    <a:lstStyle/>
                    <a:p>
                      <a:r>
                        <a:rPr sz="1800" b="1">
                          <a:solidFill>
                            <a:srgbClr val="FFFFFF"/>
                          </a:solidFill>
                          <a:latin typeface="DejaVu Sans"/>
                          <a:ea typeface="DejaVu Sans"/>
                          <a:cs typeface="DejaVu Sans"/>
                        </a:rPr>
                        <a:t>Workflow</a:t>
                      </a:r>
                    </a:p>
                  </a:txBody>
                  <a:tcPr marL="91440" marR="91440" marT="45720" marB="45720">
                    <a:solidFill>
                      <a:srgbClr val="1746B0"/>
                    </a:solidFill>
                  </a:tcPr>
                </a:tc>
                <a:tc>
                  <a:txBody>
                    <a:bodyPr/>
                    <a:lstStyle/>
                    <a:p>
                      <a:r>
                        <a:rPr sz="1800" b="1">
                          <a:solidFill>
                            <a:srgbClr val="FFFFFF"/>
                          </a:solidFill>
                          <a:latin typeface="DejaVu Sans"/>
                          <a:ea typeface="DejaVu Sans"/>
                          <a:cs typeface="DejaVu Sans"/>
                        </a:rPr>
                        <a:t>Input tokens</a:t>
                      </a:r>
                    </a:p>
                  </a:txBody>
                  <a:tcPr marL="91440" marR="91440" marT="45720" marB="45720">
                    <a:solidFill>
                      <a:srgbClr val="1746B0"/>
                    </a:solidFill>
                  </a:tcPr>
                </a:tc>
                <a:tc>
                  <a:txBody>
                    <a:bodyPr/>
                    <a:lstStyle/>
                    <a:p>
                      <a:r>
                        <a:rPr sz="1800" b="1">
                          <a:solidFill>
                            <a:srgbClr val="FFFFFF"/>
                          </a:solidFill>
                          <a:latin typeface="DejaVu Sans"/>
                          <a:ea typeface="DejaVu Sans"/>
                          <a:cs typeface="DejaVu Sans"/>
                        </a:rPr>
                        <a:t>Output tokens</a:t>
                      </a:r>
                    </a:p>
                  </a:txBody>
                  <a:tcPr marL="91440" marR="91440" marT="45720" marB="45720">
                    <a:solidFill>
                      <a:srgbClr val="1746B0"/>
                    </a:solidFill>
                  </a:tcPr>
                </a:tc>
                <a:tc>
                  <a:txBody>
                    <a:bodyPr/>
                    <a:lstStyle/>
                    <a:p>
                      <a:r>
                        <a:rPr sz="1800" b="1">
                          <a:solidFill>
                            <a:srgbClr val="FFFFFF"/>
                          </a:solidFill>
                          <a:latin typeface="DejaVu Sans"/>
                          <a:ea typeface="DejaVu Sans"/>
                          <a:cs typeface="DejaVu Sans"/>
                        </a:rPr>
                        <a:t>Model cost</a:t>
                      </a:r>
                    </a:p>
                  </a:txBody>
                  <a:tcPr marL="91440" marR="91440" marT="45720" marB="45720">
                    <a:solidFill>
                      <a:srgbClr val="1746B0"/>
                    </a:solidFill>
                  </a:tcPr>
                </a:tc>
              </a:tr>
              <a:tr h="679450">
                <a:tc>
                  <a:txBody>
                    <a:bodyPr/>
                    <a:lstStyle/>
                    <a:p>
                      <a:r>
                        <a:rPr sz="1800" b="0">
                          <a:solidFill>
                            <a:srgbClr val="182633"/>
                          </a:solidFill>
                          <a:latin typeface="DejaVu Sans"/>
                          <a:ea typeface="DejaVu Sans"/>
                          <a:cs typeface="DejaVu Sans"/>
                        </a:rPr>
                        <a:t>One agent</a:t>
                      </a:r>
                    </a:p>
                  </a:txBody>
                  <a:tcPr marL="91440" marR="91440" marT="45720" marB="45720">
                    <a:solidFill>
                      <a:srgbClr val="FFFFFF"/>
                    </a:solidFill>
                  </a:tcPr>
                </a:tc>
                <a:tc>
                  <a:txBody>
                    <a:bodyPr/>
                    <a:lstStyle/>
                    <a:p>
                      <a:r>
                        <a:rPr sz="1800" b="0">
                          <a:solidFill>
                            <a:srgbClr val="182633"/>
                          </a:solidFill>
                          <a:latin typeface="DejaVu Sans"/>
                          <a:ea typeface="DejaVu Sans"/>
                          <a:cs typeface="DejaVu Sans"/>
                        </a:rPr>
                        <a:t>20,000</a:t>
                      </a:r>
                    </a:p>
                  </a:txBody>
                  <a:tcPr marL="91440" marR="91440" marT="45720" marB="45720">
                    <a:solidFill>
                      <a:srgbClr val="FFFFFF"/>
                    </a:solidFill>
                  </a:tcPr>
                </a:tc>
                <a:tc>
                  <a:txBody>
                    <a:bodyPr/>
                    <a:lstStyle/>
                    <a:p>
                      <a:r>
                        <a:rPr sz="1800" b="0">
                          <a:solidFill>
                            <a:srgbClr val="182633"/>
                          </a:solidFill>
                          <a:latin typeface="DejaVu Sans"/>
                          <a:ea typeface="DejaVu Sans"/>
                          <a:cs typeface="DejaVu Sans"/>
                        </a:rPr>
                        <a:t>3,000</a:t>
                      </a:r>
                    </a:p>
                  </a:txBody>
                  <a:tcPr marL="91440" marR="91440" marT="45720" marB="45720">
                    <a:solidFill>
                      <a:srgbClr val="FFFFFF"/>
                    </a:solidFill>
                  </a:tcPr>
                </a:tc>
                <a:tc>
                  <a:txBody>
                    <a:bodyPr/>
                    <a:lstStyle/>
                    <a:p>
                      <a:r>
                        <a:rPr sz="1800" b="1">
                          <a:solidFill>
                            <a:srgbClr val="182633"/>
                          </a:solidFill>
                          <a:latin typeface="DejaVu Sans"/>
                          <a:ea typeface="DejaVu Sans"/>
                          <a:cs typeface="DejaVu Sans"/>
                        </a:rPr>
                        <a:t>$0.064</a:t>
                      </a:r>
                    </a:p>
                  </a:txBody>
                  <a:tcPr marL="91440" marR="91440" marT="45720" marB="45720">
                    <a:solidFill>
                      <a:srgbClr val="FFFFFF"/>
                    </a:solidFill>
                  </a:tcPr>
                </a:tc>
              </a:tr>
              <a:tr h="679450">
                <a:tc>
                  <a:txBody>
                    <a:bodyPr/>
                    <a:lstStyle/>
                    <a:p>
                      <a:r>
                        <a:rPr sz="1800" b="0">
                          <a:solidFill>
                            <a:srgbClr val="182633"/>
                          </a:solidFill>
                          <a:latin typeface="DejaVu Sans"/>
                          <a:ea typeface="DejaVu Sans"/>
                          <a:cs typeface="DejaVu Sans"/>
                        </a:rPr>
                        <a:t>3 workers + integrator</a:t>
                      </a:r>
                    </a:p>
                  </a:txBody>
                  <a:tcPr marL="91440" marR="91440" marT="45720" marB="45720">
                    <a:solidFill>
                      <a:srgbClr val="DFF2EB"/>
                    </a:solidFill>
                  </a:tcPr>
                </a:tc>
                <a:tc>
                  <a:txBody>
                    <a:bodyPr/>
                    <a:lstStyle/>
                    <a:p>
                      <a:r>
                        <a:rPr sz="1800" b="0">
                          <a:solidFill>
                            <a:srgbClr val="182633"/>
                          </a:solidFill>
                          <a:latin typeface="DejaVu Sans"/>
                          <a:ea typeface="DejaVu Sans"/>
                          <a:cs typeface="DejaVu Sans"/>
                        </a:rPr>
                        <a:t>3 × 12,000 + 10,000</a:t>
                      </a:r>
                    </a:p>
                  </a:txBody>
                  <a:tcPr marL="91440" marR="91440" marT="45720" marB="45720">
                    <a:solidFill>
                      <a:srgbClr val="DFF2EB"/>
                    </a:solidFill>
                  </a:tcPr>
                </a:tc>
                <a:tc>
                  <a:txBody>
                    <a:bodyPr/>
                    <a:lstStyle/>
                    <a:p>
                      <a:r>
                        <a:rPr sz="1800" b="0">
                          <a:solidFill>
                            <a:srgbClr val="182633"/>
                          </a:solidFill>
                          <a:latin typeface="DejaVu Sans"/>
                          <a:ea typeface="DejaVu Sans"/>
                          <a:cs typeface="DejaVu Sans"/>
                        </a:rPr>
                        <a:t>3 × 2,000 + 3,000</a:t>
                      </a:r>
                    </a:p>
                  </a:txBody>
                  <a:tcPr marL="91440" marR="91440" marT="45720" marB="45720">
                    <a:solidFill>
                      <a:srgbClr val="DFF2EB"/>
                    </a:solidFill>
                  </a:tcPr>
                </a:tc>
                <a:tc>
                  <a:txBody>
                    <a:bodyPr/>
                    <a:lstStyle/>
                    <a:p>
                      <a:r>
                        <a:rPr sz="1800" b="1">
                          <a:solidFill>
                            <a:srgbClr val="182633"/>
                          </a:solidFill>
                          <a:latin typeface="DejaVu Sans"/>
                          <a:ea typeface="DejaVu Sans"/>
                          <a:cs typeface="DejaVu Sans"/>
                        </a:rPr>
                        <a:t>$0.164</a:t>
                      </a:r>
                    </a:p>
                  </a:txBody>
                  <a:tcPr marL="91440" marR="91440" marT="45720" marB="45720">
                    <a:solidFill>
                      <a:srgbClr val="DFF2EB"/>
                    </a:solidFill>
                  </a:tcPr>
                </a:tc>
              </a:tr>
            </a:tbl>
          </a:graphicData>
        </a:graphic>
      </p:graphicFrame>
      <p:sp>
        <p:nvSpPr>
          <p:cNvPr id="6" name="">
            <a:extLst xmlns:a="http://schemas.openxmlformats.org/drawingml/2006/main">
              <a:ext uri="{FF2B5EF4-FFF2-40B4-BE49-F238E27FC236}">
                <a16:creationId xmlns:a16="http://schemas.microsoft.com/office/drawing/2014/main" id="{DF526590-36DA-4C05-ACF2-769CD3D48434}"/>
              </a:ext>
            </a:extLst>
          </p:cNvPr>
          <p:cNvSpPr>
            <a:spLocks xmlns:a="http://schemas.openxmlformats.org/drawingml/2006/main" noGrp="1"/>
          </p:cNvSpPr>
          <p:nvPr/>
        </p:nvSpPr>
        <p:spPr>
          <a:xfrm xmlns:a="http://schemas.openxmlformats.org/drawingml/2006/main">
            <a:off x="438150" y="5286375"/>
            <a:ext cx="11191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1">
                <a:solidFill>
                  <a:srgbClr val="182633"/>
                </a:solidFill>
                <a:latin typeface="DejaVu Sans"/>
                <a:ea typeface="DejaVu Sans"/>
                <a:cs typeface="DejaVu Sans"/>
              </a:defRPr>
            </a:pPr>
            <a:r>
              <a:rPr sz="2025" b="1">
                <a:solidFill>
                  <a:srgbClr val="182633"/>
                </a:solidFill>
                <a:latin typeface="DejaVu Sans"/>
                <a:ea typeface="DejaVu Sans"/>
                <a:cs typeface="DejaVu Sans"/>
              </a:rPr>
              <a:t>Swarm model cost is about 2.56× higher in this example.</a:t>
            </a:r>
          </a:p>
          <a:p xmlns:a="http://schemas.openxmlformats.org/drawingml/2006/main">
            <a:pPr>
              <a:buNone/>
              <a:defRPr sz="2025" b="1">
                <a:solidFill>
                  <a:srgbClr val="182633"/>
                </a:solidFill>
                <a:latin typeface="DejaVu Sans"/>
                <a:ea typeface="DejaVu Sans"/>
                <a:cs typeface="DejaVu Sans"/>
              </a:defRPr>
            </a:pPr>
            <a:r>
              <a:rPr sz="2025" b="1">
                <a:solidFill>
                  <a:srgbClr val="182633"/>
                </a:solidFill>
                <a:latin typeface="DejaVu Sans"/>
                <a:ea typeface="DejaVu Sans"/>
                <a:cs typeface="DejaVu Sans"/>
              </a:rPr>
              <a:t>Elapsed time may fall only when useful work overlaps and integration stays small.</a:t>
            </a:r>
          </a:p>
        </p:txBody>
      </p:sp>
    </p:spTree>
    <p:extLst>
      <p:ext uri="{BB962C8B-B14F-4D97-AF65-F5344CB8AC3E}">
        <p14:creationId xmlns:p14="http://schemas.microsoft.com/office/powerpoint/2010/main" val="1275905179"/>
      </p:ext>
    </p:extLst>
  </p:cSld>
</p:sld>
</file>

<file path=ppt/slides/slide38.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B10F53-F552-4240-9630-BC5154C4F09A}"/>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HANDS-ON / 8 MINUTES</a:t>
            </a:r>
          </a:p>
        </p:txBody>
      </p:sp>
      <p:sp>
        <p:nvSpPr>
          <p:cNvPr id="2" name="">
            <a:extLst xmlns:a="http://schemas.openxmlformats.org/drawingml/2006/main">
              <a:ext uri="{FF2B5EF4-FFF2-40B4-BE49-F238E27FC236}">
                <a16:creationId xmlns:a16="http://schemas.microsoft.com/office/drawing/2014/main" id="{C9A5F7CD-1D23-432F-A117-3B99F7EF6F5E}"/>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38</a:t>
            </a:r>
          </a:p>
        </p:txBody>
      </p:sp>
      <p:sp>
        <p:nvSpPr>
          <p:cNvPr id="3" name="">
            <a:extLst xmlns:a="http://schemas.openxmlformats.org/drawingml/2006/main">
              <a:ext uri="{FF2B5EF4-FFF2-40B4-BE49-F238E27FC236}">
                <a16:creationId xmlns:a16="http://schemas.microsoft.com/office/drawing/2014/main" id="{338132F0-03CE-49D5-8D21-1FA2809A149E}"/>
              </a:ext>
            </a:extLst>
          </p:cNvPr>
          <p:cNvSpPr>
            <a:spLocks xmlns:a="http://schemas.openxmlformats.org/drawingml/2006/main" noGrp="1"/>
          </p:cNvSpPr>
          <p:nvPr/>
        </p:nvSpPr>
        <p:spPr>
          <a:xfrm xmlns:a="http://schemas.openxmlformats.org/drawingml/2006/main">
            <a:off x="419100" y="647700"/>
            <a:ext cx="1133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The duplicate-payment challenge</a:t>
            </a:r>
          </a:p>
        </p:txBody>
      </p:sp>
      <p:sp>
        <p:nvSpPr>
          <p:cNvPr id="4" name="">
            <a:extLst xmlns:a="http://schemas.openxmlformats.org/drawingml/2006/main">
              <a:ext uri="{FF2B5EF4-FFF2-40B4-BE49-F238E27FC236}">
                <a16:creationId xmlns:a16="http://schemas.microsoft.com/office/drawing/2014/main" id="{D95DC269-2F02-4C76-8414-1950274C8606}"/>
              </a:ext>
            </a:extLst>
          </p:cNvPr>
          <p:cNvSpPr>
            <a:spLocks xmlns:a="http://schemas.openxmlformats.org/drawingml/2006/main" noGrp="1"/>
          </p:cNvSpPr>
          <p:nvPr/>
        </p:nvSpPr>
        <p:spPr>
          <a:xfrm xmlns:a="http://schemas.openxmlformats.org/drawingml/2006/main">
            <a:off x="457200" y="1666875"/>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BD3B29"/>
                </a:solidFill>
                <a:latin typeface="DejaVu Sans"/>
                <a:ea typeface="DejaVu Sans"/>
                <a:cs typeface="DejaVu Sans"/>
              </a:defRPr>
            </a:pPr>
            <a:r>
              <a:rPr sz="1650" b="1">
                <a:solidFill>
                  <a:srgbClr val="BD3B29"/>
                </a:solidFill>
                <a:latin typeface="DejaVu Sans"/>
                <a:ea typeface="DejaVu Sans"/>
                <a:cs typeface="DejaVu Sans"/>
              </a:rPr>
              <a:t>YOUR TASK</a:t>
            </a:r>
          </a:p>
        </p:txBody>
      </p:sp>
      <p:sp>
        <p:nvSpPr>
          <p:cNvPr id="5" name="">
            <a:extLst xmlns:a="http://schemas.openxmlformats.org/drawingml/2006/main">
              <a:ext uri="{FF2B5EF4-FFF2-40B4-BE49-F238E27FC236}">
                <a16:creationId xmlns:a16="http://schemas.microsoft.com/office/drawing/2014/main" id="{98FD4AA9-E7CB-4862-A477-0543129FF702}"/>
              </a:ext>
            </a:extLst>
          </p:cNvPr>
          <p:cNvSpPr>
            <a:spLocks xmlns:a="http://schemas.openxmlformats.org/drawingml/2006/main" noGrp="1"/>
          </p:cNvSpPr>
          <p:nvPr/>
        </p:nvSpPr>
        <p:spPr>
          <a:xfrm xmlns:a="http://schemas.openxmlformats.org/drawingml/2006/main">
            <a:off x="6257925" y="1666875"/>
            <a:ext cx="5467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THE SUCCESS CHECK</a:t>
            </a:r>
          </a:p>
        </p:txBody>
      </p:sp>
      <p:sp>
        <p:nvSpPr>
          <p:cNvPr id="6" name="">
            <a:extLst xmlns:a="http://schemas.openxmlformats.org/drawingml/2006/main">
              <a:ext uri="{FF2B5EF4-FFF2-40B4-BE49-F238E27FC236}">
                <a16:creationId xmlns:a16="http://schemas.microsoft.com/office/drawing/2014/main" id="{2686B12F-7363-454C-80CB-C84319C3C6D7}"/>
              </a:ext>
            </a:extLst>
          </p:cNvPr>
          <p:cNvSpPr>
            <a:spLocks xmlns:a="http://schemas.openxmlformats.org/drawingml/2006/main" noGrp="1"/>
          </p:cNvSpPr>
          <p:nvPr/>
        </p:nvSpPr>
        <p:spPr>
          <a:xfrm xmlns:a="http://schemas.openxmlformats.org/drawingml/2006/main">
            <a:off x="457200" y="2305050"/>
            <a:ext cx="52197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Rewrite “fix the retry bug.”</a:t>
            </a:r>
          </a:p>
          <a:p xmlns:a="http://schemas.openxmlformats.org/drawingml/2006/main">
            <a:r>
              <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Include the expected behavior, relevant evidence, scope and checks.</a:t>
            </a:r>
          </a:p>
          <a:p xmlns:a="http://schemas.openxmlformats.org/drawingml/2006/main">
            <a:r>
              <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Ask for a plan before the patch.</a:t>
            </a:r>
          </a:p>
        </p:txBody>
      </p:sp>
      <p:sp>
        <p:nvSpPr>
          <p:cNvPr id="7" name="">
            <a:extLst xmlns:a="http://schemas.openxmlformats.org/drawingml/2006/main">
              <a:ext uri="{FF2B5EF4-FFF2-40B4-BE49-F238E27FC236}">
                <a16:creationId xmlns:a16="http://schemas.microsoft.com/office/drawing/2014/main" id="{E96A167A-D9DB-4606-B18F-8500869DE54D}"/>
              </a:ext>
            </a:extLst>
          </p:cNvPr>
          <p:cNvSpPr>
            <a:spLocks xmlns:a="http://schemas.openxmlformats.org/drawingml/2006/main" noGrp="1"/>
          </p:cNvSpPr>
          <p:nvPr/>
        </p:nvSpPr>
        <p:spPr>
          <a:xfrm xmlns:a="http://schemas.openxmlformats.org/drawingml/2006/main">
            <a:off x="6257925" y="2305050"/>
            <a:ext cx="54673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Can a reviewer tell what changed?</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Would the regression fail on old code?</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Does concurrency still create one charge?</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What happens after a provider timeout?</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Which checks actually ran?</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Where should the agent stop?</a:t>
            </a:r>
          </a:p>
        </p:txBody>
      </p:sp>
    </p:spTree>
    <p:extLst>
      <p:ext uri="{BB962C8B-B14F-4D97-AF65-F5344CB8AC3E}">
        <p14:creationId xmlns:p14="http://schemas.microsoft.com/office/powerpoint/2010/main" val="474113512"/>
      </p:ext>
    </p:extLst>
  </p:cSld>
</p:sld>
</file>

<file path=ppt/slides/slide39.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BF8AF5B-4790-4F84-874D-954B42218934}"/>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FINAL ISSUE / THE HUMAN ENGINEER</a:t>
            </a:r>
          </a:p>
        </p:txBody>
      </p:sp>
      <p:sp>
        <p:nvSpPr>
          <p:cNvPr id="2" name="">
            <a:extLst xmlns:a="http://schemas.openxmlformats.org/drawingml/2006/main">
              <a:ext uri="{FF2B5EF4-FFF2-40B4-BE49-F238E27FC236}">
                <a16:creationId xmlns:a16="http://schemas.microsoft.com/office/drawing/2014/main" id="{98ED4C61-460C-46B2-B600-E9D5CFA166F6}"/>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39</a:t>
            </a:r>
          </a:p>
        </p:txBody>
      </p:sp>
      <p:sp>
        <p:nvSpPr>
          <p:cNvPr id="3" name="">
            <a:extLst xmlns:a="http://schemas.openxmlformats.org/drawingml/2006/main">
              <a:ext uri="{FF2B5EF4-FFF2-40B4-BE49-F238E27FC236}">
                <a16:creationId xmlns:a16="http://schemas.microsoft.com/office/drawing/2014/main" id="{5C38781F-2AA5-4174-835B-783B8E92A864}"/>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The sidekick helps. You own the result.</a:t>
            </a:r>
          </a:p>
        </p:txBody>
      </p:sp>
      <p:sp>
        <p:nvSpPr>
          <p:cNvPr id="4" name="">
            <a:extLst xmlns:a="http://schemas.openxmlformats.org/drawingml/2006/main">
              <a:ext uri="{FF2B5EF4-FFF2-40B4-BE49-F238E27FC236}">
                <a16:creationId xmlns:a16="http://schemas.microsoft.com/office/drawing/2014/main" id="{0B0B91DB-CED4-4F0B-99D9-6CE64958F83E}"/>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PATCH: “The patch is ready.”</a:t>
            </a:r>
          </a:p>
        </p:txBody>
      </p:sp>
      <p:sp>
        <p:nvSpPr>
          <p:cNvPr id="5" name="">
            <a:extLst xmlns:a="http://schemas.openxmlformats.org/drawingml/2006/main">
              <a:ext uri="{FF2B5EF4-FFF2-40B4-BE49-F238E27FC236}">
                <a16:creationId xmlns:a16="http://schemas.microsoft.com/office/drawing/2014/main" id="{1690B619-0ACF-478C-BA1E-0B651EE86455}"/>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DEV: “The evidence is ready. Now I can review.”</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eb3e5e7d6d74089"/>
          <a:stretch xmlns:a="http://schemas.openxmlformats.org/drawingml/2006/main"/>
        </p:blipFill>
        <p:spPr>
          <a:xfrm xmlns:a="http://schemas.openxmlformats.org/drawingml/2006/main">
            <a:off x="610754" y="2066925"/>
            <a:ext cx="6246092" cy="4248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7F5C911-96E3-43A6-B5F7-38EAEBB31558}"/>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CE0DAEE4-D24B-4D5D-B0A4-88F4F84438E1}"/>
              </a:ext>
            </a:extLst>
          </p:cNvPr>
          <p:cNvSpPr>
            <a:spLocks xmlns:a="http://schemas.openxmlformats.org/drawingml/2006/main" noGrp="1"/>
          </p:cNvSpPr>
          <p:nvPr/>
        </p:nvSpPr>
        <p:spPr>
          <a:xfrm xmlns:a="http://schemas.openxmlformats.org/drawingml/2006/main">
            <a:off x="7943850" y="174307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A clear task and relevant context</a:t>
            </a:r>
          </a:p>
        </p:txBody>
      </p:sp>
      <p:sp>
        <p:nvSpPr>
          <p:cNvPr id="9" name="">
            <a:extLst xmlns:a="http://schemas.openxmlformats.org/drawingml/2006/main">
              <a:ext uri="{FF2B5EF4-FFF2-40B4-BE49-F238E27FC236}">
                <a16:creationId xmlns:a16="http://schemas.microsoft.com/office/drawing/2014/main" id="{AC7D2C4F-5D65-4249-BC87-0ADA96D63918}"/>
              </a:ext>
            </a:extLst>
          </p:cNvPr>
          <p:cNvSpPr>
            <a:spLocks xmlns:a="http://schemas.openxmlformats.org/drawingml/2006/main" noGrp="1"/>
          </p:cNvSpPr>
          <p:nvPr/>
        </p:nvSpPr>
        <p:spPr>
          <a:xfrm xmlns:a="http://schemas.openxmlformats.org/drawingml/2006/main">
            <a:off x="7458075" y="285750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7A7DF399-2275-4B53-B60A-CDACBB197443}"/>
              </a:ext>
            </a:extLst>
          </p:cNvPr>
          <p:cNvSpPr>
            <a:spLocks xmlns:a="http://schemas.openxmlformats.org/drawingml/2006/main" noGrp="1"/>
          </p:cNvSpPr>
          <p:nvPr/>
        </p:nvSpPr>
        <p:spPr>
          <a:xfrm xmlns:a="http://schemas.openxmlformats.org/drawingml/2006/main">
            <a:off x="7943850" y="283845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 small diff with meaningful checks</a:t>
            </a:r>
          </a:p>
        </p:txBody>
      </p:sp>
      <p:sp>
        <p:nvSpPr>
          <p:cNvPr id="11" name="">
            <a:extLst xmlns:a="http://schemas.openxmlformats.org/drawingml/2006/main">
              <a:ext uri="{FF2B5EF4-FFF2-40B4-BE49-F238E27FC236}">
                <a16:creationId xmlns:a16="http://schemas.microsoft.com/office/drawing/2014/main" id="{2AC783D5-9279-4F52-986A-8600DD0DA4AB}"/>
              </a:ext>
            </a:extLst>
          </p:cNvPr>
          <p:cNvSpPr>
            <a:spLocks xmlns:a="http://schemas.openxmlformats.org/drawingml/2006/main" noGrp="1"/>
          </p:cNvSpPr>
          <p:nvPr/>
        </p:nvSpPr>
        <p:spPr>
          <a:xfrm xmlns:a="http://schemas.openxmlformats.org/drawingml/2006/main">
            <a:off x="7458075" y="39528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6E503A88-4FB3-47A0-8C1C-E59D9481257B}"/>
              </a:ext>
            </a:extLst>
          </p:cNvPr>
          <p:cNvSpPr>
            <a:spLocks xmlns:a="http://schemas.openxmlformats.org/drawingml/2006/main" noGrp="1"/>
          </p:cNvSpPr>
          <p:nvPr/>
        </p:nvSpPr>
        <p:spPr>
          <a:xfrm xmlns:a="http://schemas.openxmlformats.org/drawingml/2006/main">
            <a:off x="7943850" y="393382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 budget for retries and delegation</a:t>
            </a:r>
          </a:p>
        </p:txBody>
      </p:sp>
      <p:sp>
        <p:nvSpPr>
          <p:cNvPr id="13" name="">
            <a:extLst xmlns:a="http://schemas.openxmlformats.org/drawingml/2006/main">
              <a:ext uri="{FF2B5EF4-FFF2-40B4-BE49-F238E27FC236}">
                <a16:creationId xmlns:a16="http://schemas.microsoft.com/office/drawing/2014/main" id="{36CFD69C-5FE2-47BC-9DDA-DDC329AE489A}"/>
              </a:ext>
            </a:extLst>
          </p:cNvPr>
          <p:cNvSpPr>
            <a:spLocks xmlns:a="http://schemas.openxmlformats.org/drawingml/2006/main" noGrp="1"/>
          </p:cNvSpPr>
          <p:nvPr/>
        </p:nvSpPr>
        <p:spPr>
          <a:xfrm xmlns:a="http://schemas.openxmlformats.org/drawingml/2006/main">
            <a:off x="7458075" y="5048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04</a:t>
            </a:r>
          </a:p>
        </p:txBody>
      </p:sp>
      <p:sp>
        <p:nvSpPr>
          <p:cNvPr id="14" name="">
            <a:extLst xmlns:a="http://schemas.openxmlformats.org/drawingml/2006/main">
              <a:ext uri="{FF2B5EF4-FFF2-40B4-BE49-F238E27FC236}">
                <a16:creationId xmlns:a16="http://schemas.microsoft.com/office/drawing/2014/main" id="{EFB90B84-B2A6-4755-8998-BC7F3AE6AC6F}"/>
              </a:ext>
            </a:extLst>
          </p:cNvPr>
          <p:cNvSpPr>
            <a:spLocks xmlns:a="http://schemas.openxmlformats.org/drawingml/2006/main" noGrp="1"/>
          </p:cNvSpPr>
          <p:nvPr/>
        </p:nvSpPr>
        <p:spPr>
          <a:xfrm xmlns:a="http://schemas.openxmlformats.org/drawingml/2006/main">
            <a:off x="7943850" y="502920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 human who understands the change</a:t>
            </a:r>
          </a:p>
        </p:txBody>
      </p:sp>
    </p:spTree>
    <p:extLst>
      <p:ext uri="{BB962C8B-B14F-4D97-AF65-F5344CB8AC3E}">
        <p14:creationId xmlns:p14="http://schemas.microsoft.com/office/powerpoint/2010/main" val="2132929885"/>
      </p:ext>
    </p:extLst>
  </p:cSld>
</p:sld>
</file>

<file path=ppt/slides/slide40.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5E4B00-F999-4702-84F3-6D603BB89870}"/>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REFERENCE / THE DESK-SIDE CHECKLIST</a:t>
            </a:r>
          </a:p>
        </p:txBody>
      </p:sp>
      <p:sp>
        <p:nvSpPr>
          <p:cNvPr id="2" name="">
            <a:extLst xmlns:a="http://schemas.openxmlformats.org/drawingml/2006/main">
              <a:ext uri="{FF2B5EF4-FFF2-40B4-BE49-F238E27FC236}">
                <a16:creationId xmlns:a16="http://schemas.microsoft.com/office/drawing/2014/main" id="{AD18D4C4-D856-40C9-9E4B-D5404290402A}"/>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40</a:t>
            </a:r>
          </a:p>
        </p:txBody>
      </p:sp>
      <p:sp>
        <p:nvSpPr>
          <p:cNvPr id="3" name="">
            <a:extLst xmlns:a="http://schemas.openxmlformats.org/drawingml/2006/main">
              <a:ext uri="{FF2B5EF4-FFF2-40B4-BE49-F238E27FC236}">
                <a16:creationId xmlns:a16="http://schemas.microsoft.com/office/drawing/2014/main" id="{06EEF870-E6F2-4AA6-9689-AF45242656ED}"/>
              </a:ext>
            </a:extLst>
          </p:cNvPr>
          <p:cNvSpPr>
            <a:spLocks xmlns:a="http://schemas.openxmlformats.org/drawingml/2006/main" noGrp="1"/>
          </p:cNvSpPr>
          <p:nvPr/>
        </p:nvSpPr>
        <p:spPr>
          <a:xfrm xmlns:a="http://schemas.openxmlformats.org/drawingml/2006/main">
            <a:off x="419100" y="647700"/>
            <a:ext cx="1133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Before the next agent task</a:t>
            </a:r>
          </a:p>
        </p:txBody>
      </p:sp>
      <p:sp>
        <p:nvSpPr>
          <p:cNvPr id="4" name="">
            <a:extLst xmlns:a="http://schemas.openxmlformats.org/drawingml/2006/main">
              <a:ext uri="{FF2B5EF4-FFF2-40B4-BE49-F238E27FC236}">
                <a16:creationId xmlns:a16="http://schemas.microsoft.com/office/drawing/2014/main" id="{CD7B9154-39D0-4DC5-A6CA-8FC56A7AD888}"/>
              </a:ext>
            </a:extLst>
          </p:cNvPr>
          <p:cNvSpPr>
            <a:spLocks xmlns:a="http://schemas.openxmlformats.org/drawingml/2006/main" noGrp="1"/>
          </p:cNvSpPr>
          <p:nvPr/>
        </p:nvSpPr>
        <p:spPr>
          <a:xfrm xmlns:a="http://schemas.openxmlformats.org/drawingml/2006/main">
            <a:off x="457200" y="1666875"/>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BD3B29"/>
                </a:solidFill>
                <a:latin typeface="DejaVu Sans"/>
                <a:ea typeface="DejaVu Sans"/>
                <a:cs typeface="DejaVu Sans"/>
              </a:defRPr>
            </a:pPr>
            <a:r>
              <a:rPr sz="1650" b="1">
                <a:solidFill>
                  <a:srgbClr val="BD3B29"/>
                </a:solidFill>
                <a:latin typeface="DejaVu Sans"/>
                <a:ea typeface="DejaVu Sans"/>
                <a:cs typeface="DejaVu Sans"/>
              </a:rPr>
              <a:t>BEFORE AND DURING</a:t>
            </a:r>
          </a:p>
        </p:txBody>
      </p:sp>
      <p:sp>
        <p:nvSpPr>
          <p:cNvPr id="5" name="">
            <a:extLst xmlns:a="http://schemas.openxmlformats.org/drawingml/2006/main">
              <a:ext uri="{FF2B5EF4-FFF2-40B4-BE49-F238E27FC236}">
                <a16:creationId xmlns:a16="http://schemas.microsoft.com/office/drawing/2014/main" id="{F08A1790-D715-4402-B5D8-E0A73B87DCF9}"/>
              </a:ext>
            </a:extLst>
          </p:cNvPr>
          <p:cNvSpPr>
            <a:spLocks xmlns:a="http://schemas.openxmlformats.org/drawingml/2006/main" noGrp="1"/>
          </p:cNvSpPr>
          <p:nvPr/>
        </p:nvSpPr>
        <p:spPr>
          <a:xfrm xmlns:a="http://schemas.openxmlformats.org/drawingml/2006/main">
            <a:off x="6257925" y="1666875"/>
            <a:ext cx="5467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BEFORE KEEPING THE CHANGE</a:t>
            </a:r>
          </a:p>
        </p:txBody>
      </p:sp>
      <p:sp>
        <p:nvSpPr>
          <p:cNvPr id="6" name="">
            <a:extLst xmlns:a="http://schemas.openxmlformats.org/drawingml/2006/main">
              <a:ext uri="{FF2B5EF4-FFF2-40B4-BE49-F238E27FC236}">
                <a16:creationId xmlns:a16="http://schemas.microsoft.com/office/drawing/2014/main" id="{77DCCA68-78BF-46B4-AB3C-71BA19F4E5C3}"/>
              </a:ext>
            </a:extLst>
          </p:cNvPr>
          <p:cNvSpPr>
            <a:spLocks xmlns:a="http://schemas.openxmlformats.org/drawingml/2006/main" noGrp="1"/>
          </p:cNvSpPr>
          <p:nvPr/>
        </p:nvSpPr>
        <p:spPr>
          <a:xfrm xmlns:a="http://schemas.openxmlformats.org/drawingml/2006/main">
            <a:off x="457200" y="2305050"/>
            <a:ext cx="52197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State the observable outcome.</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Attach the relevant evidence.</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Define edit boundaries.</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Check the plan for assumptions.</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Watch scope and repeated failures.</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Set tool permissions and a budget.</a:t>
            </a:r>
          </a:p>
        </p:txBody>
      </p:sp>
      <p:sp>
        <p:nvSpPr>
          <p:cNvPr id="7" name="">
            <a:extLst xmlns:a="http://schemas.openxmlformats.org/drawingml/2006/main">
              <a:ext uri="{FF2B5EF4-FFF2-40B4-BE49-F238E27FC236}">
                <a16:creationId xmlns:a16="http://schemas.microsoft.com/office/drawing/2014/main" id="{FBDFEA79-8460-4570-ABEC-1F2AA2A9A708}"/>
              </a:ext>
            </a:extLst>
          </p:cNvPr>
          <p:cNvSpPr>
            <a:spLocks xmlns:a="http://schemas.openxmlformats.org/drawingml/2006/main" noGrp="1"/>
          </p:cNvSpPr>
          <p:nvPr/>
        </p:nvSpPr>
        <p:spPr>
          <a:xfrm xmlns:a="http://schemas.openxmlformats.org/drawingml/2006/main">
            <a:off x="6257925" y="2305050"/>
            <a:ext cx="54673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Read the whole diff.</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Verify APIs and dependencies.</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Check assertions and skipped tests.</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Run the focused checks and CI.</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Record what could not be verified.</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Review the integrated result.</a:t>
            </a:r>
          </a:p>
        </p:txBody>
      </p:sp>
    </p:spTree>
    <p:extLst>
      <p:ext uri="{BB962C8B-B14F-4D97-AF65-F5344CB8AC3E}">
        <p14:creationId xmlns:p14="http://schemas.microsoft.com/office/powerpoint/2010/main" val="1547147645"/>
      </p:ext>
    </p:extLst>
  </p:cSld>
</p:sld>
</file>

<file path=ppt/slides/slide41.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0D03A06-881D-417A-93D6-FA68117E7BFD}"/>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READ MORE / OFFICIAL DOCUMENTATION</a:t>
            </a:r>
          </a:p>
        </p:txBody>
      </p:sp>
      <p:sp>
        <p:nvSpPr>
          <p:cNvPr id="2" name="">
            <a:extLst xmlns:a="http://schemas.openxmlformats.org/drawingml/2006/main">
              <a:ext uri="{FF2B5EF4-FFF2-40B4-BE49-F238E27FC236}">
                <a16:creationId xmlns:a16="http://schemas.microsoft.com/office/drawing/2014/main" id="{ECDB8DA4-C7C8-415E-AF90-18D4E8183864}"/>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41</a:t>
            </a:r>
          </a:p>
        </p:txBody>
      </p:sp>
      <p:sp>
        <p:nvSpPr>
          <p:cNvPr id="3" name="">
            <a:extLst xmlns:a="http://schemas.openxmlformats.org/drawingml/2006/main">
              <a:ext uri="{FF2B5EF4-FFF2-40B4-BE49-F238E27FC236}">
                <a16:creationId xmlns:a16="http://schemas.microsoft.com/office/drawing/2014/main" id="{2B3829FA-FF77-437E-86ED-3711352F711A}"/>
              </a:ext>
            </a:extLst>
          </p:cNvPr>
          <p:cNvSpPr>
            <a:spLocks xmlns:a="http://schemas.openxmlformats.org/drawingml/2006/main" noGrp="1"/>
          </p:cNvSpPr>
          <p:nvPr/>
        </p:nvSpPr>
        <p:spPr>
          <a:xfrm xmlns:a="http://schemas.openxmlformats.org/drawingml/2006/main">
            <a:off x="419100" y="647700"/>
            <a:ext cx="1133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Sources and product notes</a:t>
            </a:r>
          </a:p>
        </p:txBody>
      </p:sp>
      <p:sp>
        <p:nvSpPr>
          <p:cNvPr id="4" name="">
            <a:extLst xmlns:a="http://schemas.openxmlformats.org/drawingml/2006/main">
              <a:ext uri="{FF2B5EF4-FFF2-40B4-BE49-F238E27FC236}">
                <a16:creationId xmlns:a16="http://schemas.microsoft.com/office/drawing/2014/main" id="{403507E8-1C51-4C27-AB1E-B3F8BFD7288D}"/>
              </a:ext>
            </a:extLst>
          </p:cNvPr>
          <p:cNvSpPr>
            <a:spLocks xmlns:a="http://schemas.openxmlformats.org/drawingml/2006/main" noGrp="1"/>
          </p:cNvSpPr>
          <p:nvPr/>
        </p:nvSpPr>
        <p:spPr>
          <a:xfrm xmlns:a="http://schemas.openxmlformats.org/drawingml/2006/main">
            <a:off x="457200" y="1666875"/>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BD3B29"/>
                </a:solidFill>
                <a:latin typeface="DejaVu Sans"/>
                <a:ea typeface="DejaVu Sans"/>
                <a:cs typeface="DejaVu Sans"/>
              </a:defRPr>
            </a:pPr>
            <a:r>
              <a:rPr sz="1650" b="1">
                <a:solidFill>
                  <a:srgbClr val="BD3B29"/>
                </a:solidFill>
                <a:latin typeface="DejaVu Sans"/>
                <a:ea typeface="DejaVu Sans"/>
                <a:cs typeface="DejaVu Sans"/>
              </a:rPr>
              <a:t>COPILOT AND VS CODE</a:t>
            </a:r>
          </a:p>
        </p:txBody>
      </p:sp>
      <p:sp>
        <p:nvSpPr>
          <p:cNvPr id="5" name="">
            <a:extLst xmlns:a="http://schemas.openxmlformats.org/drawingml/2006/main">
              <a:ext uri="{FF2B5EF4-FFF2-40B4-BE49-F238E27FC236}">
                <a16:creationId xmlns:a16="http://schemas.microsoft.com/office/drawing/2014/main" id="{FF7A62C3-4CCF-42ED-B3CD-E2FF735F1F40}"/>
              </a:ext>
            </a:extLst>
          </p:cNvPr>
          <p:cNvSpPr>
            <a:spLocks xmlns:a="http://schemas.openxmlformats.org/drawingml/2006/main" noGrp="1"/>
          </p:cNvSpPr>
          <p:nvPr/>
        </p:nvSpPr>
        <p:spPr>
          <a:xfrm xmlns:a="http://schemas.openxmlformats.org/drawingml/2006/main">
            <a:off x="6257925" y="1666875"/>
            <a:ext cx="5467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ECONOMICS AND DISCLOSURES</a:t>
            </a:r>
          </a:p>
        </p:txBody>
      </p:sp>
      <p:sp>
        <p:nvSpPr>
          <p:cNvPr id="6" name="">
            <a:extLst xmlns:a="http://schemas.openxmlformats.org/drawingml/2006/main">
              <a:ext uri="{FF2B5EF4-FFF2-40B4-BE49-F238E27FC236}">
                <a16:creationId xmlns:a16="http://schemas.microsoft.com/office/drawing/2014/main" id="{F1303CBF-FE3A-4BCD-B650-50505B4FBA22}"/>
              </a:ext>
            </a:extLst>
          </p:cNvPr>
          <p:cNvSpPr>
            <a:spLocks xmlns:a="http://schemas.openxmlformats.org/drawingml/2006/main" noGrp="1"/>
          </p:cNvSpPr>
          <p:nvPr/>
        </p:nvSpPr>
        <p:spPr>
          <a:xfrm xmlns:a="http://schemas.openxmlformats.org/drawingml/2006/main">
            <a:off x="457200" y="2305050"/>
            <a:ext cx="52197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82633"/>
                </a:solidFill>
                <a:latin typeface="DejaVu Sans"/>
                <a:ea typeface="DejaVu Sans"/>
                <a:cs typeface="DejaVu Sans"/>
              </a:defRPr>
            </a:pPr>
            <a:r>
              <a:rPr sz="2025" b="0">
                <a:solidFill>
                  <a:srgbClr val="182633"/>
                </a:solidFill>
                <a:latin typeface="DejaVu Sans"/>
                <a:ea typeface="DejaVu Sans"/>
                <a:cs typeface="DejaVu Sans"/>
              </a:rPr>
              <a:t>GitHub Copilot task best practices</a:t>
            </a:r>
          </a:p>
          <a:p xmlns:a="http://schemas.openxmlformats.org/drawingml/2006/main">
            <a:pPr>
              <a:buNone/>
              <a:defRPr sz="2025" b="0">
                <a:solidFill>
                  <a:srgbClr val="182633"/>
                </a:solidFill>
                <a:latin typeface="DejaVu Sans"/>
                <a:ea typeface="DejaVu Sans"/>
                <a:cs typeface="DejaVu Sans"/>
              </a:defRPr>
            </a:pPr>
            <a:r>
              <a:rPr sz="2025" b="0">
                <a:solidFill>
                  <a:srgbClr val="182633"/>
                </a:solidFill>
                <a:latin typeface="DejaVu Sans"/>
                <a:ea typeface="DejaVu Sans"/>
                <a:cs typeface="DejaVu Sans"/>
              </a:rPr>
              <a:t>Repository custom instructions</a:t>
            </a:r>
          </a:p>
          <a:p xmlns:a="http://schemas.openxmlformats.org/drawingml/2006/main">
            <a:pPr>
              <a:buNone/>
              <a:defRPr sz="2025" b="0">
                <a:solidFill>
                  <a:srgbClr val="182633"/>
                </a:solidFill>
                <a:latin typeface="DejaVu Sans"/>
                <a:ea typeface="DejaVu Sans"/>
                <a:cs typeface="DejaVu Sans"/>
              </a:defRPr>
            </a:pPr>
            <a:r>
              <a:rPr sz="2025" b="0">
                <a:solidFill>
                  <a:srgbClr val="182633"/>
                </a:solidFill>
                <a:latin typeface="DejaVu Sans"/>
                <a:ea typeface="DejaVu Sans"/>
                <a:cs typeface="DejaVu Sans"/>
              </a:rPr>
              <a:t>VS Code agent context</a:t>
            </a:r>
          </a:p>
          <a:p xmlns:a="http://schemas.openxmlformats.org/drawingml/2006/main">
            <a:pPr>
              <a:buNone/>
              <a:defRPr sz="2025" b="0">
                <a:solidFill>
                  <a:srgbClr val="182633"/>
                </a:solidFill>
                <a:latin typeface="DejaVu Sans"/>
                <a:ea typeface="DejaVu Sans"/>
                <a:cs typeface="DejaVu Sans"/>
              </a:defRPr>
            </a:pPr>
            <a:r>
              <a:rPr sz="2025" b="0">
                <a:solidFill>
                  <a:srgbClr val="182633"/>
                </a:solidFill>
                <a:latin typeface="DejaVu Sans"/>
                <a:ea typeface="DejaVu Sans"/>
                <a:cs typeface="DejaVu Sans"/>
              </a:rPr>
              <a:t>Subagents and parallel worktrees</a:t>
            </a:r>
          </a:p>
          <a:p xmlns:a="http://schemas.openxmlformats.org/drawingml/2006/main">
            <a:pPr>
              <a:buNone/>
              <a:defRPr sz="2025" b="0">
                <a:solidFill>
                  <a:srgbClr val="182633"/>
                </a:solidFill>
                <a:latin typeface="DejaVu Sans"/>
                <a:ea typeface="DejaVu Sans"/>
                <a:cs typeface="DejaVu Sans"/>
              </a:defRPr>
            </a:pPr>
            <a:r>
              <a:rPr sz="2025" b="0">
                <a:solidFill>
                  <a:srgbClr val="182633"/>
                </a:solidFill>
                <a:latin typeface="DejaVu Sans"/>
                <a:ea typeface="DejaVu Sans"/>
                <a:cs typeface="DejaVu Sans"/>
              </a:rPr>
              <a:t>Agent security and code review</a:t>
            </a:r>
          </a:p>
        </p:txBody>
      </p:sp>
      <p:sp>
        <p:nvSpPr>
          <p:cNvPr id="7" name="">
            <a:extLst xmlns:a="http://schemas.openxmlformats.org/drawingml/2006/main">
              <a:ext uri="{FF2B5EF4-FFF2-40B4-BE49-F238E27FC236}">
                <a16:creationId xmlns:a16="http://schemas.microsoft.com/office/drawing/2014/main" id="{6CBEEDB7-DE1A-4B04-95DB-D215F02AB2C8}"/>
              </a:ext>
            </a:extLst>
          </p:cNvPr>
          <p:cNvSpPr>
            <a:spLocks xmlns:a="http://schemas.openxmlformats.org/drawingml/2006/main" noGrp="1"/>
          </p:cNvSpPr>
          <p:nvPr/>
        </p:nvSpPr>
        <p:spPr>
          <a:xfrm xmlns:a="http://schemas.openxmlformats.org/drawingml/2006/main">
            <a:off x="6257925" y="2305050"/>
            <a:ext cx="54673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GitHub Copilot billing and usage</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Supported AI models</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Claude prompt caching and pricing</a:t>
            </a:r>
          </a:p>
          <a:p xmlns:a="http://schemas.openxmlformats.org/drawingml/2006/main">
            <a:r>
              <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Checked: 7 October 2026</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Examples and rates are hypothetical.</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Characters and comic art are fictional.</a:t>
            </a:r>
          </a:p>
        </p:txBody>
      </p:sp>
    </p:spTree>
    <p:extLst>
      <p:ext uri="{BB962C8B-B14F-4D97-AF65-F5344CB8AC3E}">
        <p14:creationId xmlns:p14="http://schemas.microsoft.com/office/powerpoint/2010/main" val="14361226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2026-10-07T15:37:57.6500000Z</dcterms:created>
  <dcterms:modified xsi:type="dcterms:W3CDTF">2026-10-07T15:37:57.6500000Z</dcterms:modified>
</coreProperties>
</file>